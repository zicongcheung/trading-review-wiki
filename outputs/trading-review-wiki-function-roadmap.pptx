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8d229402474e91" /><Relationship Type="http://schemas.openxmlformats.org/officeDocument/2006/relationships/extended-properties" Target="/docProps/app.xml" Id="R40462ed9895f44cd" /><Relationship Type="http://schemas.openxmlformats.org/officeDocument/2006/relationships/officeDocument" Target="/ppt/presentation.xml" Id="R13e9d87581f14e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e08a0d956e4c59"/>
  </p:sldMasterIdLst>
  <p:notesMasterIdLst>
    <p:notesMasterId xmlns:r="http://schemas.openxmlformats.org/officeDocument/2006/relationships" r:id="Rb715f33b6c9d4771"/>
  </p:notesMasterIdLst>
  <p:sldIdLst>
    <p:sldId xmlns:r="http://schemas.openxmlformats.org/officeDocument/2006/relationships" id="256" r:id="R2fd01faeb76d4909"/>
    <p:sldId xmlns:r="http://schemas.openxmlformats.org/officeDocument/2006/relationships" id="257" r:id="R80455820c37e40af"/>
    <p:sldId xmlns:r="http://schemas.openxmlformats.org/officeDocument/2006/relationships" id="258" r:id="R1acffd58ac554662"/>
    <p:sldId xmlns:r="http://schemas.openxmlformats.org/officeDocument/2006/relationships" id="259" r:id="R89bc1710e38347d3"/>
    <p:sldId xmlns:r="http://schemas.openxmlformats.org/officeDocument/2006/relationships" id="260" r:id="Rf3f6012073df45e8"/>
    <p:sldId xmlns:r="http://schemas.openxmlformats.org/officeDocument/2006/relationships" id="261" r:id="R0d1719ad4faf47d6"/>
    <p:sldId xmlns:r="http://schemas.openxmlformats.org/officeDocument/2006/relationships" id="262" r:id="R18c419bf162b4e54"/>
    <p:sldId xmlns:r="http://schemas.openxmlformats.org/officeDocument/2006/relationships" id="263" r:id="Rb4c459eb429846bc"/>
    <p:sldId xmlns:r="http://schemas.openxmlformats.org/officeDocument/2006/relationships" id="264" r:id="R28c744db4e7540d8"/>
    <p:sldId xmlns:r="http://schemas.openxmlformats.org/officeDocument/2006/relationships" id="265" r:id="R2a013c841fac4023"/>
    <p:sldId xmlns:r="http://schemas.openxmlformats.org/officeDocument/2006/relationships" id="266" r:id="R65a47325b162478e"/>
    <p:sldId xmlns:r="http://schemas.openxmlformats.org/officeDocument/2006/relationships" id="267" r:id="R2ae2c749caf94a58"/>
    <p:sldId xmlns:r="http://schemas.openxmlformats.org/officeDocument/2006/relationships" id="268" r:id="Raa3bc28262884014"/>
    <p:sldId xmlns:r="http://schemas.openxmlformats.org/officeDocument/2006/relationships" id="269" r:id="Rb371215aed644ac4"/>
    <p:sldId xmlns:r="http://schemas.openxmlformats.org/officeDocument/2006/relationships" id="270" r:id="R8f777759d02c4e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9a6bcf6ad54636" /><Relationship Type="http://schemas.openxmlformats.org/officeDocument/2006/relationships/slideMaster" Target="/ppt/slideMasters/slideMaster1.xml" Id="Rb2e08a0d956e4c59" /><Relationship Type="http://schemas.openxmlformats.org/officeDocument/2006/relationships/notesMaster" Target="/ppt/notesMasters/notesMaster1.xml" Id="Rb715f33b6c9d4771" /><Relationship Type="http://schemas.openxmlformats.org/officeDocument/2006/relationships/presProps" Target="/ppt/presProps.xml" Id="Rea96de50fdfd4005" /><Relationship Type="http://schemas.openxmlformats.org/officeDocument/2006/relationships/tableStyles" Target="/ppt/tableStyles.xml" Id="R01e2ba3396584aa3" /><Relationship Type="http://schemas.openxmlformats.org/officeDocument/2006/relationships/slide" Target="/ppt/slides/slide1.xml" Id="R2fd01faeb76d4909" /><Relationship Type="http://schemas.openxmlformats.org/officeDocument/2006/relationships/slide" Target="/ppt/slides/slide2.xml" Id="R80455820c37e40af" /><Relationship Type="http://schemas.openxmlformats.org/officeDocument/2006/relationships/slide" Target="/ppt/slides/slide3.xml" Id="R1acffd58ac554662" /><Relationship Type="http://schemas.openxmlformats.org/officeDocument/2006/relationships/slide" Target="/ppt/slides/slide4.xml" Id="R89bc1710e38347d3" /><Relationship Type="http://schemas.openxmlformats.org/officeDocument/2006/relationships/slide" Target="/ppt/slides/slide5.xml" Id="Rf3f6012073df45e8" /><Relationship Type="http://schemas.openxmlformats.org/officeDocument/2006/relationships/slide" Target="/ppt/slides/slide6.xml" Id="R0d1719ad4faf47d6" /><Relationship Type="http://schemas.openxmlformats.org/officeDocument/2006/relationships/slide" Target="/ppt/slides/slide7.xml" Id="R18c419bf162b4e54" /><Relationship Type="http://schemas.openxmlformats.org/officeDocument/2006/relationships/slide" Target="/ppt/slides/slide8.xml" Id="Rb4c459eb429846bc" /><Relationship Type="http://schemas.openxmlformats.org/officeDocument/2006/relationships/slide" Target="/ppt/slides/slide9.xml" Id="R28c744db4e7540d8" /><Relationship Type="http://schemas.openxmlformats.org/officeDocument/2006/relationships/slide" Target="/ppt/slides/slide10.xml" Id="R2a013c841fac4023" /><Relationship Type="http://schemas.openxmlformats.org/officeDocument/2006/relationships/slide" Target="/ppt/slides/slide11.xml" Id="R65a47325b162478e" /><Relationship Type="http://schemas.openxmlformats.org/officeDocument/2006/relationships/slide" Target="/ppt/slides/slide12.xml" Id="R2ae2c749caf94a58" /><Relationship Type="http://schemas.openxmlformats.org/officeDocument/2006/relationships/slide" Target="/ppt/slides/slide13.xml" Id="Raa3bc28262884014" /><Relationship Type="http://schemas.openxmlformats.org/officeDocument/2006/relationships/slide" Target="/ppt/slides/slide14.xml" Id="Rb371215aed644ac4" /><Relationship Type="http://schemas.openxmlformats.org/officeDocument/2006/relationships/slide" Target="/ppt/slides/slide15.xml" Id="R8f777759d02c4e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d482d032ed4a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e6f7ca8b554469" /><Relationship Type="http://schemas.openxmlformats.org/officeDocument/2006/relationships/notesMaster" Target="/ppt/notesMasters/notesMaster1.xml" Id="Rccda044ee7a246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33d4a5ea0a42d4" /><Relationship Type="http://schemas.openxmlformats.org/officeDocument/2006/relationships/notesMaster" Target="/ppt/notesMasters/notesMaster1.xml" Id="R5135da448a564a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acba3a9ab64b10" /><Relationship Type="http://schemas.openxmlformats.org/officeDocument/2006/relationships/notesMaster" Target="/ppt/notesMasters/notesMaster1.xml" Id="R098e1fdf155244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44ab86c5184c96" /><Relationship Type="http://schemas.openxmlformats.org/officeDocument/2006/relationships/notesMaster" Target="/ppt/notesMasters/notesMaster1.xml" Id="Rc3bfc1e181e84d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a066abaf5c48f3" /><Relationship Type="http://schemas.openxmlformats.org/officeDocument/2006/relationships/notesMaster" Target="/ppt/notesMasters/notesMaster1.xml" Id="R5510108bf4034e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9ec77ffacb4bbe" /><Relationship Type="http://schemas.openxmlformats.org/officeDocument/2006/relationships/notesMaster" Target="/ppt/notesMasters/notesMaster1.xml" Id="R91c58d96438843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8aa78fb9984ed5" /><Relationship Type="http://schemas.openxmlformats.org/officeDocument/2006/relationships/notesMaster" Target="/ppt/notesMasters/notesMaster1.xml" Id="R9ebf37b910544c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5118418fce4ef5" /><Relationship Type="http://schemas.openxmlformats.org/officeDocument/2006/relationships/notesMaster" Target="/ppt/notesMasters/notesMaster1.xml" Id="R5a3cfc9b85834d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6faee8ead0482c" /><Relationship Type="http://schemas.openxmlformats.org/officeDocument/2006/relationships/notesMaster" Target="/ppt/notesMasters/notesMaster1.xml" Id="Rcf48504c489f49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e501544e114818" /><Relationship Type="http://schemas.openxmlformats.org/officeDocument/2006/relationships/notesMaster" Target="/ppt/notesMasters/notesMaster1.xml" Id="R1cdc56c1049e42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eb2cf06c294eac" /><Relationship Type="http://schemas.openxmlformats.org/officeDocument/2006/relationships/notesMaster" Target="/ppt/notesMasters/notesMaster1.xml" Id="Rdb35f9bfa5284a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92674345d94f84" /><Relationship Type="http://schemas.openxmlformats.org/officeDocument/2006/relationships/notesMaster" Target="/ppt/notesMasters/notesMaster1.xml" Id="R4c068c5171714c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3ce28262814967" /><Relationship Type="http://schemas.openxmlformats.org/officeDocument/2006/relationships/notesMaster" Target="/ppt/notesMasters/notesMaster1.xml" Id="R1350f287220c4e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46e9b57284448a" /><Relationship Type="http://schemas.openxmlformats.org/officeDocument/2006/relationships/notesMaster" Target="/ppt/notesMasters/notesMaster1.xml" Id="Rb9c922a476a54d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b50fe41b5649b2" /><Relationship Type="http://schemas.openxmlformats.org/officeDocument/2006/relationships/notesMaster" Target="/ppt/notesMasters/notesMaster1.xml" Id="R59f8ea2c1d5f4e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3f48b6718842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715a020cf64f6a" /><Relationship Type="http://schemas.openxmlformats.org/officeDocument/2006/relationships/slideLayout" Target="/ppt/slideLayouts/slideLayout1.xml" Id="Ra5243d3a3ea34e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243d3a3ea34e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1cf4692a74af3" /><Relationship Type="http://schemas.openxmlformats.org/officeDocument/2006/relationships/notesSlide" Target="/ppt/notesSlides/notesSlide1.xml" Id="R28ab9601f3f642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a139ea3b24c4d" /><Relationship Type="http://schemas.openxmlformats.org/officeDocument/2006/relationships/notesSlide" Target="/ppt/notesSlides/notesSlide2.xml" Id="R549fc18331c748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9eb8ffe014c32" /><Relationship Type="http://schemas.openxmlformats.org/officeDocument/2006/relationships/notesSlide" Target="/ppt/notesSlides/notesSlide3.xml" Id="R4577f110bae549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15521e0b34441" /><Relationship Type="http://schemas.openxmlformats.org/officeDocument/2006/relationships/notesSlide" Target="/ppt/notesSlides/notesSlide4.xml" Id="R407b85d56ba041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256b069794553" /><Relationship Type="http://schemas.openxmlformats.org/officeDocument/2006/relationships/notesSlide" Target="/ppt/notesSlides/notesSlide5.xml" Id="Rc53abbe07e874d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b795fb8c04ce1" /><Relationship Type="http://schemas.openxmlformats.org/officeDocument/2006/relationships/notesSlide" Target="/ppt/notesSlides/notesSlide6.xml" Id="Rca7b0477224443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738ba9c994df9" /><Relationship Type="http://schemas.openxmlformats.org/officeDocument/2006/relationships/notesSlide" Target="/ppt/notesSlides/notesSlide7.xml" Id="R30f30a4fff284f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3526475c04532" /><Relationship Type="http://schemas.openxmlformats.org/officeDocument/2006/relationships/notesSlide" Target="/ppt/notesSlides/notesSlide8.xml" Id="R764402c1fe054e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530d005084d57" /><Relationship Type="http://schemas.openxmlformats.org/officeDocument/2006/relationships/notesSlide" Target="/ppt/notesSlides/notesSlide9.xml" Id="Rf38ed7b95ea143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71c9473b343b6" /><Relationship Type="http://schemas.openxmlformats.org/officeDocument/2006/relationships/chart" Target="/ppt/slides/charts/chart1.xml" Id="R8c2901dec2cd462f" /><Relationship Type="http://schemas.openxmlformats.org/officeDocument/2006/relationships/notesSlide" Target="/ppt/notesSlides/notesSlide10.xml" Id="Rcb7257a1f35b4c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3cc79c6054f15" /><Relationship Type="http://schemas.openxmlformats.org/officeDocument/2006/relationships/notesSlide" Target="/ppt/notesSlides/notesSlide11.xml" Id="R22361a56354448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cd96f42f94305" /><Relationship Type="http://schemas.openxmlformats.org/officeDocument/2006/relationships/notesSlide" Target="/ppt/notesSlides/notesSlide12.xml" Id="Rc581a3e2eae148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5bc46547d4f5f" /><Relationship Type="http://schemas.openxmlformats.org/officeDocument/2006/relationships/notesSlide" Target="/ppt/notesSlides/notesSlide13.xml" Id="R45ed5409bfb447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463efb4104b1b" /><Relationship Type="http://schemas.openxmlformats.org/officeDocument/2006/relationships/notesSlide" Target="/ppt/notesSlides/notesSlide14.xml" Id="R55e5b856a8814c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bff244fbd4b75" /><Relationship Type="http://schemas.openxmlformats.org/officeDocument/2006/relationships/notesSlide" Target="/ppt/notesSlides/notesSlide15.xml" Id="R7a51e85a8e6848a4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闭环程度</c:v>
          </c:tx>
          <c:spPr>
            <a:solidFill xmlns:a="http://schemas.openxmlformats.org/drawingml/2006/main">
              <a:schemeClr val="accent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ask/apply</c:v>
              </c:pt>
              <c:pt idx="1">
                <c:v>company</c:v>
              </c:pt>
              <c:pt idx="2">
                <c:v>flywheel</c:v>
              </c:pt>
              <c:pt idx="3">
                <c:v>cockpit</c:v>
              </c:pt>
              <c:pt idx="4">
                <c:v>data</c:v>
              </c:pt>
              <c:pt idx="5">
                <c:v>paper</c:v>
              </c:pt>
            </c:strLit>
          </c:cat>
          <c:val>
            <c:numLit>
              <c:formatCode>General</c:formatCode>
              <c:ptCount val="6"/>
              <c:pt idx="0">
                <c:v>95</c:v>
              </c:pt>
              <c:pt idx="1">
                <c:v>78</c:v>
              </c:pt>
              <c:pt idx="2">
                <c:v>72</c:v>
              </c:pt>
              <c:pt idx="3">
                <c:v>58</c:v>
              </c:pt>
              <c:pt idx="4">
                <c:v>55</c:v>
              </c:pt>
              <c:pt idx="5">
                <c:v>50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33EBDE-FB78-4832-B87B-66428B20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14EF2-6295-4D3D-9394-AEA2B799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20618"/>
                </a:solidFill>
              </a:defRPr>
            </a:pPr>
            <a:r>
              <a:rPr sz="4200" b="1">
                <a:solidFill>
                  <a:srgbClr val="020618"/>
                </a:solidFill>
              </a:rPr>
              <a:t>Trading Review Wiki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13AA4-CA5B-4875-962D-6CDD1E18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47E6"/>
                </a:solidFill>
              </a:defRPr>
            </a:pPr>
            <a:r>
              <a:rPr sz="2850" b="1">
                <a:solidFill>
                  <a:srgbClr val="1447E6"/>
                </a:solidFill>
              </a:rPr>
              <a:t>功能全景与演进路线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5306D-5E60-47A8-9DBF-8170C3AA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56C"/>
                </a:solidFill>
              </a:defRPr>
            </a:pPr>
            <a:r>
              <a:rPr sz="1650" b="0">
                <a:solidFill>
                  <a:srgbClr val="45556C"/>
                </a:solidFill>
              </a:rPr>
              <a:t>0.12.1 | 训练飞轮 V2 | Deep Research CLI | Tushare 数据源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EF583-E335-4D2A-B18C-6F85569B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24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DF4A3-E00E-46D1-AAA2-F36BD903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从本地 Wiki 工具升级为交易研究 Research 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5981F-7617-47E5-97C9-B2541B32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24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5E7AF-F38F-4A25-97A1-1658B97A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把资料、假设、证据、市场反馈、人审和训练样本串成闭环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6C907-AAC5-4ACA-AF99-75020E12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24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3091D-394C-4B65-B5F8-6F88F3B2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当前更新重点：应用端能力 CLI 化，训练飞轮进入 V2 paper-trade 阶段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205EE-22A1-47CF-B2A0-20225E9A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66800"/>
            <a:ext cx="2667000" cy="3714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2E6F1-68A6-44BA-A9E7-A0368942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2382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AAEB9-B9BA-4FD8-960E-EBC504CD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3906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核心判断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AD2C0-F631-47FA-B0E0-3F29DBD8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09750"/>
            <a:ext cx="23241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不是交易机器人。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它是一个可审计的研究操作系统：默认不自动交易，不自动污染 raw/wiki，不把模拟收益当真实盈利。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B7ED1-336F-4F6D-A891-22A3E7A2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1B9"/>
                </a:solidFill>
              </a:defRPr>
            </a:pPr>
            <a:r>
              <a:rPr sz="975" b="0">
                <a:solidFill>
                  <a:srgbClr val="90A1B9"/>
                </a:solidFill>
              </a:rPr>
              <a:t>Trading Review Wiki | 功能全景与演进路线 | 2026-06-20</a:t>
            </a:r>
          </a:p>
        </p:txBody>
      </p:sp>
    </p:spTree>
    <p:extLst>
      <p:ext uri="{BB962C8B-B14F-4D97-AF65-F5344CB8AC3E}">
        <p14:creationId xmlns:p14="http://schemas.microsoft.com/office/powerpoint/2010/main" val="45270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7E32D2-BE07-4AC7-9152-0D68E742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C8AFC-0234-4004-9B22-18C0FC6A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一句话定位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34C03-9255-4321-A0A8-7092B686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Trading Review Wiki 的价值是把交易研究变成可追溯、可复盘、可训练的工作流。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8F0DC-D8B1-44F9-80B9-8AF93EC9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00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0A1B9"/>
                </a:solidFill>
              </a:defRPr>
            </a:pPr>
            <a:r>
              <a:rPr sz="1200" b="1">
                <a:solidFill>
                  <a:srgbClr val="90A1B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07B80-2492-4004-8B2F-E1516057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700ED-F0D7-4D82-93C9-E6994CA7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57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EC3E4-5211-4C10-8369-F0F70275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4A07C-B8BC-4FA7-B6A3-8BCC1A54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raw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50926-39F9-4D11-9EB6-F3BE138A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原始资料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微信/研报/PDF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7F708-ECC6-4901-8F66-3BDBBA1C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5717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797AA-AC63-4E05-944B-DB5B11E9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2057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26F0D-280A-4EEC-AA35-B878B1E6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669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BB173-D006-42F9-8C20-ACCD3172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wiki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8C43D-F32A-4485-9BC6-FC7BCDC6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38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正式知识页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人工确认写入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53732-3D8E-418E-9A6E-06BCC7D2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717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220F3-4930-463B-A47C-C8332FC4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95500"/>
            <a:ext cx="2057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03FC4B-2935-452E-9B43-2D32A2E5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669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C4939-144E-432E-8B96-48D5E1C3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retrieval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26C6A-DA47-4FC6-9EA6-90E494D7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graph/facts/brain/SQL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多源检索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A8D32B-6F83-421D-9001-45369BEB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717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5BB375-75AD-49C8-A042-0F31A887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2057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2F3DA-5F48-409B-BB6B-E4ABECB3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669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4EC473-2FEB-4720-83A4-F402F61B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research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B1454A-CCE9-4580-A381-887AC66A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38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ask/deep-research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company-research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29CF64-D419-49C2-B167-F8D46EA2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717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0E99D8-3E48-4144-BB96-278F0710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2057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863A1D-6EA4-4D95-9472-42AC1AB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669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944DE1-37FC-427C-ADBF-DA69F465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flywheel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6BE1E9-0A26-40DE-9A89-F15B8300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38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stock-feedback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Benchmark/LoRA-ready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B146AA-6F8E-4FEE-B7B8-F353DBD8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4762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DCE9BC-F880-49DC-83E8-8CCE21B2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052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D24CBB-C862-4342-8DE8-0FBA74A8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已经成型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EFE6B8-7754-4E6B-AD5F-E7B11F25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76750"/>
            <a:ext cx="441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问答、摄入、时序事实、公司深研、假设跟踪、Research Cockpit、训练样本导出。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8E02A0-D18D-42A0-B595-575D7D80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33800"/>
            <a:ext cx="4762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D0C521-9016-4311-A6D3-15CA9269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100"/>
          </a:solidFill>
          <a:ln xmlns:a="http://schemas.openxmlformats.org/drawingml/2006/main" w="0">
            <a:solidFill>
              <a:srgbClr val="E171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CE18E9-5188-4A94-A28E-C4910024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576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正在闭环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1316A1-B5AE-4118-BD43-88941DE1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76750"/>
            <a:ext cx="441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Deep Research CLI、Training Flywheel V2、paper trade、Tushare 行情证据、Benchmark batch。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21BE76-2847-4483-A861-77129A0F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1B9"/>
                </a:solidFill>
              </a:defRPr>
            </a:pPr>
            <a:r>
              <a:rPr sz="975" b="0">
                <a:solidFill>
                  <a:srgbClr val="90A1B9"/>
                </a:solidFill>
              </a:rPr>
              <a:t>Trading Review Wiki | 功能全景与演进路线 | 2026-06-20</a:t>
            </a:r>
          </a:p>
        </p:txBody>
      </p:sp>
    </p:spTree>
    <p:extLst>
      <p:ext uri="{BB962C8B-B14F-4D97-AF65-F5344CB8AC3E}">
        <p14:creationId xmlns:p14="http://schemas.microsoft.com/office/powerpoint/2010/main" val="1760347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4D49F5-F768-4B4D-80C3-38A84CDB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7B713-466C-40D8-817A-6EA6F1FB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写入纪律是系统的地基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BF170-A1F1-4761-A510-B9B1350B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所有自动化先留痕，正式层写入必须经过显式门。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067A4-3FD9-40C4-873F-8641F535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00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0A1B9"/>
                </a:solidFill>
              </a:defRPr>
            </a:pPr>
            <a:r>
              <a:rPr sz="1200" b="1">
                <a:solidFill>
                  <a:srgbClr val="90A1B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FE6AB-C5A6-4D7C-8C57-0DC76966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5F30E-E683-42B7-833C-11F1DC72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C715F-8CCA-4944-819B-CF9CCF4C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DC073-0D21-44F8-A4B2-B884C750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默认只读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DB41D-FB4E-48E5-AB40-6908287D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ask / review queue / status / verify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先看证据，再决定是否写入。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9BED6-9F58-4C87-AA2E-2E2E65EF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764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93974-3575-4F39-BB00-F74BDDB0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479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5EC4B-0C1F-4E26-81AD-43D56162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.llm-wiki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050E2-3CC6-4CC0-87F8-08034500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1940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deep-research、company-research、stock-feedback 默认先写审计和候选产物。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40E65-C464-41D8-8012-3C571771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10279-13F8-4D3B-8B81-D07A9DC2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479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100"/>
          </a:solidFill>
          <a:ln xmlns:a="http://schemas.openxmlformats.org/drawingml/2006/main" w="0">
            <a:solidFill>
              <a:srgbClr val="E171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FAA3B-3BC1-4A89-9713-3588D51A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wiki 写入门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D4A83-EBA8-46C8-B33C-19685D47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1940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apply --write 是正式 wiki 写入入口；deep-research --write 只保存 query page。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CA7020-AC57-4AFF-A1A0-EE21EC59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764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7C23BB-E9EF-41D0-A7BA-94C4B749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479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3F"/>
          </a:solidFill>
          <a:ln xmlns:a="http://schemas.openxmlformats.org/drawingml/2006/main" w="0">
            <a:solidFill>
              <a:srgbClr val="EC00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092E6-DDDC-4FDA-BE27-853D6EAF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禁止混淆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6E9F6-A2DF-481E-96A1-C2EF62DA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1940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paper_trade 不能冒充真实 trade ledger；当前没有自动下单入口。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362FA-B0A9-43C2-AD94-CFFA2211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72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22AA76-01E7-48A9-950C-1813A802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86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raw/** 原则上只追加，不由 ingest/apply 自动改写。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9CC07-0C6C-4ABD-B241-B008943D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B8C480-9D4F-4A95-92FC-66763510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015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stock-feedback --write 只写 .llm-wiki/stock-feedback/**。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52D1F6-96D1-48F8-BDA7-D4B0FFB4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9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CF2FBA-B1C3-4150-BA00-5FC67E09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apply-ingest 才进入正式 staged apply，需要人工意图明确。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B0948B-02D7-4EB4-9DD0-A5F1D01E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1B9"/>
                </a:solidFill>
              </a:defRPr>
            </a:pPr>
            <a:r>
              <a:rPr sz="975" b="0">
                <a:solidFill>
                  <a:srgbClr val="90A1B9"/>
                </a:solidFill>
              </a:rPr>
              <a:t>Trading Review Wiki | 功能全景与演进路线 | 2026-06-20</a:t>
            </a:r>
          </a:p>
        </p:txBody>
      </p:sp>
    </p:spTree>
    <p:extLst>
      <p:ext uri="{BB962C8B-B14F-4D97-AF65-F5344CB8AC3E}">
        <p14:creationId xmlns:p14="http://schemas.microsoft.com/office/powerpoint/2010/main" val="7564542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6B0A7C-E265-4671-9280-C085955C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CLI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A3B24-8D56-4871-92F2-7AF5F860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0.12.1 命令面更新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2CC44-3372-45D1-AEAB-FC5181F0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Deep Research CLI 和 stock-feedback 已进入顶层命令族。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F3AE8-AF07-47C9-8189-31C96F09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00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0A1B9"/>
                </a:solidFill>
              </a:defRPr>
            </a:pPr>
            <a:r>
              <a:rPr sz="1200" b="1">
                <a:solidFill>
                  <a:srgbClr val="90A1B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47B82-AD22-4409-BCA5-D71DAA51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0F2F1-437D-477F-9841-F885DD9A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05025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FE"/>
          </a:solidFill>
          <a:ln xmlns:a="http://schemas.openxmlformats.org/drawingml/2006/main" w="0">
            <a:solidFill>
              <a:srgbClr val="DFF2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18F8B-CD15-4D68-80DF-77B8219F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47E6"/>
                </a:solidFill>
              </a:defRPr>
            </a:pPr>
            <a:r>
              <a:rPr sz="1125" b="1">
                <a:solidFill>
                  <a:srgbClr val="1447E6"/>
                </a:solidFill>
              </a:rPr>
              <a:t>生产线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46D77-B5CB-4AE1-B405-E33D4176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383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api-run / apply / finalize / temporal-facts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FCE64-1AA0-4151-A0E4-4733B655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3431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资料 dry-run -&gt; review -&gt; write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A951C-BC72-4B86-988A-42391563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BC327-3B39-4190-8F42-3C7B2BE9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FE"/>
          </a:solidFill>
          <a:ln xmlns:a="http://schemas.openxmlformats.org/drawingml/2006/main" w="0">
            <a:solidFill>
              <a:srgbClr val="DFF2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35B53-511C-404D-BA97-5BE2C6A0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479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47E6"/>
                </a:solidFill>
              </a:defRPr>
            </a:pPr>
            <a:r>
              <a:rPr sz="1125" b="1">
                <a:solidFill>
                  <a:srgbClr val="1447E6"/>
                </a:solidFill>
              </a:rPr>
              <a:t>研究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F7CE2-69B7-4EB1-B3C1-A9ED8804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241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ask / agentic ask / deep-research / company-research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9A2DE-FAF2-4303-B9DA-66D5400B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28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多源问答、深研、公司模型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40716-2500-458D-8740-768ADD80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6F89D-7480-4BC4-88CA-29444EBA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FE"/>
          </a:solidFill>
          <a:ln xmlns:a="http://schemas.openxmlformats.org/drawingml/2006/main" w="0">
            <a:solidFill>
              <a:srgbClr val="DFF2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EF91E-7638-4DE6-BC69-DFE4C38F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337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47E6"/>
                </a:solidFill>
              </a:defRPr>
            </a:pPr>
            <a:r>
              <a:rPr sz="1125" b="1">
                <a:solidFill>
                  <a:srgbClr val="1447E6"/>
                </a:solidFill>
              </a:rPr>
              <a:t>假设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CA1B7-7FDD-47D8-9CF3-1DAC0360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09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hypothesis / Watchtower / Research Cockpit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9F438-6054-4FE2-BA44-F32BF768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14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假设生命周期和桌面工作台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9B202-C642-4C07-820C-F1FAFAAD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479B9B-A6B5-4428-ACAF-E02D216D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0">
            <a:solidFill>
              <a:srgbClr val="F5F3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9C04B8-2DD1-4AA7-9197-9C64F3EF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95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F22FE"/>
                </a:solidFill>
              </a:defRPr>
            </a:pPr>
            <a:r>
              <a:rPr sz="1125" b="1">
                <a:solidFill>
                  <a:srgbClr val="7F22FE"/>
                </a:solidFill>
              </a:rPr>
              <a:t>训练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59FF72-6F37-47D3-A382-A794B0D5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957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self-question / self-train / stock-feedback / export-samples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7DF2B-E1F8-4D29-A5CF-99E96E5F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00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反馈轨迹、Benchmark、LoRA-ready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0F546-115F-44E7-A01E-A338586F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350038-1818-4723-96CD-B9BDBA94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FE"/>
          </a:solidFill>
          <a:ln xmlns:a="http://schemas.openxmlformats.org/drawingml/2006/main" w="0">
            <a:solidFill>
              <a:srgbClr val="DFF2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348773-7EAB-42F6-A792-8C84CFB3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47E6"/>
                </a:solidFill>
              </a:defRPr>
            </a:pPr>
            <a:r>
              <a:rPr sz="1125" b="1">
                <a:solidFill>
                  <a:srgbClr val="1447E6"/>
                </a:solidFill>
              </a:rPr>
              <a:t>数据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32B67C-6516-4141-AD34-29F5CC7D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815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data-source / market-validate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895AC-BD10-4554-B1FB-A0989A4C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86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QCC、Tushare、行情 SQL、验证证据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DE6A2A-9A81-4CD7-85D9-D9545F70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3A315C-4189-4F09-8AA4-B615C708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A6A5B2-A759-4FE3-8309-9A473E1D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DDE4FB-F0DA-40C8-886E-E84C2E0C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146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新增重点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EE7E22-73FC-4CD2-A792-4ACA86FA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33700"/>
            <a:ext cx="2038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`deep-research` 复刻应用端。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`stock-feedback` 承接训练飞轮 V2。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F8AA7F-98CD-4E39-B862-E093A274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1B9"/>
                </a:solidFill>
              </a:defRPr>
            </a:pPr>
            <a:r>
              <a:rPr sz="975" b="0">
                <a:solidFill>
                  <a:srgbClr val="90A1B9"/>
                </a:solidFill>
              </a:rPr>
              <a:t>Trading Review Wiki | 功能全景与演进路线 | 2026-06-20</a:t>
            </a:r>
          </a:p>
        </p:txBody>
      </p:sp>
    </p:spTree>
    <p:extLst>
      <p:ext uri="{BB962C8B-B14F-4D97-AF65-F5344CB8AC3E}">
        <p14:creationId xmlns:p14="http://schemas.microsoft.com/office/powerpoint/2010/main" val="18649590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CD150E-C0CB-4F99-B988-6EC58F95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APP PARITY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CE296-54C3-4296-9192-D98B9420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Deep Research 复刻应用端 CLI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08045-7D2D-4202-BB03-8D21B649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把桌面深研面板变成可复现、可批处理、可审计的命令行入口。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33E7F-F25E-42EF-9D71-B38328EF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00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0A1B9"/>
                </a:solidFill>
              </a:defRPr>
            </a:pPr>
            <a:r>
              <a:rPr sz="1200" b="1">
                <a:solidFill>
                  <a:srgbClr val="90A1B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9810E-0EDE-4F71-9293-CF003A7F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BDF22-33E4-478F-AFCD-001A85EB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57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5CAA3-BBDF-4487-85F0-58ED8725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9573B-6090-4E12-96A1-309A0240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topic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1954E-5C7A-4889-9ACC-5A2DFFB7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用户主题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queries 可选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0B7F7-1953-4DB9-BF4C-D51DEAD7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5717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1282D-22FF-448B-8A6D-BB9B7500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2057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D6536-C0A7-4A20-AB40-C0449B9C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669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9F1CA-BE5D-4AA5-AC69-BFC7393D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5BD3F-8606-4E63-AEF0-4240A889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38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Tavily/Web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外部线索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DE1D0-A322-4F57-B25E-FA6D6064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717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A1ECB-CB91-497F-870E-14CD95E1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95500"/>
            <a:ext cx="2057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FE39C4-7DCB-4EA7-9371-65669A81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669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FE119-1501-4E89-93A5-F9B57A0F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local 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8931A-2A2B-43D9-836F-50A4B836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wiki/raw/graph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facts/brain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7CD754-BB8B-4FE8-84D9-91C154C2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717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5753C-8064-46B3-829C-9C6270CE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2057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E61C0-3D00-4CC5-9D2A-663DFBD3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669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100"/>
          </a:solidFill>
          <a:ln xmlns:a="http://schemas.openxmlformats.org/drawingml/2006/main" w="0">
            <a:solidFill>
              <a:srgbClr val="E171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C0EB6B-EAA7-4A95-96F9-1F0CD5A9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synthesis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4B0529-EBE5-4C2B-879E-0FC65B08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38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LLM 草稿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source trace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B923A-878D-4EC4-A912-DD75A940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717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884599-91F2-4400-BB06-40B32EA3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2057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D53F67-B53B-4060-90AD-DEE96C92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669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3F"/>
          </a:solidFill>
          <a:ln xmlns:a="http://schemas.openxmlformats.org/drawingml/2006/main" w="0">
            <a:solidFill>
              <a:srgbClr val="EC003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8F294A-9984-4E14-B594-0EACBD9A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write 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C5A47-BEAF-4D06-9C3C-65F6770D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38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.llm-wiki -&gt;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wiki/queries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1962AB-846F-434F-8045-A79D5EBF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4762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B8015E-4A6A-4767-BE89-B6A6EF60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F19EE3-439E-4E16-A513-588251B4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适用点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F3DAF5-E21E-4C36-885B-68BC237F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67250"/>
            <a:ext cx="441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同一主题反复深挖、定期刷新、从应用点击能力变成外部自动化可调用任务。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F69297-0BDF-4E8D-BD31-881C9D41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24300"/>
            <a:ext cx="4762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0ADCF-1095-4D8F-8346-2156D4A6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957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100"/>
          </a:solidFill>
          <a:ln xmlns:a="http://schemas.openxmlformats.org/drawingml/2006/main" w="0">
            <a:solidFill>
              <a:srgbClr val="E171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BE186C-7787-41FF-B699-525400DB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481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仍需固化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E63861-502C-4F8C-96EF-610926EA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67250"/>
            <a:ext cx="441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测试/build/发布说明、query 去重、diff preview、provider failure retry。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91D967-908E-4AAB-9987-A71EDE82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1B9"/>
                </a:solidFill>
              </a:defRPr>
            </a:pPr>
            <a:r>
              <a:rPr sz="975" b="0">
                <a:solidFill>
                  <a:srgbClr val="90A1B9"/>
                </a:solidFill>
              </a:rPr>
              <a:t>Trading Review Wiki | 功能全景与演进路线 | 2026-06-20</a:t>
            </a:r>
          </a:p>
        </p:txBody>
      </p:sp>
    </p:spTree>
    <p:extLst>
      <p:ext uri="{BB962C8B-B14F-4D97-AF65-F5344CB8AC3E}">
        <p14:creationId xmlns:p14="http://schemas.microsoft.com/office/powerpoint/2010/main" val="1105458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CE1C41-FC15-4429-B34F-9A61C663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TRAINING FLYWHEEL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C4107-25C5-401C-961A-3DCFD922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训练飞轮 V2 主链路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6409B-864A-458B-A946-5FCE30E4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先把研究过程变成可验证轨迹，再把行为能力送入 eval/SFT/preference/adapter 候选。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A20ED-74F4-432B-9725-8477E1AF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00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0A1B9"/>
                </a:solidFill>
              </a:defRPr>
            </a:pPr>
            <a:r>
              <a:rPr sz="1200" b="1">
                <a:solidFill>
                  <a:srgbClr val="90A1B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AD1DD-791D-41EB-929B-D221DC93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8F0AF-5BDD-4E0B-8F28-40E5A248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057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81577-CDC5-46D2-A939-C02F55FE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A8A4C-E9BB-463A-A805-AB2AABCF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self-question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91A00-A6E4-4C54-A833-56403E29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当时为什么看好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假设和预期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9E618-393E-400A-9AD5-EB207D37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5527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73E18-D4F0-4C55-9FF6-FABEF5EB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2057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55630-1423-4DCA-86F4-BCA553E5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479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625C9-9AE6-4AFC-B5EF-7A8DA1F2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00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BFB45-B686-4CD2-B577-B3993DA4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194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stock-feedback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trajectory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100485-8D10-48C1-8ECF-C8A58F89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527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78C3E-D5AC-4717-B76E-4B0F701E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76450"/>
            <a:ext cx="2057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B4F52-EFA1-4E5B-AD40-48FCC3C1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479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100"/>
          </a:solidFill>
          <a:ln xmlns:a="http://schemas.openxmlformats.org/drawingml/2006/main" w="0">
            <a:solidFill>
              <a:srgbClr val="E171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5BA4D-D8D4-4F6B-B7D5-21990EC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00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30C62-FCCA-47CD-AE95-765915DA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194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人审动作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分流目标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A0375-7AE2-4DE7-B037-824C73C3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527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CB3E97-FAC9-4552-8020-8BA291D1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2057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497AE1-BE18-41C7-A570-2544C9D4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479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C5665-E13C-4620-B2EF-B0633E64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00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benchmark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318975-5C97-478C-B2A6-D4C3CB0F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194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case batch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固定评测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5DC80C-B1FE-4410-BA09-9F4EAFD3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527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9DECBF-DA99-4AA1-8320-07644A9A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2057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711768-F0D8-461D-A721-7C032493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479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3F"/>
          </a:solidFill>
          <a:ln xmlns:a="http://schemas.openxmlformats.org/drawingml/2006/main" w="0">
            <a:solidFill>
              <a:srgbClr val="EC003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B50804-0597-4227-9B3F-7DCAC186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00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LoRA-ready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439443-7410-4750-9001-018AB505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194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行为/技能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工具习惯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B46020-7669-43BF-83BB-11809C0E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81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0990AF-8806-4702-8403-5B51D23F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训练目标拆分：expectation_trade / fundamental_closure / priced_in_risk / disconfirmation。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77CD96-2F6E-4578-8682-AFEDE78F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43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555808-381A-434B-A269-1A781A5F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high_confidence 不是来源，而是绑定 validationTarget 后的人审或规则确认标记。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7A572E-81E2-408F-B241-C1591104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AEBA14-EA96-4529-9ED1-2AEE65FF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96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LoRA 不存原始事实，只沉淀可复用行为、技能、工具习惯和决策策略。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64D991-0FCC-481A-A923-77CDF01C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1B9"/>
                </a:solidFill>
              </a:defRPr>
            </a:pPr>
            <a:r>
              <a:rPr sz="975" b="0">
                <a:solidFill>
                  <a:srgbClr val="90A1B9"/>
                </a:solidFill>
              </a:rPr>
              <a:t>Trading Review Wiki | 功能全景与演进路线 | 2026-06-20</a:t>
            </a:r>
          </a:p>
        </p:txBody>
      </p:sp>
    </p:spTree>
    <p:extLst>
      <p:ext uri="{BB962C8B-B14F-4D97-AF65-F5344CB8AC3E}">
        <p14:creationId xmlns:p14="http://schemas.microsoft.com/office/powerpoint/2010/main" val="165981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C22ACE-8E0C-454F-94FC-FE14FF1E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PAPER TRADE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B05FE-279C-4036-BA5E-5EB0414E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paper trade 是 V2 闭环，但不是真实收益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11A0A-88E6-415E-B41E-FA4B3D57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模拟交易可以补执行样本密度，但必须和真实交易账本严格分层。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C1147-58E8-4B6E-8641-F370EA1A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00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0A1B9"/>
                </a:solidFill>
              </a:defRPr>
            </a:pPr>
            <a:r>
              <a:rPr sz="1200" b="1">
                <a:solidFill>
                  <a:srgbClr val="90A1B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3D50A-A959-4660-A701-D70A4B6E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12AC2-3168-4DB6-84F5-27C46A54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C4A13-90FF-4377-B38D-B9B6C46E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9D77A-E360-401C-AA6F-68F94AB0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已接通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4570F-4A5A-4E63-AAC2-5CF2B309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800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record / settle / status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realizedPnlPct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maxDrawdownPct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holdingDays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entry/exit reason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7E3E6-5233-4D2F-9399-5CA39A2C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C3F06-FD18-4391-B94B-BA29A430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717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CDA8A-B884-4869-9405-C124100E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证据门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EA92D-9D6A-4D6C-B331-05ADB1ED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2800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sourceRefs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evidenceRefs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autoEvidenceGate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marketEvidenceWindow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noFutureData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268E6-4135-489D-B250-65955A2B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F5A5E-6F01-4504-8D49-32B2AA30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717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100"/>
          </a:solidFill>
          <a:ln xmlns:a="http://schemas.openxmlformats.org/drawingml/2006/main" w="0">
            <a:solidFill>
              <a:srgbClr val="E171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0E445-FBC9-4BF5-AFE1-49E88CBA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241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训练去向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AFA2C-6FE9-44CF-A9B2-7AB08943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2800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approve_paper_adapter_candidate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低权重 adapter 候选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eval / preference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负样本归因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B9FF4-66B3-49FA-8C3C-0111D52C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38650"/>
            <a:ext cx="91440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FCC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AA9B3-F518-4D40-87A7-6C869773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101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3F"/>
          </a:solidFill>
          <a:ln xmlns:a="http://schemas.openxmlformats.org/drawingml/2006/main" w="0">
            <a:solidFill>
              <a:srgbClr val="EC00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6E4E8-1BAE-4A7E-9DDD-B93E02C6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62500"/>
            <a:ext cx="880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301030-AC0D-4461-8885-FA2DD5EB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81600"/>
            <a:ext cx="880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paper_pattern_execution_supported 不能等同 real_pattern_execution_supported；真实 trade ledger、仓位账本和自动 LLM 模拟交易 Agent 仍是后续闭环。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5E428E-ADEC-474D-A46A-8A7EF7FC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1B9"/>
                </a:solidFill>
              </a:defRPr>
            </a:pPr>
            <a:r>
              <a:rPr sz="975" b="0">
                <a:solidFill>
                  <a:srgbClr val="90A1B9"/>
                </a:solidFill>
              </a:rPr>
              <a:t>Trading Review Wiki | 功能全景与演进路线 | 2026-06-20</a:t>
            </a:r>
          </a:p>
        </p:txBody>
      </p:sp>
    </p:spTree>
    <p:extLst>
      <p:ext uri="{BB962C8B-B14F-4D97-AF65-F5344CB8AC3E}">
        <p14:creationId xmlns:p14="http://schemas.microsoft.com/office/powerpoint/2010/main" val="7259542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17930E-2FCF-494C-A955-DDF6DDDD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DATA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EE914-B001-4912-99E8-7E9B7A1A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Tushare 已进入训练飞轮证据面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80120-7F0A-4349-9203-859ABB2E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外部 API 不进 adapter；只作为 retrieval/tool state 和 evidenceRefs。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1D77C-508D-4EEA-BC70-B0712B78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00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0A1B9"/>
                </a:solidFill>
              </a:defRPr>
            </a:pPr>
            <a:r>
              <a:rPr sz="1200" b="1">
                <a:solidFill>
                  <a:srgbClr val="90A1B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19E1C-3073-4568-9523-9269D651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2B386-064D-4416-9600-7DCE0EC7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31432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07118-ED44-42BB-B405-99DA24BB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D4DD1-0182-4E92-B7F7-5CB37721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data-source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D3904-2E75-4B19-964B-802BC72C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28003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status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tushare-probe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qcc-tenders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company-research 内部源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CF911-E85A-4F66-8E27-909342F1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76450"/>
            <a:ext cx="31432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2AC42-2438-4EDE-A4B5-182134CC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479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BCBEF-EAD7-4D93-89A6-9215B3A9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003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行情证据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CB5BE-101C-4010-8715-F7ADD808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19400"/>
            <a:ext cx="28003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daily / daily_basic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相对强度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成交额和换手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承接与回撤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涨跌停约束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8A8A3-BD86-46C5-9658-2546E5D5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31432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B73E8-5079-485B-8F98-96F041F5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479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100"/>
          </a:solidFill>
          <a:ln xmlns:a="http://schemas.openxmlformats.org/drawingml/2006/main" w="0">
            <a:solidFill>
              <a:srgbClr val="E171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A3E49-B69A-4F5D-A6DF-B6980925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凭证纪律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3029A-6602-4905-82FD-4C9C1179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19400"/>
            <a:ext cx="28003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Keychain / env / MCP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只读 probe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输出脱敏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失败可审计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B9636-54F4-4639-8425-A12B1468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14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1014E-74D7-472F-A7E4-2907D545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Tushare 支撑 paper trade 的入场价建议、市场证据窗口和微结构检查。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5316C5-0BDC-4E85-B327-881BB999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27A0B-6899-4ABC-87DD-2ABEA6AD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530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QCC/CNINFO/Tushare batch executor 仍是 V2 后续重点。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82898A-5AB2-45CE-BC7D-6D950B1C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62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61EB05-7C0D-411A-B55D-E1B9CDB1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768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事实和行情行留在 sourceRefs/tool state，adapter 候选只保留策略和行为。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086FB-6A34-44F1-88B5-1964C822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1B9"/>
                </a:solidFill>
              </a:defRPr>
            </a:pPr>
            <a:r>
              <a:rPr sz="975" b="0">
                <a:solidFill>
                  <a:srgbClr val="90A1B9"/>
                </a:solidFill>
              </a:rPr>
              <a:t>Trading Review Wiki | 功能全景与演进路线 | 2026-06-20</a:t>
            </a:r>
          </a:p>
        </p:txBody>
      </p:sp>
    </p:spTree>
    <p:extLst>
      <p:ext uri="{BB962C8B-B14F-4D97-AF65-F5344CB8AC3E}">
        <p14:creationId xmlns:p14="http://schemas.microsoft.com/office/powerpoint/2010/main" val="3107267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169EA0-F3BB-4556-8323-224E406A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FUNCTION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D0DF3-7C49-4F32-87F7-BECF9167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当前功能全景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E5C64-6BC5-43EC-97CE-4EEDB93A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最成熟的是可审计知识生产线；最快迭代的是 Research Cockpit 和训练飞轮。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C7E04-D0CF-4806-88BA-E5CB3F4E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00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0A1B9"/>
                </a:solidFill>
              </a:defRPr>
            </a:pPr>
            <a:r>
              <a:rPr sz="1200" b="1">
                <a:solidFill>
                  <a:srgbClr val="90A1B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35643-B15B-42A7-BDFA-6664B302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FCEAA-5E1D-4547-A762-6F66AB85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3009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D56AD-BA06-44B3-ADFD-87F01ED5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66CD0-1C44-4E70-8635-CC608973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知识生产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C710A-51D8-4ED2-B08A-434F704C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convert-source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prepare/api-run/apply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Temporal 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CC0F1-3B39-4420-A70F-17DACC1C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57400"/>
            <a:ext cx="3009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D6ADB-BE7F-4705-8849-C946D8D2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288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468C6-BFEC-4F22-8D3E-93092462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81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研究增强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1B385-F2FE-45F5-9821-8829E119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03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ask / agentic ask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deep-research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company-research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59CA9-3CEC-4BDE-B849-CB09DCDD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7400"/>
            <a:ext cx="3009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D66120-E42C-4A42-9C17-0D93E9E5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100"/>
          </a:solidFill>
          <a:ln xmlns:a="http://schemas.openxmlformats.org/drawingml/2006/main" w="0">
            <a:solidFill>
              <a:srgbClr val="E171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7D748-6C10-44F6-AE8C-89EA444B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假设系统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FEFFF-3B60-469A-B4A7-AF974C6D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03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hypothesis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Watchtower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Research Cockpit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4B8CD-7754-4B71-A7AC-BB904843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3009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4F4FD5-DD15-41E6-8CF4-A8E3A84A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D2D88-4915-499C-944A-D4FE0605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递归学习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ADFCB-2F58-4430-BC55-86931506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self-question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self-train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export-samples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C74E1-5773-4D32-BEE6-6A9BD6D3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14750"/>
            <a:ext cx="3009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B9BB24-3507-46A8-B887-9ECE6611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862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3F"/>
          </a:solidFill>
          <a:ln xmlns:a="http://schemas.openxmlformats.org/drawingml/2006/main" w="0">
            <a:solidFill>
              <a:srgbClr val="EC003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F561E-3E01-448E-B372-CAFE54C6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38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训练飞轮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C4AC8F-34C8-4097-8091-2AE8653E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577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stock-feedback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paper trade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Benchmark / LoRA-ready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5B1D95-DFD3-4B13-BF42-F6D96AD4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3009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A13CF8-571A-448D-8A3C-2CFC5C66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6124C1-6359-43BB-846C-8985EF13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38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数据源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E6058A-2F7F-4521-ADCE-E33E1C9B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577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Tushare / QCC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CNINFO / Tavily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stock SQL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CEB597-9D32-4F00-8746-C9FD6679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1B9"/>
                </a:solidFill>
              </a:defRPr>
            </a:pPr>
            <a:r>
              <a:rPr sz="975" b="0">
                <a:solidFill>
                  <a:srgbClr val="90A1B9"/>
                </a:solidFill>
              </a:rPr>
              <a:t>Trading Review Wiki | 功能全景与演进路线 | 2026-06-20</a:t>
            </a:r>
          </a:p>
        </p:txBody>
      </p:sp>
    </p:spTree>
    <p:extLst>
      <p:ext uri="{BB962C8B-B14F-4D97-AF65-F5344CB8AC3E}">
        <p14:creationId xmlns:p14="http://schemas.microsoft.com/office/powerpoint/2010/main" val="11124111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774EB0-F8E5-49F1-A948-C0EFCD22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MATURITY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7E9DB-79BF-46BC-B090-C5D00C3C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闭环成熟度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F537B-FDE8-4644-A735-D1B7F007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高成熟模块负责生产稳定性；中成熟模块负责下一阶段增长。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FF23E-5861-4220-B527-D5D0BB45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00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0A1B9"/>
                </a:solidFill>
              </a:defRPr>
            </a:pPr>
            <a:r>
              <a:rPr sz="1200" b="1">
                <a:solidFill>
                  <a:srgbClr val="90A1B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4ED45-EFCD-49F4-B07F-4A4C280A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952500" y="2095500"/>
          <a:ext xmlns:a="http://schemas.openxmlformats.org/drawingml/2006/main" cx="7048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2901dec2cd462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72657-4679-4F28-B9BB-24710EF8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E1A36-1455-4A64-9F99-B73ABA56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C73D2-4A10-4BE7-8BA8-BE33EA59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146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C5B6E-E239-4C09-BDC5-B9AFA2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337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ask / apply / company-research 已可日常用。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9EB82-ECC6-4E3F-8CEA-C30202B4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FB99E-ED24-47E7-ABAC-5B0BEAC3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719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100"/>
          </a:solidFill>
          <a:ln xmlns:a="http://schemas.openxmlformats.org/drawingml/2006/main" w="0">
            <a:solidFill>
              <a:srgbClr val="E171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5B8BD-CA48-4A72-8A35-8BD8A80F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243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40ABC-AF12-4A86-8445-B516462B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434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Training Flywheel V2、Data Source、Cockpit 需要跑真实闭环。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2331D-19B5-4CEB-A525-ED85CC3B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1B9"/>
                </a:solidFill>
              </a:defRPr>
            </a:pPr>
            <a:r>
              <a:rPr sz="975" b="0">
                <a:solidFill>
                  <a:srgbClr val="90A1B9"/>
                </a:solidFill>
              </a:rPr>
              <a:t>Trading Review Wiki | 功能全景与演进路线 | 2026-06-20</a:t>
            </a:r>
          </a:p>
        </p:txBody>
      </p:sp>
    </p:spTree>
    <p:extLst>
      <p:ext uri="{BB962C8B-B14F-4D97-AF65-F5344CB8AC3E}">
        <p14:creationId xmlns:p14="http://schemas.microsoft.com/office/powerpoint/2010/main" val="13844254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A5B80C-A4CF-41FB-9F41-FB94B9E6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WORKFLOWS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E9E2D-2E70-4BD4-87A1-1D1ED779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当前最适合的使用方式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0DDFF-FE87-4673-88B3-C2567588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用 CLI 串生产线，用应用端做人审和日常操作。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7C814-BE7A-4394-AB9D-FAB2CD1C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00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0A1B9"/>
                </a:solidFill>
              </a:defRPr>
            </a:pPr>
            <a:r>
              <a:rPr sz="1200" b="1">
                <a:solidFill>
                  <a:srgbClr val="90A1B9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57EB2-0A83-4BBA-87A4-5FB7A895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20812-4CE2-429D-8B54-6E4C23DE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FE"/>
          </a:solidFill>
          <a:ln xmlns:a="http://schemas.openxmlformats.org/drawingml/2006/main" w="0">
            <a:solidFill>
              <a:srgbClr val="DFF2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849EE-E99C-46B4-BB41-AA35C9C7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47E6"/>
                </a:solidFill>
              </a:defRPr>
            </a:pPr>
            <a:r>
              <a:rPr sz="1125" b="1">
                <a:solidFill>
                  <a:srgbClr val="1447E6"/>
                </a:solidFill>
              </a:rPr>
              <a:t>日常问答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5C461-192E-4939-9CDE-996E52BC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145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ask --sources wiki,raw,graph,facts,brain,stock-price --show-sources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A91D4-7512-4D07-A86A-8F150EF5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798D6-1BC8-46CC-8EB8-DC8ABF95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FE"/>
          </a:solidFill>
          <a:ln xmlns:a="http://schemas.openxmlformats.org/drawingml/2006/main" w="0">
            <a:solidFill>
              <a:srgbClr val="DFF2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F1316-8AAF-4914-B495-1D4A094E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47E6"/>
                </a:solidFill>
              </a:defRPr>
            </a:pPr>
            <a:r>
              <a:rPr sz="1125" b="1">
                <a:solidFill>
                  <a:srgbClr val="1447E6"/>
                </a:solidFill>
              </a:rPr>
              <a:t>深度研究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2FCBC-C3B5-4DD0-ABCA-CAD9CB6A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03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deep-research --topic "..." --provider codex --write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82D0B-8181-42C1-9FA8-02E74747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2FC1A-6EA7-4DE5-A2A0-ED4F91F2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FE"/>
          </a:solidFill>
          <a:ln xmlns:a="http://schemas.openxmlformats.org/drawingml/2006/main" w="0">
            <a:solidFill>
              <a:srgbClr val="DFF2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094A9-2673-4C86-9F33-A3CB763D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47E6"/>
                </a:solidFill>
              </a:defRPr>
            </a:pPr>
            <a:r>
              <a:rPr sz="1125" b="1">
                <a:solidFill>
                  <a:srgbClr val="1447E6"/>
                </a:solidFill>
              </a:rPr>
              <a:t>公司深研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F3769-81D8-46AF-B8F6-5C22531C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861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company-research --stock &lt;code&gt; --deep --plugin-led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546DB2-5FBC-4A84-B66E-2FE2EE4F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64A41-EC99-42FC-BC77-097081C1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FE"/>
          </a:solidFill>
          <a:ln xmlns:a="http://schemas.openxmlformats.org/drawingml/2006/main" w="0">
            <a:solidFill>
              <a:srgbClr val="DFF2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06171F-A59D-47B8-8D6C-B4D1D826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47E6"/>
                </a:solidFill>
              </a:defRPr>
            </a:pPr>
            <a:r>
              <a:rPr sz="1125" b="1">
                <a:solidFill>
                  <a:srgbClr val="1447E6"/>
                </a:solidFill>
              </a:rPr>
              <a:t>训练飞轮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EE7F3-1257-4F52-ABFB-E0EB2EF7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719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stock-feedback build-trajectories --write &amp;&amp; stock-feedback bench --write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A71CAE-002D-459D-8021-6CD14ACD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91858E-20BF-461E-B143-AB7DEBF1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solidFill>
              <a:srgbClr val="FFFB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80E23-3AD5-408E-8963-6AC8253C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17100"/>
                </a:solidFill>
              </a:defRPr>
            </a:pPr>
            <a:r>
              <a:rPr sz="1125" b="1">
                <a:solidFill>
                  <a:srgbClr val="E17100"/>
                </a:solidFill>
              </a:rPr>
              <a:t>模拟交易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0A6D4-B33A-4642-A1AA-061206BB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577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stock-feedback paper-trade record/settle --auto-market-evidence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2C41F8-207F-4ACB-9E62-43151276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BABE7A-3906-41E9-B650-6369D80F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1B9"/>
                </a:solidFill>
              </a:defRPr>
            </a:pPr>
            <a:r>
              <a:rPr sz="975" b="0">
                <a:solidFill>
                  <a:srgbClr val="90A1B9"/>
                </a:solidFill>
              </a:rPr>
              <a:t>Trading Review Wiki | 功能全景与演进路线 | 2026-06-20</a:t>
            </a:r>
          </a:p>
        </p:txBody>
      </p:sp>
    </p:spTree>
    <p:extLst>
      <p:ext uri="{BB962C8B-B14F-4D97-AF65-F5344CB8AC3E}">
        <p14:creationId xmlns:p14="http://schemas.microsoft.com/office/powerpoint/2010/main" val="10653563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F687DC-5D68-443C-AFFB-9D0EBACF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OPEN LOOPS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94453-5451-4173-B845-F50E8307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仍未完整闭环的关键点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5C805-A731-4342-BB47-0BE287F2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这些不是失败，而是 V2/V3 需要明确攻下的工程面。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9F591-DE32-49A1-B6C2-4289FA82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00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0A1B9"/>
                </a:solidFill>
              </a:defRPr>
            </a:pPr>
            <a:r>
              <a:rPr sz="1200" b="1">
                <a:solidFill>
                  <a:srgbClr val="90A1B9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14422-913A-4202-8656-1177C956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84BD0-F4AA-41ED-B4AB-94749FBF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DA66E-CD53-457F-BFBB-F278D9D8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100"/>
          </a:solidFill>
          <a:ln xmlns:a="http://schemas.openxmlformats.org/drawingml/2006/main" w="0">
            <a:solidFill>
              <a:srgbClr val="E171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8EB29-FDDC-4AA9-BE91-54A87FD8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Evidence Runner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152DD-2645-47C0-9C80-C926445E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800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CNINFO / QCC / Tushare / IMA 批量补证、retry、audit、resolve。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43546-AA0D-4AFE-AED8-EE7D02A5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7645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55F24-BA7C-4F90-B640-E9C9081F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479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59F84-7DD3-42DD-84A8-3F22CB2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Flywheel Samples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B1696-B473-461A-BE99-F9B66E6F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19400"/>
            <a:ext cx="2800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review backlog、Benchmark batch、priced-in/fundamental 正负样本。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52007-0F5D-4A89-86C3-8AF61BBA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FCC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AA921-5613-44C8-9367-010F7960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3F"/>
          </a:solidFill>
          <a:ln xmlns:a="http://schemas.openxmlformats.org/drawingml/2006/main" w="0">
            <a:solidFill>
              <a:srgbClr val="EC003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53A11-C8DF-4F8A-9FCB-006FBEB1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Trading Attribution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2A48B-7FF1-42AE-9BF4-4702F8F6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19400"/>
            <a:ext cx="2800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真实 trade ledger、仓位账本、PnL attribution、slippage/limit checks。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76F98-2196-422F-A12C-6CC2317D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05300"/>
            <a:ext cx="7620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35A81-3911-4BD7-A373-5A7A8293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767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65A56-68E3-4E75-83A1-53FBCE59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29150"/>
            <a:ext cx="727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最重要的产品原则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94DA5B-7D90-45A1-BA96-C704A17A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48250"/>
            <a:ext cx="727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先让样本可审计、可复现、可回滚，再考虑自动化。paper trade 只能补密度，不能替代真实收益证据。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B13DD9-8AAA-4788-97CC-7F9CB190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1B9"/>
                </a:solidFill>
              </a:defRPr>
            </a:pPr>
            <a:r>
              <a:rPr sz="975" b="0">
                <a:solidFill>
                  <a:srgbClr val="90A1B9"/>
                </a:solidFill>
              </a:rPr>
              <a:t>Trading Review Wiki | 功能全景与演进路线 | 2026-06-20</a:t>
            </a:r>
          </a:p>
        </p:txBody>
      </p:sp>
    </p:spTree>
    <p:extLst>
      <p:ext uri="{BB962C8B-B14F-4D97-AF65-F5344CB8AC3E}">
        <p14:creationId xmlns:p14="http://schemas.microsoft.com/office/powerpoint/2010/main" val="5928946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EB53D7-B445-4AFF-95DB-1AEC12D2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E3F24-8DC5-4428-AF00-142D1A57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1.0 -&gt; 2.0：稳定生产线到证据闭环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C78C7-E369-4FE9-B0B5-3F3267F7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短期目标不是多做命令，而是让命令之间形成稳定链路。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B5625-6ACB-4BEE-993C-FFE5B9E6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00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0A1B9"/>
                </a:solidFill>
              </a:defRPr>
            </a:pPr>
            <a:r>
              <a:rPr sz="1200" b="1">
                <a:solidFill>
                  <a:srgbClr val="90A1B9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FA5AF-9443-4533-BD86-6CD47CC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044B0-1884-4E58-A49B-F84C5D48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D0AF4-1253-4A2F-82B4-8C37F55E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A9F8F-1142-41CA-8255-CECBD198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1.0 审计级 CLI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7DC8E-A0A6-47F1-9E6E-233CEA2B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4419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help 和 handler 一致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ask/apply/company smoke 固化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deep-research CLI 写入门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stock-feedback verify 常规化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备份和恢复 SOP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16FB8-82CD-40D8-B182-4BD2D719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AAEAD-0A30-442E-8A51-62D4F0F4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05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97B40-1F68-4C59-A668-6B480FEA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574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2.0 证据执行器和假设闭环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22D8B-E9A3-46E3-B1E1-0A261EE4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4419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Evidence Task Runner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Hypothesis transition proposal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Watchtower v2 evaluator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Research Cockpit v2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Training Flywheel v2 样本覆盖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AC999-0E4F-4C8C-94D0-7B9172FF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1B9"/>
                </a:solidFill>
              </a:defRPr>
            </a:pPr>
            <a:r>
              <a:rPr sz="975" b="0">
                <a:solidFill>
                  <a:srgbClr val="90A1B9"/>
                </a:solidFill>
              </a:rPr>
              <a:t>Trading Review Wiki | 功能全景与演进路线 | 2026-06-20</a:t>
            </a:r>
          </a:p>
        </p:txBody>
      </p:sp>
    </p:spTree>
    <p:extLst>
      <p:ext uri="{BB962C8B-B14F-4D97-AF65-F5344CB8AC3E}">
        <p14:creationId xmlns:p14="http://schemas.microsoft.com/office/powerpoint/2010/main" val="5230602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01CF1B-ED88-4B09-B459-3E216138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E7176-B97F-4B42-8682-5ED30670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3.0 -&gt; 5.0：从策略改进到模拟交易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894A4-BC8C-4DDF-8516-80B8A0B7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真实交易建议仍保持人工确认，自动下单不进入当前边界。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54A6A-C6C3-42F1-87BC-917BE333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00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0A1B9"/>
                </a:solidFill>
              </a:defRPr>
            </a:pPr>
            <a:r>
              <a:rPr sz="1200" b="1">
                <a:solidFill>
                  <a:srgbClr val="90A1B9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E0A09-FBE8-456D-9EC8-B3BAB1D3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DF387-4A96-4DC7-A003-8E7962EE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32004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F167F-C2E9-497F-821D-921E5BF0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7DC8C-D684-4C58-A9F2-85CDA067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3.0 人工批准的策略改进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77390-9FAC-4CA6-9A56-92A0A85B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85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proposal -&gt; patch candidate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adapter candidate routing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回归、回滚、分层权重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41C60-0C71-4DFD-B091-7B5D0658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38350"/>
            <a:ext cx="32004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90F47-809B-417C-92B8-8E614166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100"/>
          </a:solidFill>
          <a:ln xmlns:a="http://schemas.openxmlformats.org/drawingml/2006/main" w="0">
            <a:solidFill>
              <a:srgbClr val="E171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9F7A4-E418-41F1-AF9C-F321710B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4.0 受控低风险自动应用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F3307-2F8D-46C5-A497-7AA4C406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285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只允许白名单配置微调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多次通过回归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失败可回滚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8E4F6-DE4E-46E5-AB64-9855CCBF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2004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CBB49-12DE-4A97-BC5E-99F8F53F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098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3F"/>
          </a:solidFill>
          <a:ln xmlns:a="http://schemas.openxmlformats.org/drawingml/2006/main" w="0">
            <a:solidFill>
              <a:srgbClr val="EC003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F9576F-056E-4570-B79B-010CB74E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62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5.0 模拟交易闭环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B3E82-7C78-4398-932D-EE0969B5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285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self-question -&gt; candidate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rule_baseline vs LLM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position/PnL/risk attribution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1081E0-87C1-489F-ABD8-BA526924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95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629E6-2DBC-4469-BCD0-4192683F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01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真实收益样本优先级最高；paper trade 默认低权重。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3C4631-5E0A-4569-9834-0CC561A4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19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03B9CB-A725-4846-A7AE-CD51E1FA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340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LLM 跑输规则基线时进入执行风险负样本。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703AF9-22A6-4156-9BF0-E080F23B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1B9"/>
                </a:solidFill>
              </a:defRPr>
            </a:pPr>
            <a:r>
              <a:rPr sz="975" b="0">
                <a:solidFill>
                  <a:srgbClr val="90A1B9"/>
                </a:solidFill>
              </a:rPr>
              <a:t>Trading Review Wiki | 功能全景与演进路线 | 2026-06-20</a:t>
            </a:r>
          </a:p>
        </p:txBody>
      </p:sp>
    </p:spTree>
    <p:extLst>
      <p:ext uri="{BB962C8B-B14F-4D97-AF65-F5344CB8AC3E}">
        <p14:creationId xmlns:p14="http://schemas.microsoft.com/office/powerpoint/2010/main" val="18959371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FDC1F4-0445-488A-A20B-9C0E7023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PRIORITY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A3299-2D75-4D48-98FA-1D363D5E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下一步优先级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60E88-D12A-4564-A7B5-65FD9066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先把 V2 主链路跑稳，再追求更强的自动化。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E292B-98EF-4544-B62B-20B2E709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00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0A1B9"/>
                </a:solidFill>
              </a:defRPr>
            </a:pPr>
            <a:r>
              <a:rPr sz="1200" b="1">
                <a:solidFill>
                  <a:srgbClr val="90A1B9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7BE2E-1594-40E6-BB79-E9B9A22F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E0EFD-FB7B-4DB0-9AA2-4B37EF13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E1832-0CD0-46B5-9469-05EC5055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41022-781A-4BEB-AF01-0BE3B01B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P0 稳定闭环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AEF1A-DD16-4CD1-BD43-B44EB580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8003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Deep Research CLI 测试/build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stock-feedback verify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Benchmark batch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paper trade gate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Tushare failure diagnosis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08BF6-617E-4AF7-A517-DC30E597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3835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73236-6366-4A24-B1C0-548BD053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98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100"/>
          </a:solidFill>
          <a:ln xmlns:a="http://schemas.openxmlformats.org/drawingml/2006/main" w="0">
            <a:solidFill>
              <a:srgbClr val="E171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633C8-5232-478A-8159-46C0933C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P1 研究深度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B19D5-C045-47BF-B987-309C0BA0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28003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Watchtower evaluator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query diff/retry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四类训练目标补样本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Temporal/Brain review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9D2B0-B096-47F2-B191-9497C69A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FFD31-998A-4F7B-90A0-1A356579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24BF7-A292-4BA3-A9D3-7D923AAE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P3 交易闭环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7B46C-A88C-467A-AC53-DA943722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28003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paper trade 子 Agent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position ledger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真实 trade ledger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PnL/risk attribution</a:t>
            </a:r>
          </a:p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controlled advice schema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B3A521-2A22-4AAF-99A6-9C7AA372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673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判断标准：每个能力都要能回答三件事：证据在哪里、谁确认过、失败后如何回滚。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F476F-F51F-481E-B772-3823B324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0A1B9"/>
                </a:solidFill>
              </a:defRPr>
            </a:pPr>
            <a:r>
              <a:rPr sz="975" b="0">
                <a:solidFill>
                  <a:srgbClr val="90A1B9"/>
                </a:solidFill>
              </a:rPr>
              <a:t>Trading Review Wiki | 功能全景与演进路线 | 2026-06-20</a:t>
            </a:r>
          </a:p>
        </p:txBody>
      </p:sp>
    </p:spTree>
    <p:extLst>
      <p:ext uri="{BB962C8B-B14F-4D97-AF65-F5344CB8AC3E}">
        <p14:creationId xmlns:p14="http://schemas.microsoft.com/office/powerpoint/2010/main" val="1189411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2026-06-20T14:50:06.3720000Z</dcterms:created>
  <dcterms:modified xsi:type="dcterms:W3CDTF">2026-06-20T14:50:06.3720000Z</dcterms:modified>
</coreProperties>
</file>