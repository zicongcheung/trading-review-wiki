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a94e05e6e29b4443" /><Relationship Type="http://schemas.openxmlformats.org/officeDocument/2006/relationships/extended-properties" Target="/docProps/app.xml" Id="Rae4991eccd1b4edf" /><Relationship Type="http://schemas.openxmlformats.org/officeDocument/2006/relationships/officeDocument" Target="/ppt/presentation.xml" Id="R8fc28cd394404322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a20b57e76e224d34"/>
  </p:sldMasterIdLst>
  <p:notesMasterIdLst>
    <p:notesMasterId xmlns:r="http://schemas.openxmlformats.org/officeDocument/2006/relationships" r:id="R10060a1c909c42d5"/>
  </p:notesMasterIdLst>
  <p:sldIdLst>
    <p:sldId xmlns:r="http://schemas.openxmlformats.org/officeDocument/2006/relationships" id="256" r:id="Rfa2082ca422c4c3e"/>
    <p:sldId xmlns:r="http://schemas.openxmlformats.org/officeDocument/2006/relationships" id="257" r:id="Re7a16a517c4444a8"/>
    <p:sldId xmlns:r="http://schemas.openxmlformats.org/officeDocument/2006/relationships" id="258" r:id="R66a4d61d5b594ee6"/>
    <p:sldId xmlns:r="http://schemas.openxmlformats.org/officeDocument/2006/relationships" id="259" r:id="Rde3403d145dd42a1"/>
    <p:sldId xmlns:r="http://schemas.openxmlformats.org/officeDocument/2006/relationships" id="260" r:id="Raf2ac8d730714bb9"/>
    <p:sldId xmlns:r="http://schemas.openxmlformats.org/officeDocument/2006/relationships" id="261" r:id="R8899e958804641eb"/>
    <p:sldId xmlns:r="http://schemas.openxmlformats.org/officeDocument/2006/relationships" id="262" r:id="Rf2a99caab7d0477c"/>
    <p:sldId xmlns:r="http://schemas.openxmlformats.org/officeDocument/2006/relationships" id="263" r:id="Rf55db16675164592"/>
    <p:sldId xmlns:r="http://schemas.openxmlformats.org/officeDocument/2006/relationships" id="264" r:id="R32f2855ab41a4240"/>
    <p:sldId xmlns:r="http://schemas.openxmlformats.org/officeDocument/2006/relationships" id="265" r:id="R78b4327962484e27"/>
    <p:sldId xmlns:r="http://schemas.openxmlformats.org/officeDocument/2006/relationships" id="266" r:id="R8b1e32067bb14948"/>
    <p:sldId xmlns:r="http://schemas.openxmlformats.org/officeDocument/2006/relationships" id="267" r:id="Rfde505d95e30449a"/>
    <p:sldId xmlns:r="http://schemas.openxmlformats.org/officeDocument/2006/relationships" id="268" r:id="R84a75a0c83cc44a4"/>
    <p:sldId xmlns:r="http://schemas.openxmlformats.org/officeDocument/2006/relationships" id="269" r:id="Raa674ddd28384323"/>
    <p:sldId xmlns:r="http://schemas.openxmlformats.org/officeDocument/2006/relationships" id="270" r:id="R8b6f9bf4959343de"/>
    <p:sldId xmlns:r="http://schemas.openxmlformats.org/officeDocument/2006/relationships" id="271" r:id="R4d275cd06d134f45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d5715913be0844ee" /><Relationship Type="http://schemas.openxmlformats.org/officeDocument/2006/relationships/slideMaster" Target="/ppt/slideMasters/slideMaster1.xml" Id="Ra20b57e76e224d34" /><Relationship Type="http://schemas.openxmlformats.org/officeDocument/2006/relationships/notesMaster" Target="/ppt/notesMasters/notesMaster1.xml" Id="R10060a1c909c42d5" /><Relationship Type="http://schemas.openxmlformats.org/officeDocument/2006/relationships/presProps" Target="/ppt/presProps.xml" Id="R2eed1141cdc64c39" /><Relationship Type="http://schemas.openxmlformats.org/officeDocument/2006/relationships/tableStyles" Target="/ppt/tableStyles.xml" Id="Rbfe8ca4aecfa4e12" /><Relationship Type="http://schemas.openxmlformats.org/officeDocument/2006/relationships/slide" Target="/ppt/slides/slide1.xml" Id="Rfa2082ca422c4c3e" /><Relationship Type="http://schemas.openxmlformats.org/officeDocument/2006/relationships/slide" Target="/ppt/slides/slide2.xml" Id="Re7a16a517c4444a8" /><Relationship Type="http://schemas.openxmlformats.org/officeDocument/2006/relationships/slide" Target="/ppt/slides/slide3.xml" Id="R66a4d61d5b594ee6" /><Relationship Type="http://schemas.openxmlformats.org/officeDocument/2006/relationships/slide" Target="/ppt/slides/slide4.xml" Id="Rde3403d145dd42a1" /><Relationship Type="http://schemas.openxmlformats.org/officeDocument/2006/relationships/slide" Target="/ppt/slides/slide5.xml" Id="Raf2ac8d730714bb9" /><Relationship Type="http://schemas.openxmlformats.org/officeDocument/2006/relationships/slide" Target="/ppt/slides/slide6.xml" Id="R8899e958804641eb" /><Relationship Type="http://schemas.openxmlformats.org/officeDocument/2006/relationships/slide" Target="/ppt/slides/slide7.xml" Id="Rf2a99caab7d0477c" /><Relationship Type="http://schemas.openxmlformats.org/officeDocument/2006/relationships/slide" Target="/ppt/slides/slide8.xml" Id="Rf55db16675164592" /><Relationship Type="http://schemas.openxmlformats.org/officeDocument/2006/relationships/slide" Target="/ppt/slides/slide9.xml" Id="R32f2855ab41a4240" /><Relationship Type="http://schemas.openxmlformats.org/officeDocument/2006/relationships/slide" Target="/ppt/slides/slide10.xml" Id="R78b4327962484e27" /><Relationship Type="http://schemas.openxmlformats.org/officeDocument/2006/relationships/slide" Target="/ppt/slides/slide11.xml" Id="R8b1e32067bb14948" /><Relationship Type="http://schemas.openxmlformats.org/officeDocument/2006/relationships/slide" Target="/ppt/slides/slide12.xml" Id="Rfde505d95e30449a" /><Relationship Type="http://schemas.openxmlformats.org/officeDocument/2006/relationships/slide" Target="/ppt/slides/slide13.xml" Id="R84a75a0c83cc44a4" /><Relationship Type="http://schemas.openxmlformats.org/officeDocument/2006/relationships/slide" Target="/ppt/slides/slide14.xml" Id="Raa674ddd28384323" /><Relationship Type="http://schemas.openxmlformats.org/officeDocument/2006/relationships/slide" Target="/ppt/slides/slide15.xml" Id="R8b6f9bf4959343de" /><Relationship Type="http://schemas.openxmlformats.org/officeDocument/2006/relationships/slide" Target="/ppt/slides/slide16.xml" Id="R4d275cd06d134f45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e3ee0d2f9b55481e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6fbcb6619e78469b" /><Relationship Type="http://schemas.openxmlformats.org/officeDocument/2006/relationships/notesMaster" Target="/ppt/notesMasters/notesMaster1.xml" Id="Rfb534cedc4d045d3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027743607e034c66" /><Relationship Type="http://schemas.openxmlformats.org/officeDocument/2006/relationships/notesMaster" Target="/ppt/notesMasters/notesMaster1.xml" Id="Rf5d6ef4e7a774e2d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bab14a0c13494905" /><Relationship Type="http://schemas.openxmlformats.org/officeDocument/2006/relationships/notesMaster" Target="/ppt/notesMasters/notesMaster1.xml" Id="R9c0a6881db034f40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fd949eeeb51f4d89" /><Relationship Type="http://schemas.openxmlformats.org/officeDocument/2006/relationships/notesMaster" Target="/ppt/notesMasters/notesMaster1.xml" Id="R68f968d637e54111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e28fe596a36843b4" /><Relationship Type="http://schemas.openxmlformats.org/officeDocument/2006/relationships/notesMaster" Target="/ppt/notesMasters/notesMaster1.xml" Id="Rc566d46ae49d4ea4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d44e01f148c34564" /><Relationship Type="http://schemas.openxmlformats.org/officeDocument/2006/relationships/notesMaster" Target="/ppt/notesMasters/notesMaster1.xml" Id="Re02e7c71c3824e58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799bd7247e504780" /><Relationship Type="http://schemas.openxmlformats.org/officeDocument/2006/relationships/notesMaster" Target="/ppt/notesMasters/notesMaster1.xml" Id="R84869b60af0743d3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75ad2644129b40ca" /><Relationship Type="http://schemas.openxmlformats.org/officeDocument/2006/relationships/notesMaster" Target="/ppt/notesMasters/notesMaster1.xml" Id="Rb8f0540815064adb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165c815675f34c69" /><Relationship Type="http://schemas.openxmlformats.org/officeDocument/2006/relationships/notesMaster" Target="/ppt/notesMasters/notesMaster1.xml" Id="R23eeded61bb34a63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3bb2d95ec57e44e8" /><Relationship Type="http://schemas.openxmlformats.org/officeDocument/2006/relationships/notesMaster" Target="/ppt/notesMasters/notesMaster1.xml" Id="R4bd1b25b8e884821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79f38609157f4b37" /><Relationship Type="http://schemas.openxmlformats.org/officeDocument/2006/relationships/notesMaster" Target="/ppt/notesMasters/notesMaster1.xml" Id="Rb56a87babb1747f4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b82de5479d684b66" /><Relationship Type="http://schemas.openxmlformats.org/officeDocument/2006/relationships/notesMaster" Target="/ppt/notesMasters/notesMaster1.xml" Id="R6719233601c842a7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0be61cb28f1e4d31" /><Relationship Type="http://schemas.openxmlformats.org/officeDocument/2006/relationships/notesMaster" Target="/ppt/notesMasters/notesMaster1.xml" Id="R1fd390eba0f9468e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f24b227049e04990" /><Relationship Type="http://schemas.openxmlformats.org/officeDocument/2006/relationships/notesMaster" Target="/ppt/notesMasters/notesMaster1.xml" Id="Rd069b3ffadc047b0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f6606d57bf3c4aeb" /><Relationship Type="http://schemas.openxmlformats.org/officeDocument/2006/relationships/notesMaster" Target="/ppt/notesMasters/notesMaster1.xml" Id="R7cd678179c2943d9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7cdc2d7c9e544802" /><Relationship Type="http://schemas.openxmlformats.org/officeDocument/2006/relationships/notesMaster" Target="/ppt/notesMasters/notesMaster1.xml" Id="R2dc860ee388e4d6f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271fec15a9e4d12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9253643dd9a0449b" /><Relationship Type="http://schemas.openxmlformats.org/officeDocument/2006/relationships/slideLayout" Target="/ppt/slideLayouts/slideLayout1.xml" Id="R3147f1dd9e1f4bb3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3147f1dd9e1f4bb3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37f569f531444e5" /><Relationship Type="http://schemas.openxmlformats.org/officeDocument/2006/relationships/notesSlide" Target="/ppt/notesSlides/notesSlide1.xml" Id="R504e7967c2124a93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3ab031cacfc4a1c" /><Relationship Type="http://schemas.openxmlformats.org/officeDocument/2006/relationships/notesSlide" Target="/ppt/notesSlides/notesSlide2.xml" Id="Rcc5d316e77bf4e22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fc64d0f550448fe" /><Relationship Type="http://schemas.openxmlformats.org/officeDocument/2006/relationships/notesSlide" Target="/ppt/notesSlides/notesSlide3.xml" Id="R2e8092643e514060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20c536b630e4e2a" /><Relationship Type="http://schemas.openxmlformats.org/officeDocument/2006/relationships/notesSlide" Target="/ppt/notesSlides/notesSlide4.xml" Id="Ra8dcd3ce391d4294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e9fdc6b18dd47c1" /><Relationship Type="http://schemas.openxmlformats.org/officeDocument/2006/relationships/notesSlide" Target="/ppt/notesSlides/notesSlide5.xml" Id="Rd7d02625536c478b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1283264434f4ebd" /><Relationship Type="http://schemas.openxmlformats.org/officeDocument/2006/relationships/notesSlide" Target="/ppt/notesSlides/notesSlide6.xml" Id="R2dfb5a6c5fd84dd0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36b449b9c8043f9" /><Relationship Type="http://schemas.openxmlformats.org/officeDocument/2006/relationships/notesSlide" Target="/ppt/notesSlides/notesSlide7.xml" Id="R15672eb517eb48c2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214369d735847c1" /><Relationship Type="http://schemas.openxmlformats.org/officeDocument/2006/relationships/notesSlide" Target="/ppt/notesSlides/notesSlide8.xml" Id="Rc7f3dd57144b4031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e522c203755453f" /><Relationship Type="http://schemas.openxmlformats.org/officeDocument/2006/relationships/notesSlide" Target="/ppt/notesSlides/notesSlide9.xml" Id="R46557395770a414a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d9dcd8f3fe6499a" /><Relationship Type="http://schemas.openxmlformats.org/officeDocument/2006/relationships/notesSlide" Target="/ppt/notesSlides/notesSlide10.xml" Id="Rded9f8ef9381462a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8235b7a62b84619" /><Relationship Type="http://schemas.openxmlformats.org/officeDocument/2006/relationships/notesSlide" Target="/ppt/notesSlides/notesSlide11.xml" Id="R3a6f66ea52d24328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5327191c37f499a" /><Relationship Type="http://schemas.openxmlformats.org/officeDocument/2006/relationships/notesSlide" Target="/ppt/notesSlides/notesSlide12.xml" Id="R84e91b9270624c0c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c6f655821aa4d81" /><Relationship Type="http://schemas.openxmlformats.org/officeDocument/2006/relationships/notesSlide" Target="/ppt/notesSlides/notesSlide13.xml" Id="Rf036daee5b904c27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e6786cec6e545e1" /><Relationship Type="http://schemas.openxmlformats.org/officeDocument/2006/relationships/notesSlide" Target="/ppt/notesSlides/notesSlide14.xml" Id="R8c4d7c7bb59a424b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149300a2cd04e25" /><Relationship Type="http://schemas.openxmlformats.org/officeDocument/2006/relationships/notesSlide" Target="/ppt/notesSlides/notesSlide15.xml" Id="R2fa61b690ffc464d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f30cee4b8b44222" /><Relationship Type="http://schemas.openxmlformats.org/officeDocument/2006/relationships/notesSlide" Target="/ppt/notesSlides/notesSlide16.xml" Id="R082147dac602446b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7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6A015B5-5662-4DB4-8B16-142AFF847A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A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73F45DB-E8FC-4A63-B407-C2BF768EB7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"/>
            <a:ext cx="2190750" cy="3619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7F6F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FE7FDF4-1E75-4725-9696-92B23B140B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695325"/>
            <a:ext cx="1809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0F766E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0F766E"/>
                </a:solidFill>
                <a:latin typeface="PingFang SC"/>
                <a:ea typeface="PingFang SC"/>
                <a:cs typeface="PingFang SC"/>
              </a:rPr>
              <a:t>BEGINNER WORKFLOW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CCE11A8-D161-49E9-881D-A693F547E3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28750"/>
            <a:ext cx="638175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4050" b="1">
                <a:solidFill>
                  <a:srgbClr val="102A2A"/>
                </a:solidFill>
                <a:latin typeface="PingFang SC"/>
                <a:ea typeface="PingFang SC"/>
                <a:cs typeface="PingFang SC"/>
              </a:defRPr>
            </a:pPr>
            <a:r>
              <a:rPr sz="4050" b="1">
                <a:solidFill>
                  <a:srgbClr val="102A2A"/>
                </a:solidFill>
                <a:latin typeface="PingFang SC"/>
                <a:ea typeface="PingFang SC"/>
                <a:cs typeface="PingFang SC"/>
              </a:rPr>
              <a:t>Research Cockpit</a:t>
            </a:r>
          </a:p>
          <a:p xmlns:a="http://schemas.openxmlformats.org/drawingml/2006/main">
            <a:pPr algn="l">
              <a:defRPr sz="4050" b="1">
                <a:solidFill>
                  <a:srgbClr val="102A2A"/>
                </a:solidFill>
                <a:latin typeface="PingFang SC"/>
                <a:ea typeface="PingFang SC"/>
                <a:cs typeface="PingFang SC"/>
              </a:defRPr>
            </a:pPr>
            <a:r>
              <a:rPr sz="4050" b="1">
                <a:solidFill>
                  <a:srgbClr val="102A2A"/>
                </a:solidFill>
                <a:latin typeface="PingFang SC"/>
                <a:ea typeface="PingFang SC"/>
                <a:cs typeface="PingFang SC"/>
              </a:rPr>
              <a:t>新手操作流程图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8CA2F2B-DA21-402F-8CF0-CC5E169A4F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895600"/>
            <a:ext cx="68580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334155"/>
                </a:solidFill>
                <a:latin typeface="PingFang SC"/>
                <a:ea typeface="PingFang SC"/>
                <a:cs typeface="PingFang SC"/>
              </a:defRPr>
            </a:pPr>
            <a:r>
              <a:rPr sz="1725" b="0">
                <a:solidFill>
                  <a:srgbClr val="334155"/>
                </a:solidFill>
                <a:latin typeface="PingFang SC"/>
                <a:ea typeface="PingFang SC"/>
                <a:cs typeface="PingFang SC"/>
              </a:rPr>
              <a:t>从微信舆情到假设状态，再到 Ask 深挖和人工确认。</a:t>
            </a:r>
          </a:p>
          <a:p xmlns:a="http://schemas.openxmlformats.org/drawingml/2006/main">
            <a:pPr algn="l">
              <a:defRPr sz="1725" b="0">
                <a:solidFill>
                  <a:srgbClr val="334155"/>
                </a:solidFill>
                <a:latin typeface="PingFang SC"/>
                <a:ea typeface="PingFang SC"/>
                <a:cs typeface="PingFang SC"/>
              </a:defRPr>
            </a:pPr>
            <a:r>
              <a:rPr sz="1725" b="0">
                <a:solidFill>
                  <a:srgbClr val="334155"/>
                </a:solidFill>
                <a:latin typeface="PingFang SC"/>
                <a:ea typeface="PingFang SC"/>
                <a:cs typeface="PingFang SC"/>
              </a:rPr>
              <a:t>目标：每天快速回答“今天有什么新信号，会不会改变我的假设？”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5759767-79FF-4527-8709-0EB678E2D6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1123950"/>
            <a:ext cx="3143250" cy="10287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2E1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4DB9211-8BA2-435B-8716-E9EB691A0D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1123950"/>
            <a:ext cx="5715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4ED8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901B052-7E20-4BEA-86A8-7C609BB65C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1295400"/>
            <a:ext cx="2819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02A2A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>
                <a:solidFill>
                  <a:srgbClr val="102A2A"/>
                </a:solidFill>
                <a:latin typeface="PingFang SC"/>
                <a:ea typeface="PingFang SC"/>
                <a:cs typeface="PingFang SC"/>
              </a:rPr>
              <a:t>适合谁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2A05666-E96C-4F6A-A4E9-EC2DE8C1E8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1657350"/>
            <a:ext cx="28194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334155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334155"/>
                </a:solidFill>
                <a:latin typeface="PingFang SC"/>
                <a:ea typeface="PingFang SC"/>
                <a:cs typeface="PingFang SC"/>
              </a:rPr>
              <a:t>基金经理、研究员、交易型投研负责人。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A85EA30-2D7C-4FF4-80F4-60D84E57B8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2400300"/>
            <a:ext cx="3143250" cy="10287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2E1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2CF51E3-0F54-470C-AAED-C9455A6286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2400300"/>
            <a:ext cx="5715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9525">
            <a:solidFill>
              <a:srgbClr val="F59E0B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FBAFA8D-9FDC-451E-AFFF-A0EB6E3CDB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571750"/>
            <a:ext cx="2819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02A2A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>
                <a:solidFill>
                  <a:srgbClr val="102A2A"/>
                </a:solidFill>
                <a:latin typeface="PingFang SC"/>
                <a:ea typeface="PingFang SC"/>
                <a:cs typeface="PingFang SC"/>
              </a:rPr>
              <a:t>不做什么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5E25E81-0F46-4C2F-9776-17BCF8A1D3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933700"/>
            <a:ext cx="28194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334155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334155"/>
                </a:solidFill>
                <a:latin typeface="PingFang SC"/>
                <a:ea typeface="PingFang SC"/>
                <a:cs typeface="PingFang SC"/>
              </a:rPr>
              <a:t>不自动交易、不自动改正式 wiki、不把舆情直接当结论。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8A899DE-9E6C-4504-87CB-281A0F033B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3676650"/>
            <a:ext cx="3143250" cy="10287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2E1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4DE40C4-09DE-409A-9550-098935E89D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3676650"/>
            <a:ext cx="5715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A34A"/>
          </a:solidFill>
          <a:ln xmlns:a="http://schemas.openxmlformats.org/drawingml/2006/main" w="9525">
            <a:solidFill>
              <a:srgbClr val="16A34A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FE033C0-0019-43D9-A13A-75B28CA378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3848100"/>
            <a:ext cx="2819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02A2A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>
                <a:solidFill>
                  <a:srgbClr val="102A2A"/>
                </a:solidFill>
                <a:latin typeface="PingFang SC"/>
                <a:ea typeface="PingFang SC"/>
                <a:cs typeface="PingFang SC"/>
              </a:rPr>
              <a:t>交付物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2AA1A9B-A1FA-431A-BC85-8491667955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4210050"/>
            <a:ext cx="28194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334155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334155"/>
                </a:solidFill>
                <a:latin typeface="PingFang SC"/>
                <a:ea typeface="PingFang SC"/>
                <a:cs typeface="PingFang SC"/>
              </a:rPr>
              <a:t>PPTX 可编辑版本 + PDF 阅读版本。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6BC0576-DED0-48B7-891D-D9BAABE752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819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789090"/>
                </a:solidFill>
                <a:latin typeface="PingFang SC"/>
                <a:ea typeface="PingFang SC"/>
                <a:cs typeface="PingFang SC"/>
              </a:defRPr>
            </a:pPr>
            <a:r>
              <a:rPr sz="825" b="0">
                <a:solidFill>
                  <a:srgbClr val="789090"/>
                </a:solidFill>
                <a:latin typeface="PingFang SC"/>
                <a:ea typeface="PingFang SC"/>
                <a:cs typeface="PingFang SC"/>
              </a:rPr>
              <a:t>Trading Review Wiki / Research Cockpit Lite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CA84E14-E5F1-4074-8AA6-037D99E803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62700"/>
            <a:ext cx="533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789090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789090"/>
                </a:solidFill>
                <a:latin typeface="PingFang SC"/>
                <a:ea typeface="PingFang SC"/>
                <a:cs typeface="PingFang SC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1270142387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7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8D2B5FB-BCF4-469F-B280-24409ECAD2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8150"/>
            <a:ext cx="8572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02A2A"/>
                </a:solidFill>
                <a:latin typeface="PingFang SC"/>
                <a:ea typeface="PingFang SC"/>
                <a:cs typeface="PingFang SC"/>
              </a:defRPr>
            </a:pPr>
            <a:r>
              <a:rPr sz="2700" b="1">
                <a:solidFill>
                  <a:srgbClr val="102A2A"/>
                </a:solidFill>
                <a:latin typeface="PingFang SC"/>
                <a:ea typeface="PingFang SC"/>
                <a:cs typeface="PingFang SC"/>
              </a:rPr>
              <a:t>先记住一个心智模型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F9F3434-4DF6-4E1B-925E-0B5926EF4E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933450"/>
            <a:ext cx="933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57477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657477"/>
                </a:solidFill>
                <a:latin typeface="PingFang SC"/>
                <a:ea typeface="PingFang SC"/>
                <a:cs typeface="PingFang SC"/>
              </a:rPr>
              <a:t>它不是“全自动验证机器”，而是“新信息触发假设变化”的每日工作台。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1CAB862-85F9-4E7A-8F1C-AC146C3E88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819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789090"/>
                </a:solidFill>
                <a:latin typeface="PingFang SC"/>
                <a:ea typeface="PingFang SC"/>
                <a:cs typeface="PingFang SC"/>
              </a:defRPr>
            </a:pPr>
            <a:r>
              <a:rPr sz="825" b="0">
                <a:solidFill>
                  <a:srgbClr val="789090"/>
                </a:solidFill>
                <a:latin typeface="PingFang SC"/>
                <a:ea typeface="PingFang SC"/>
                <a:cs typeface="PingFang SC"/>
              </a:rPr>
              <a:t>Research Cockpit Lite V2 新手操作教学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763414E-7663-4AA0-B836-60D2734EA9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62700"/>
            <a:ext cx="533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789090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789090"/>
                </a:solidFill>
                <a:latin typeface="PingFang SC"/>
                <a:ea typeface="PingFang SC"/>
                <a:cs typeface="PingFang SC"/>
              </a:rPr>
              <a:t>02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0837274-B20F-497E-9442-3F91E9FA6A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752600"/>
            <a:ext cx="2034540" cy="1162050"/>
          </a:xfrm>
          <a:prstGeom xmlns:a="http://schemas.openxmlformats.org/drawingml/2006/main" prst="roundRect">
            <a:avLst>
              <a:gd name="adj" fmla="val 6557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9525">
            <a:solidFill>
              <a:srgbClr val="D7E2E1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B9E8405-2A08-47C6-BA0E-819BB29CA1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1885950"/>
            <a:ext cx="180594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02A2A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102A2A"/>
                </a:solidFill>
                <a:latin typeface="PingFang SC"/>
                <a:ea typeface="PingFang SC"/>
                <a:cs typeface="PingFang SC"/>
              </a:rPr>
              <a:t>信息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2F40121-F34C-446A-8EC2-F24F3D4C9F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171700"/>
            <a:ext cx="180594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334155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334155"/>
                </a:solidFill>
                <a:latin typeface="PingFang SC"/>
                <a:ea typeface="PingFang SC"/>
                <a:cs typeface="PingFang SC"/>
              </a:rPr>
              <a:t>微信、研报、公告、复盘新增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BD90E09-DC03-453C-A0D4-62AB5EA586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4640" y="2314575"/>
            <a:ext cx="762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4ED8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DDBF9C6-6C30-4677-9642-721E6EE3CB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29890" y="1752600"/>
            <a:ext cx="2034540" cy="1162050"/>
          </a:xfrm>
          <a:prstGeom xmlns:a="http://schemas.openxmlformats.org/drawingml/2006/main" prst="roundRect">
            <a:avLst>
              <a:gd name="adj" fmla="val 6557"/>
            </a:avLst>
          </a:prstGeom>
          <a:solidFill xmlns:a="http://schemas.openxmlformats.org/drawingml/2006/main">
            <a:srgbClr val="E7F6F3"/>
          </a:solidFill>
          <a:ln xmlns:a="http://schemas.openxmlformats.org/drawingml/2006/main" w="9525">
            <a:solidFill>
              <a:srgbClr val="D7E2E1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07F07D9-F698-4CB1-A7D0-CBA842E653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4190" y="1885950"/>
            <a:ext cx="180594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02A2A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102A2A"/>
                </a:solidFill>
                <a:latin typeface="PingFang SC"/>
                <a:ea typeface="PingFang SC"/>
                <a:cs typeface="PingFang SC"/>
              </a:rPr>
              <a:t>假设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ADAFD76-4913-4315-8E93-FE82B6BCFA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4190" y="2171700"/>
            <a:ext cx="180594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334155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334155"/>
                </a:solidFill>
                <a:latin typeface="PingFang SC"/>
                <a:ea typeface="PingFang SC"/>
                <a:cs typeface="PingFang SC"/>
              </a:rPr>
              <a:t>可跟踪、可复盘、可状态化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8C96A6F-BE83-4FDE-B8D1-97E456B66F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3480" y="2314575"/>
            <a:ext cx="762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4ED8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9A7B0BE-2975-4AE7-8BF2-F8E8688362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78730" y="1752600"/>
            <a:ext cx="2034540" cy="1162050"/>
          </a:xfrm>
          <a:prstGeom xmlns:a="http://schemas.openxmlformats.org/drawingml/2006/main" prst="roundRect">
            <a:avLst>
              <a:gd name="adj" fmla="val 6557"/>
            </a:avLst>
          </a:prstGeom>
          <a:solidFill xmlns:a="http://schemas.openxmlformats.org/drawingml/2006/main">
            <a:srgbClr val="FFF7E6"/>
          </a:solidFill>
          <a:ln xmlns:a="http://schemas.openxmlformats.org/drawingml/2006/main" w="9525">
            <a:solidFill>
              <a:srgbClr val="D7E2E1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75C3BBD-20CB-4D8B-A824-F4C3126E72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3030" y="1885950"/>
            <a:ext cx="180594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02A2A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102A2A"/>
                </a:solidFill>
                <a:latin typeface="PingFang SC"/>
                <a:ea typeface="PingFang SC"/>
                <a:cs typeface="PingFang SC"/>
              </a:rPr>
              <a:t>判断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A5E2E3B-8D00-470C-B323-F4A611BDBD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3030" y="2171700"/>
            <a:ext cx="180594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334155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334155"/>
                </a:solidFill>
                <a:latin typeface="PingFang SC"/>
                <a:ea typeface="PingFang SC"/>
                <a:cs typeface="PingFang SC"/>
              </a:rPr>
              <a:t>新催化、二次确认、反证、priced-in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9DBE67F-0917-489E-8C2A-B8B241EDAA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2320" y="2314575"/>
            <a:ext cx="762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4ED8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EA0B2EF-F377-4DF7-9E88-1601B1377E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27570" y="1752600"/>
            <a:ext cx="2034540" cy="1162050"/>
          </a:xfrm>
          <a:prstGeom xmlns:a="http://schemas.openxmlformats.org/drawingml/2006/main" prst="roundRect">
            <a:avLst>
              <a:gd name="adj" fmla="val 6557"/>
            </a:avLst>
          </a:prstGeom>
          <a:solidFill xmlns:a="http://schemas.openxmlformats.org/drawingml/2006/main">
            <a:srgbClr val="EAF8F0"/>
          </a:solidFill>
          <a:ln xmlns:a="http://schemas.openxmlformats.org/drawingml/2006/main" w="9525">
            <a:solidFill>
              <a:srgbClr val="D7E2E1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30981AD-070D-44B3-A7E7-DFD29843BE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41870" y="1885950"/>
            <a:ext cx="180594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02A2A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102A2A"/>
                </a:solidFill>
                <a:latin typeface="PingFang SC"/>
                <a:ea typeface="PingFang SC"/>
                <a:cs typeface="PingFang SC"/>
              </a:rPr>
              <a:t>动作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1502CEE-9210-46AF-B356-DB8E437D4C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41870" y="2171700"/>
            <a:ext cx="180594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334155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334155"/>
                </a:solidFill>
                <a:latin typeface="PingFang SC"/>
                <a:ea typeface="PingFang SC"/>
                <a:cs typeface="PingFang SC"/>
              </a:rPr>
              <a:t>确认 / Ask 深挖 / 忽略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0F898F8-1B7F-4D8E-8102-02E62D192B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1160" y="2314575"/>
            <a:ext cx="762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4ED8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C54BFF5-4EB4-4DBE-829A-18594C55C7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6410" y="1752600"/>
            <a:ext cx="2034540" cy="1162050"/>
          </a:xfrm>
          <a:prstGeom xmlns:a="http://schemas.openxmlformats.org/drawingml/2006/main" prst="roundRect">
            <a:avLst>
              <a:gd name="adj" fmla="val 6557"/>
            </a:avLst>
          </a:prstGeom>
          <a:solidFill xmlns:a="http://schemas.openxmlformats.org/drawingml/2006/main">
            <a:srgbClr val="F3E8FF"/>
          </a:solidFill>
          <a:ln xmlns:a="http://schemas.openxmlformats.org/drawingml/2006/main" w="9525">
            <a:solidFill>
              <a:srgbClr val="D7E2E1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8DC53A8-C5A1-48C4-AF9C-26683B8920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90710" y="1885950"/>
            <a:ext cx="180594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02A2A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102A2A"/>
                </a:solidFill>
                <a:latin typeface="PingFang SC"/>
                <a:ea typeface="PingFang SC"/>
                <a:cs typeface="PingFang SC"/>
              </a:rPr>
              <a:t>记忆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E022EF3-57BB-4D30-8371-49FBF765B6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90710" y="2171700"/>
            <a:ext cx="180594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334155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334155"/>
                </a:solidFill>
                <a:latin typeface="PingFang SC"/>
                <a:ea typeface="PingFang SC"/>
                <a:cs typeface="PingFang SC"/>
              </a:rPr>
              <a:t>事件、状态、来源沉淀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8EC85EC-ACA9-43C4-8A85-16BFFA3A94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448050"/>
            <a:ext cx="3143250" cy="1390650"/>
          </a:xfrm>
          <a:prstGeom xmlns:a="http://schemas.openxmlformats.org/drawingml/2006/main" prst="roundRect">
            <a:avLst>
              <a:gd name="adj" fmla="val 821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2E1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E63F033-B9E2-4300-A624-B0A1832CC4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448050"/>
            <a:ext cx="57150" cy="1390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02B10F0-345F-45E1-907E-66431899A7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619500"/>
            <a:ext cx="2819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02A2A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>
                <a:solidFill>
                  <a:srgbClr val="102A2A"/>
                </a:solidFill>
                <a:latin typeface="PingFang SC"/>
                <a:ea typeface="PingFang SC"/>
                <a:cs typeface="PingFang SC"/>
              </a:rPr>
              <a:t>基金经理每天真正要看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DBAAA2E-AD37-4644-913F-5CBC28426F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981450"/>
            <a:ext cx="28194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334155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334155"/>
                </a:solidFill>
                <a:latin typeface="PingFang SC"/>
                <a:ea typeface="PingFang SC"/>
                <a:cs typeface="PingFang SC"/>
              </a:rPr>
              <a:t>不是日志，不是长缺口清单，而是：今天哪些假设被新信息推动了，哪些只是噪声。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48F6C7E-0C84-406D-BB1F-0CBCE2C8FA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3448050"/>
            <a:ext cx="3143250" cy="1390650"/>
          </a:xfrm>
          <a:prstGeom xmlns:a="http://schemas.openxmlformats.org/drawingml/2006/main" prst="roundRect">
            <a:avLst>
              <a:gd name="adj" fmla="val 821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2E1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409E68E-6234-4FED-AFE8-13280E8F1A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3448050"/>
            <a:ext cx="57150" cy="1390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4ED8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0027275-58B9-4377-8959-E259D84695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3619500"/>
            <a:ext cx="2819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02A2A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>
                <a:solidFill>
                  <a:srgbClr val="102A2A"/>
                </a:solidFill>
                <a:latin typeface="PingFang SC"/>
                <a:ea typeface="PingFang SC"/>
                <a:cs typeface="PingFang SC"/>
              </a:rPr>
              <a:t>AI 的角色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DE8188BA-20B2-48AC-ABAA-2CA4B3D49E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3981450"/>
            <a:ext cx="28194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334155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334155"/>
                </a:solidFill>
                <a:latin typeface="PingFang SC"/>
                <a:ea typeface="PingFang SC"/>
                <a:cs typeface="PingFang SC"/>
              </a:rPr>
              <a:t>帮你并发发现假设、路由新消息、解释信号含义、调用 Ask 做深挖。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2FA6289D-4902-4AAB-BE3F-4D369A9C18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448050"/>
            <a:ext cx="3143250" cy="1390650"/>
          </a:xfrm>
          <a:prstGeom xmlns:a="http://schemas.openxmlformats.org/drawingml/2006/main" prst="roundRect">
            <a:avLst>
              <a:gd name="adj" fmla="val 821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2E1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17FB56F5-4D0E-4925-A822-83169014FC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448050"/>
            <a:ext cx="57150" cy="1390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9525">
            <a:solidFill>
              <a:srgbClr val="F59E0B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80FC9570-B3BE-466F-91E2-0238F43519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3619500"/>
            <a:ext cx="2819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02A2A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>
                <a:solidFill>
                  <a:srgbClr val="102A2A"/>
                </a:solidFill>
                <a:latin typeface="PingFang SC"/>
                <a:ea typeface="PingFang SC"/>
                <a:cs typeface="PingFang SC"/>
              </a:rPr>
              <a:t>人的角色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50935718-2B27-43BD-8059-16ADA13E40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3981450"/>
            <a:ext cx="28194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334155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334155"/>
                </a:solidFill>
                <a:latin typeface="PingFang SC"/>
                <a:ea typeface="PingFang SC"/>
                <a:cs typeface="PingFang SC"/>
              </a:rPr>
              <a:t>决定是否确认状态、是否继续验证、是否进入交易思考。</a:t>
            </a:r>
          </a:p>
        </p:txBody>
      </p:sp>
    </p:spTree>
    <p:extLst>
      <p:ext uri="{BB962C8B-B14F-4D97-AF65-F5344CB8AC3E}">
        <p14:creationId xmlns:p14="http://schemas.microsoft.com/office/powerpoint/2010/main" val="2077139113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7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055C3B9-3A30-4B34-8E92-54C2E93C11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8150"/>
            <a:ext cx="8572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02A2A"/>
                </a:solidFill>
                <a:latin typeface="PingFang SC"/>
                <a:ea typeface="PingFang SC"/>
                <a:cs typeface="PingFang SC"/>
              </a:defRPr>
            </a:pPr>
            <a:r>
              <a:rPr sz="2700" b="1">
                <a:solidFill>
                  <a:srgbClr val="102A2A"/>
                </a:solidFill>
                <a:latin typeface="PingFang SC"/>
                <a:ea typeface="PingFang SC"/>
                <a:cs typeface="PingFang SC"/>
              </a:rPr>
              <a:t>完整闭环流程图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F0DF294-17FA-4370-AFAE-3819215967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933450"/>
            <a:ext cx="933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57477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657477"/>
                </a:solidFill>
                <a:latin typeface="PingFang SC"/>
                <a:ea typeface="PingFang SC"/>
                <a:cs typeface="PingFang SC"/>
              </a:rPr>
              <a:t>默认走轻量闭环；只有关键假设才进入补证、实验账本和自训练。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01DEDBC-A531-4246-B485-BEE12CDD96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819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789090"/>
                </a:solidFill>
                <a:latin typeface="PingFang SC"/>
                <a:ea typeface="PingFang SC"/>
                <a:cs typeface="PingFang SC"/>
              </a:defRPr>
            </a:pPr>
            <a:r>
              <a:rPr sz="825" b="0">
                <a:solidFill>
                  <a:srgbClr val="789090"/>
                </a:solidFill>
                <a:latin typeface="PingFang SC"/>
                <a:ea typeface="PingFang SC"/>
                <a:cs typeface="PingFang SC"/>
              </a:rPr>
              <a:t>Research Cockpit Lite V2 新手操作教学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5B9AAD5-6EE0-4F36-86D9-05A9433ABD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62700"/>
            <a:ext cx="533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789090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789090"/>
                </a:solidFill>
                <a:latin typeface="PingFang SC"/>
                <a:ea typeface="PingFang SC"/>
                <a:cs typeface="PingFang SC"/>
              </a:rPr>
              <a:t>03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ABC3934-B87C-43B2-B222-8714AC5655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04950"/>
            <a:ext cx="3352800" cy="1047750"/>
          </a:xfrm>
          <a:prstGeom xmlns:a="http://schemas.openxmlformats.org/drawingml/2006/main" prst="roundRect">
            <a:avLst>
              <a:gd name="adj" fmla="val 1090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2E1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D44B83F-42C1-46D0-9C88-878361427E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67640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D4ED8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5AB0409-7D0E-46AA-B4E2-6E8C6A4ADF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743075"/>
            <a:ext cx="361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3172E67-BBA8-4516-94FA-1507E1548D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1676400"/>
            <a:ext cx="2533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02A2A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>
                <a:solidFill>
                  <a:srgbClr val="102A2A"/>
                </a:solidFill>
                <a:latin typeface="PingFang SC"/>
                <a:ea typeface="PingFang SC"/>
                <a:cs typeface="PingFang SC"/>
              </a:rPr>
              <a:t>AI 并发找假设 / 手工创建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685481A-23F6-4264-82B0-A0C0395A39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2019300"/>
            <a:ext cx="25146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334155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334155"/>
                </a:solidFill>
                <a:latin typeface="PingFang SC"/>
                <a:ea typeface="PingFang SC"/>
                <a:cs typeface="PingFang SC"/>
              </a:rPr>
              <a:t>从 wiki 里并发设计问题，找可跟踪假设；或直接手写一条。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EB2326C-49CE-4AC7-9A39-B94109B472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1504950"/>
            <a:ext cx="3352800" cy="1047750"/>
          </a:xfrm>
          <a:prstGeom xmlns:a="http://schemas.openxmlformats.org/drawingml/2006/main" prst="roundRect">
            <a:avLst>
              <a:gd name="adj" fmla="val 1090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2E1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3E89EBC-4812-4B9C-92E6-3DF4CD04A9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167640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44DD80A-03F6-4FC3-A14D-DB3F178207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1743075"/>
            <a:ext cx="361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13031B9-5674-4EE3-9815-3ADB6138AB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1676400"/>
            <a:ext cx="2533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02A2A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>
                <a:solidFill>
                  <a:srgbClr val="102A2A"/>
                </a:solidFill>
                <a:latin typeface="PingFang SC"/>
                <a:ea typeface="PingFang SC"/>
                <a:cs typeface="PingFang SC"/>
              </a:rPr>
              <a:t>加入假设表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0E7F584-CD9F-4C6E-A1FF-EFEEF35937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2019300"/>
            <a:ext cx="25146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334155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334155"/>
                </a:solidFill>
                <a:latin typeface="PingFang SC"/>
                <a:ea typeface="PingFang SC"/>
                <a:cs typeface="PingFang SC"/>
              </a:rPr>
              <a:t>形成标题、主题、细分、状态、最新信号、操作按钮。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0E1A462-E273-4CE0-8B4D-1739451344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1504950"/>
            <a:ext cx="3352800" cy="1047750"/>
          </a:xfrm>
          <a:prstGeom xmlns:a="http://schemas.openxmlformats.org/drawingml/2006/main" prst="roundRect">
            <a:avLst>
              <a:gd name="adj" fmla="val 1090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2E1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001D347-11C8-416F-9172-F0D6D5416D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167640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9525">
            <a:solidFill>
              <a:srgbClr val="F59E0B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89B946B-F783-4975-A9F1-7CE1084A0B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1743075"/>
            <a:ext cx="361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52AF618-DE4F-4CF4-99AA-44218E03BF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1676400"/>
            <a:ext cx="2533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02A2A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>
                <a:solidFill>
                  <a:srgbClr val="102A2A"/>
                </a:solidFill>
                <a:latin typeface="PingFang SC"/>
                <a:ea typeface="PingFang SC"/>
                <a:cs typeface="PingFang SC"/>
              </a:rPr>
              <a:t>扫描微信新增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0D5ACCC-1EE1-4026-BEE6-D9D78EA580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2019300"/>
            <a:ext cx="25146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334155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334155"/>
                </a:solidFill>
                <a:latin typeface="PingFang SC"/>
                <a:ea typeface="PingFang SC"/>
                <a:cs typeface="PingFang SC"/>
              </a:rPr>
              <a:t>选择当天或最近聊天文档，导入新增、去重、匹配假设。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090B5C3-4684-4225-9F8F-D32D574FA1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76600"/>
            <a:ext cx="3352800" cy="1047750"/>
          </a:xfrm>
          <a:prstGeom xmlns:a="http://schemas.openxmlformats.org/drawingml/2006/main" prst="roundRect">
            <a:avLst>
              <a:gd name="adj" fmla="val 1090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2E1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DD16E18-E51D-4C5F-9F94-6BB450F36E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44805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A34A"/>
          </a:solidFill>
          <a:ln xmlns:a="http://schemas.openxmlformats.org/drawingml/2006/main" w="9525">
            <a:solidFill>
              <a:srgbClr val="16A34A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E72C0B6-733B-4920-89F2-0D53A9605B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514725"/>
            <a:ext cx="361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4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31D0C78-FA54-414D-9BC9-22DD01A3DD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3448050"/>
            <a:ext cx="2533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02A2A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>
                <a:solidFill>
                  <a:srgbClr val="102A2A"/>
                </a:solidFill>
                <a:latin typeface="PingFang SC"/>
                <a:ea typeface="PingFang SC"/>
                <a:cs typeface="PingFang SC"/>
              </a:rPr>
              <a:t>待处理卡片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E02ABF0-BA4B-4940-9EB8-33A075A08D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3790950"/>
            <a:ext cx="25146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334155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334155"/>
                </a:solidFill>
                <a:latin typeface="PingFang SC"/>
                <a:ea typeface="PingFang SC"/>
                <a:cs typeface="PingFang SC"/>
              </a:rPr>
              <a:t>每张卡回答：影响哪条假设、建议状态、为什么、下一步。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CD856BC-4ACD-4087-B2AF-935487606E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3276600"/>
            <a:ext cx="3352800" cy="1047750"/>
          </a:xfrm>
          <a:prstGeom xmlns:a="http://schemas.openxmlformats.org/drawingml/2006/main" prst="roundRect">
            <a:avLst>
              <a:gd name="adj" fmla="val 1090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2E1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795660D-9C66-4696-B1EA-B77AAB649C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344805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C3AED"/>
          </a:solidFill>
          <a:ln xmlns:a="http://schemas.openxmlformats.org/drawingml/2006/main" w="9525">
            <a:solidFill>
              <a:srgbClr val="7C3AED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C086C5E-F04C-43D4-9045-7A3B0772C0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3514725"/>
            <a:ext cx="361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5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23A1F9C-25BC-43B2-A624-1D5B6D288A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3448050"/>
            <a:ext cx="2533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02A2A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>
                <a:solidFill>
                  <a:srgbClr val="102A2A"/>
                </a:solidFill>
                <a:latin typeface="PingFang SC"/>
                <a:ea typeface="PingFang SC"/>
                <a:cs typeface="PingFang SC"/>
              </a:rPr>
              <a:t>Ask 深挖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3B106D6-F7FE-47C0-A45B-75637E3DAF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3790950"/>
            <a:ext cx="25146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334155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334155"/>
                </a:solidFill>
                <a:latin typeface="PingFang SC"/>
                <a:ea typeface="PingFang SC"/>
                <a:cs typeface="PingFang SC"/>
              </a:rPr>
              <a:t>调用 ask --agentic 输出关联股票、受益排序、六段回答和来源。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6ADB784-227B-40DA-910E-73F87B8E67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276600"/>
            <a:ext cx="3352800" cy="1047750"/>
          </a:xfrm>
          <a:prstGeom xmlns:a="http://schemas.openxmlformats.org/drawingml/2006/main" prst="roundRect">
            <a:avLst>
              <a:gd name="adj" fmla="val 1090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2E1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42BC8A44-9D56-4387-B1DD-F36BA4B0B3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344805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C2626"/>
          </a:solidFill>
          <a:ln xmlns:a="http://schemas.openxmlformats.org/drawingml/2006/main" w="9525">
            <a:solidFill>
              <a:srgbClr val="DC2626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0A8ECA04-9672-4FB8-BA35-B32C3AAEB7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3514725"/>
            <a:ext cx="361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6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AB3A4BFF-D260-4C7C-BE04-1A1FCF386F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3448050"/>
            <a:ext cx="2533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02A2A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>
                <a:solidFill>
                  <a:srgbClr val="102A2A"/>
                </a:solidFill>
                <a:latin typeface="PingFang SC"/>
                <a:ea typeface="PingFang SC"/>
                <a:cs typeface="PingFang SC"/>
              </a:rPr>
              <a:t>人工确认状态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BE3F97CD-34C3-4C3E-AB61-6FC029DB0F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3790950"/>
            <a:ext cx="25146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334155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334155"/>
                </a:solidFill>
                <a:latin typeface="PingFang SC"/>
                <a:ea typeface="PingFang SC"/>
                <a:cs typeface="PingFang SC"/>
              </a:rPr>
              <a:t>确认后才写入假设状态和事件；忽略则不进入假设记忆。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6D122269-BEFA-4628-9F2C-702E935279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5219700"/>
            <a:ext cx="739140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EF3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D08A367F-AF9A-44DC-8D75-06FD1ED05B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5267325"/>
            <a:ext cx="7124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334155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334155"/>
                </a:solidFill>
                <a:latin typeface="PingFang SC"/>
                <a:ea typeface="PingFang SC"/>
                <a:cs typeface="PingFang SC"/>
              </a:rPr>
              <a:t>安全边界：扫描只写 .llm-wiki/wechat-inbox；确认才写 hypothesis-events / hypotheses</a:t>
            </a:r>
          </a:p>
        </p:txBody>
      </p:sp>
    </p:spTree>
    <p:extLst>
      <p:ext uri="{BB962C8B-B14F-4D97-AF65-F5344CB8AC3E}">
        <p14:creationId xmlns:p14="http://schemas.microsoft.com/office/powerpoint/2010/main" val="1171688682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7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89434E6-8BCF-4BC3-9B1B-BB8FEB5F0A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8150"/>
            <a:ext cx="8572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02A2A"/>
                </a:solidFill>
                <a:latin typeface="PingFang SC"/>
                <a:ea typeface="PingFang SC"/>
                <a:cs typeface="PingFang SC"/>
              </a:defRPr>
            </a:pPr>
            <a:r>
              <a:rPr sz="2700" b="1">
                <a:solidFill>
                  <a:srgbClr val="102A2A"/>
                </a:solidFill>
                <a:latin typeface="PingFang SC"/>
                <a:ea typeface="PingFang SC"/>
                <a:cs typeface="PingFang SC"/>
              </a:rPr>
              <a:t>首页只看四块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CCE6FF3-A4F8-454A-B695-1B1EF3F7D6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933450"/>
            <a:ext cx="933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57477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657477"/>
                </a:solidFill>
                <a:latin typeface="PingFang SC"/>
                <a:ea typeface="PingFang SC"/>
                <a:cs typeface="PingFang SC"/>
              </a:rPr>
              <a:t>把工程功能藏到高级实验室，日常判断只围绕“信号-假设-动作”。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C460EFF-CDDB-47EF-AF84-A09157299B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819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789090"/>
                </a:solidFill>
                <a:latin typeface="PingFang SC"/>
                <a:ea typeface="PingFang SC"/>
                <a:cs typeface="PingFang SC"/>
              </a:defRPr>
            </a:pPr>
            <a:r>
              <a:rPr sz="825" b="0">
                <a:solidFill>
                  <a:srgbClr val="789090"/>
                </a:solidFill>
                <a:latin typeface="PingFang SC"/>
                <a:ea typeface="PingFang SC"/>
                <a:cs typeface="PingFang SC"/>
              </a:rPr>
              <a:t>Research Cockpit Lite V2 新手操作教学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3C30891-D829-441C-B550-028541A484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62700"/>
            <a:ext cx="533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789090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789090"/>
                </a:solidFill>
                <a:latin typeface="PingFang SC"/>
                <a:ea typeface="PingFang SC"/>
                <a:cs typeface="PingFang SC"/>
              </a:rPr>
              <a:t>04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397B864-DBBE-46D1-AAD8-A34CB83ADE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28750"/>
            <a:ext cx="2381250" cy="14287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2E1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7EE0789-3122-46D7-9D66-CFC67318A9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28750"/>
            <a:ext cx="5715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4ED8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50F5764-06B5-4572-B926-B89501074F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600200"/>
            <a:ext cx="2057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02A2A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>
                <a:solidFill>
                  <a:srgbClr val="102A2A"/>
                </a:solidFill>
                <a:latin typeface="PingFang SC"/>
                <a:ea typeface="PingFang SC"/>
                <a:cs typeface="PingFang SC"/>
              </a:rPr>
              <a:t>顶部动作栏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413ACF2-285F-453D-94C9-6C46A4CB22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962150"/>
            <a:ext cx="20574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334155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334155"/>
                </a:solidFill>
                <a:latin typeface="PingFang SC"/>
                <a:ea typeface="PingFang SC"/>
                <a:cs typeface="PingFang SC"/>
              </a:rPr>
              <a:t>AI 并发找假设</a:t>
            </a:r>
          </a:p>
          <a:p xmlns:a="http://schemas.openxmlformats.org/drawingml/2006/main">
            <a:pPr algn="l">
              <a:defRPr sz="1200" b="0">
                <a:solidFill>
                  <a:srgbClr val="334155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334155"/>
                </a:solidFill>
                <a:latin typeface="PingFang SC"/>
                <a:ea typeface="PingFang SC"/>
                <a:cs typeface="PingFang SC"/>
              </a:rPr>
              <a:t>只扫这条+AI复核</a:t>
            </a:r>
          </a:p>
          <a:p xmlns:a="http://schemas.openxmlformats.org/drawingml/2006/main">
            <a:pPr algn="l">
              <a:defRPr sz="1200" b="0">
                <a:solidFill>
                  <a:srgbClr val="334155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334155"/>
                </a:solidFill>
                <a:latin typeface="PingFang SC"/>
                <a:ea typeface="PingFang SC"/>
                <a:cs typeface="PingFang SC"/>
              </a:rPr>
              <a:t>自动跟踪</a:t>
            </a:r>
          </a:p>
          <a:p xmlns:a="http://schemas.openxmlformats.org/drawingml/2006/main">
            <a:pPr algn="l">
              <a:defRPr sz="1200" b="0">
                <a:solidFill>
                  <a:srgbClr val="334155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334155"/>
                </a:solidFill>
                <a:latin typeface="PingFang SC"/>
                <a:ea typeface="PingFang SC"/>
                <a:cs typeface="PingFang SC"/>
              </a:rPr>
              <a:t>刷新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FF59208-ADF4-4869-9449-2EDF434A33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1428750"/>
            <a:ext cx="2381250" cy="14287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2E1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4AD9AE6-C1F9-4160-A005-4E23049E6C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1428750"/>
            <a:ext cx="5715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0D2E54F-68AF-4ACE-85FA-020BFCC060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1600200"/>
            <a:ext cx="2057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02A2A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>
                <a:solidFill>
                  <a:srgbClr val="102A2A"/>
                </a:solidFill>
                <a:latin typeface="PingFang SC"/>
                <a:ea typeface="PingFang SC"/>
                <a:cs typeface="PingFang SC"/>
              </a:rPr>
              <a:t>今日信号源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DC02BFE-88B4-46E2-9804-2A0DBA2CAB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1962150"/>
            <a:ext cx="20574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334155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334155"/>
                </a:solidFill>
                <a:latin typeface="PingFang SC"/>
                <a:ea typeface="PingFang SC"/>
                <a:cs typeface="PingFang SC"/>
              </a:rPr>
              <a:t>当前微信文档</a:t>
            </a:r>
          </a:p>
          <a:p xmlns:a="http://schemas.openxmlformats.org/drawingml/2006/main">
            <a:pPr algn="l">
              <a:defRPr sz="1200" b="0">
                <a:solidFill>
                  <a:srgbClr val="334155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334155"/>
                </a:solidFill>
                <a:latin typeface="PingFang SC"/>
                <a:ea typeface="PingFang SC"/>
                <a:cs typeface="PingFang SC"/>
              </a:rPr>
              <a:t>最近修改时间</a:t>
            </a:r>
          </a:p>
          <a:p xmlns:a="http://schemas.openxmlformats.org/drawingml/2006/main">
            <a:pPr algn="l">
              <a:defRPr sz="1200" b="0">
                <a:solidFill>
                  <a:srgbClr val="334155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334155"/>
                </a:solidFill>
                <a:latin typeface="PingFang SC"/>
                <a:ea typeface="PingFang SC"/>
                <a:cs typeface="PingFang SC"/>
              </a:rPr>
              <a:t>新增消息</a:t>
            </a:r>
          </a:p>
          <a:p xmlns:a="http://schemas.openxmlformats.org/drawingml/2006/main">
            <a:pPr algn="l">
              <a:defRPr sz="1200" b="0">
                <a:solidFill>
                  <a:srgbClr val="334155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334155"/>
                </a:solidFill>
                <a:latin typeface="PingFang SC"/>
                <a:ea typeface="PingFang SC"/>
                <a:cs typeface="PingFang SC"/>
              </a:rPr>
              <a:t>命中数量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7F152E1-48A9-46A9-92AC-C31667C8C9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428750"/>
            <a:ext cx="2381250" cy="14287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2E1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0B4D50C-7FB6-4F50-A3B7-20BE413E9B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428750"/>
            <a:ext cx="5715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9525">
            <a:solidFill>
              <a:srgbClr val="F59E0B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5C2EFE5-418E-483F-A4C0-69F9731F20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600200"/>
            <a:ext cx="2057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02A2A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>
                <a:solidFill>
                  <a:srgbClr val="102A2A"/>
                </a:solidFill>
                <a:latin typeface="PingFang SC"/>
                <a:ea typeface="PingFang SC"/>
                <a:cs typeface="PingFang SC"/>
              </a:rPr>
              <a:t>待处理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250B2AF-A430-4217-A2B5-4CF1A1F0F8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962150"/>
            <a:ext cx="20574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334155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334155"/>
                </a:solidFill>
                <a:latin typeface="PingFang SC"/>
                <a:ea typeface="PingFang SC"/>
                <a:cs typeface="PingFang SC"/>
              </a:rPr>
              <a:t>信号类型</a:t>
            </a:r>
          </a:p>
          <a:p xmlns:a="http://schemas.openxmlformats.org/drawingml/2006/main">
            <a:pPr algn="l">
              <a:defRPr sz="1200" b="0">
                <a:solidFill>
                  <a:srgbClr val="334155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334155"/>
                </a:solidFill>
                <a:latin typeface="PingFang SC"/>
                <a:ea typeface="PingFang SC"/>
                <a:cs typeface="PingFang SC"/>
              </a:rPr>
              <a:t>影响假设</a:t>
            </a:r>
          </a:p>
          <a:p xmlns:a="http://schemas.openxmlformats.org/drawingml/2006/main">
            <a:pPr algn="l">
              <a:defRPr sz="1200" b="0">
                <a:solidFill>
                  <a:srgbClr val="334155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334155"/>
                </a:solidFill>
                <a:latin typeface="PingFang SC"/>
                <a:ea typeface="PingFang SC"/>
                <a:cs typeface="PingFang SC"/>
              </a:rPr>
              <a:t>建议状态</a:t>
            </a:r>
          </a:p>
          <a:p xmlns:a="http://schemas.openxmlformats.org/drawingml/2006/main">
            <a:pPr algn="l">
              <a:defRPr sz="1200" b="0">
                <a:solidFill>
                  <a:srgbClr val="334155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334155"/>
                </a:solidFill>
                <a:latin typeface="PingFang SC"/>
                <a:ea typeface="PingFang SC"/>
                <a:cs typeface="PingFang SC"/>
              </a:rPr>
              <a:t>确认 / Ask / 忽略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8E79082-6928-4A86-B0A4-8E9F026461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1428750"/>
            <a:ext cx="2381250" cy="14287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2E1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CA1D427-9C1C-4CB6-8702-24CAC259FB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1428750"/>
            <a:ext cx="5715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A34A"/>
          </a:solidFill>
          <a:ln xmlns:a="http://schemas.openxmlformats.org/drawingml/2006/main" w="9525">
            <a:solidFill>
              <a:srgbClr val="16A34A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C28084D-9DF1-4275-9D01-A5C96F18B4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1600200"/>
            <a:ext cx="2057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02A2A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>
                <a:solidFill>
                  <a:srgbClr val="102A2A"/>
                </a:solidFill>
                <a:latin typeface="PingFang SC"/>
                <a:ea typeface="PingFang SC"/>
                <a:cs typeface="PingFang SC"/>
              </a:rPr>
              <a:t>假设跟踪表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35DEDAA-C50C-46FB-8929-C84D09DA12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1962150"/>
            <a:ext cx="20574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334155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334155"/>
                </a:solidFill>
                <a:latin typeface="PingFang SC"/>
                <a:ea typeface="PingFang SC"/>
                <a:cs typeface="PingFang SC"/>
              </a:rPr>
              <a:t>标题</a:t>
            </a:r>
          </a:p>
          <a:p xmlns:a="http://schemas.openxmlformats.org/drawingml/2006/main">
            <a:pPr algn="l">
              <a:defRPr sz="1200" b="0">
                <a:solidFill>
                  <a:srgbClr val="334155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334155"/>
                </a:solidFill>
                <a:latin typeface="PingFang SC"/>
                <a:ea typeface="PingFang SC"/>
                <a:cs typeface="PingFang SC"/>
              </a:rPr>
              <a:t>主题 / 细分</a:t>
            </a:r>
          </a:p>
          <a:p xmlns:a="http://schemas.openxmlformats.org/drawingml/2006/main">
            <a:pPr algn="l">
              <a:defRPr sz="1200" b="0">
                <a:solidFill>
                  <a:srgbClr val="334155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334155"/>
                </a:solidFill>
                <a:latin typeface="PingFang SC"/>
                <a:ea typeface="PingFang SC"/>
                <a:cs typeface="PingFang SC"/>
              </a:rPr>
              <a:t>当前状态</a:t>
            </a:r>
          </a:p>
          <a:p xmlns:a="http://schemas.openxmlformats.org/drawingml/2006/main">
            <a:pPr algn="l">
              <a:defRPr sz="1200" b="0">
                <a:solidFill>
                  <a:srgbClr val="334155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334155"/>
                </a:solidFill>
                <a:latin typeface="PingFang SC"/>
                <a:ea typeface="PingFang SC"/>
                <a:cs typeface="PingFang SC"/>
              </a:rPr>
              <a:t>最新信号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4F0556C-BCB1-4E6C-9169-87AE4E2F1F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505200"/>
            <a:ext cx="9810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02A2A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102A2A"/>
                </a:solidFill>
                <a:latin typeface="PingFang SC"/>
                <a:ea typeface="PingFang SC"/>
                <a:cs typeface="PingFang SC"/>
              </a:rPr>
              <a:t>默认不要先看：自训练、proposal、autoresearch、完整实验账本、长证据缺口。它们都属于高级实验室。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2317729-8FE3-4148-ABF2-45AA6CC4EB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4476750"/>
            <a:ext cx="211455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2E1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C8A0DE4-4536-4D5C-83F8-FB212919C0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4610100"/>
            <a:ext cx="1885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02A2A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102A2A"/>
                </a:solidFill>
                <a:latin typeface="PingFang SC"/>
                <a:ea typeface="PingFang SC"/>
                <a:cs typeface="PingFang SC"/>
              </a:rPr>
              <a:t>今天看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A894707-ED0F-4197-957F-62FC861545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4895850"/>
            <a:ext cx="18859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334155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334155"/>
                </a:solidFill>
                <a:latin typeface="PingFang SC"/>
                <a:ea typeface="PingFang SC"/>
                <a:cs typeface="PingFang SC"/>
              </a:rPr>
              <a:t>新增信号和待处理卡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D917AD8-22E3-4373-9995-74AF4F5DA5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4914900"/>
            <a:ext cx="762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CDB27C5-2916-4A94-9695-59B99188F7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4300" y="4476750"/>
            <a:ext cx="211455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2E1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11493E4-AA8A-470B-ABA1-0D411FB9F5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38600" y="4610100"/>
            <a:ext cx="1885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02A2A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102A2A"/>
                </a:solidFill>
                <a:latin typeface="PingFang SC"/>
                <a:ea typeface="PingFang SC"/>
                <a:cs typeface="PingFang SC"/>
              </a:rPr>
              <a:t>需要时点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328A25D-D576-4AA9-A73C-7D499E3DCE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38600" y="4895850"/>
            <a:ext cx="18859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334155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334155"/>
                </a:solidFill>
                <a:latin typeface="PingFang SC"/>
                <a:ea typeface="PingFang SC"/>
                <a:cs typeface="PingFang SC"/>
              </a:rPr>
              <a:t>Ask 深挖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587EFB6-A0E0-42DC-A902-E3413B73B7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4914900"/>
            <a:ext cx="762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3821994-06B3-42D4-BDF0-E33FCED2B3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4476750"/>
            <a:ext cx="211455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2E1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ED1A211-E5E6-4BE4-984C-657E21689D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4610100"/>
            <a:ext cx="1885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02A2A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102A2A"/>
                </a:solidFill>
                <a:latin typeface="PingFang SC"/>
                <a:ea typeface="PingFang SC"/>
                <a:cs typeface="PingFang SC"/>
              </a:rPr>
              <a:t>想清楚再点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DBFEDADB-86DE-492A-950E-F8D12E641F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4895850"/>
            <a:ext cx="18859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334155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334155"/>
                </a:solidFill>
                <a:latin typeface="PingFang SC"/>
                <a:ea typeface="PingFang SC"/>
                <a:cs typeface="PingFang SC"/>
              </a:rPr>
              <a:t>确认状态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797EBBC0-457E-4381-8F63-209AD7B029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4914900"/>
            <a:ext cx="762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22E05170-475B-4260-9066-E3948CEB70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4476750"/>
            <a:ext cx="211455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2E1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B6B02FE9-F264-4F5B-9512-5A049B803F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4610100"/>
            <a:ext cx="1885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02A2A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102A2A"/>
                </a:solidFill>
                <a:latin typeface="PingFang SC"/>
                <a:ea typeface="PingFang SC"/>
                <a:cs typeface="PingFang SC"/>
              </a:rPr>
              <a:t>以后复盘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DF1FFCC6-724D-47E5-84B6-C23D3D1C4E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4895850"/>
            <a:ext cx="18859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334155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334155"/>
                </a:solidFill>
                <a:latin typeface="PingFang SC"/>
                <a:ea typeface="PingFang SC"/>
                <a:cs typeface="PingFang SC"/>
              </a:rPr>
              <a:t>事件和来源沉淀</a:t>
            </a:r>
          </a:p>
        </p:txBody>
      </p:sp>
    </p:spTree>
    <p:extLst>
      <p:ext uri="{BB962C8B-B14F-4D97-AF65-F5344CB8AC3E}">
        <p14:creationId xmlns:p14="http://schemas.microsoft.com/office/powerpoint/2010/main" val="206642532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7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7712783-D302-411B-A3BE-1A900ECCFD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8150"/>
            <a:ext cx="8572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02A2A"/>
                </a:solidFill>
                <a:latin typeface="PingFang SC"/>
                <a:ea typeface="PingFang SC"/>
                <a:cs typeface="PingFang SC"/>
              </a:defRPr>
            </a:pPr>
            <a:r>
              <a:rPr sz="2700" b="1">
                <a:solidFill>
                  <a:srgbClr val="102A2A"/>
                </a:solidFill>
                <a:latin typeface="PingFang SC"/>
                <a:ea typeface="PingFang SC"/>
                <a:cs typeface="PingFang SC"/>
              </a:rPr>
              <a:t>Step 1：先有一条可跟踪假设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36F7040-50A6-40D3-BAC0-D81A6A1B35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933450"/>
            <a:ext cx="933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57477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657477"/>
                </a:solidFill>
                <a:latin typeface="PingFang SC"/>
                <a:ea typeface="PingFang SC"/>
                <a:cs typeface="PingFang SC"/>
              </a:rPr>
              <a:t>假设可以来自 AI 并发发现，也可以手工创建。不要把泛泛观点放进假设池。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F4BA2A6-CCED-47EE-A563-D60F3E494A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819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789090"/>
                </a:solidFill>
                <a:latin typeface="PingFang SC"/>
                <a:ea typeface="PingFang SC"/>
                <a:cs typeface="PingFang SC"/>
              </a:defRPr>
            </a:pPr>
            <a:r>
              <a:rPr sz="825" b="0">
                <a:solidFill>
                  <a:srgbClr val="789090"/>
                </a:solidFill>
                <a:latin typeface="PingFang SC"/>
                <a:ea typeface="PingFang SC"/>
                <a:cs typeface="PingFang SC"/>
              </a:rPr>
              <a:t>Research Cockpit Lite V2 新手操作教学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10747C9-CC27-4A32-9F09-E770CF033F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62700"/>
            <a:ext cx="533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789090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789090"/>
                </a:solidFill>
                <a:latin typeface="PingFang SC"/>
                <a:ea typeface="PingFang SC"/>
                <a:cs typeface="PingFang SC"/>
              </a:rPr>
              <a:t>05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A1E25D6-91A2-435C-8948-6F07CAC191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428750"/>
            <a:ext cx="4953000" cy="1733550"/>
          </a:xfrm>
          <a:prstGeom xmlns:a="http://schemas.openxmlformats.org/drawingml/2006/main" prst="roundRect">
            <a:avLst>
              <a:gd name="adj" fmla="val 65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2E1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A380A4F-6C21-47B7-AD61-13C2B79380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428750"/>
            <a:ext cx="57150" cy="1733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A34A"/>
          </a:solidFill>
          <a:ln xmlns:a="http://schemas.openxmlformats.org/drawingml/2006/main" w="9525">
            <a:solidFill>
              <a:srgbClr val="16A34A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9DD9909-1D9E-438B-9B61-3BA47D1F78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600200"/>
            <a:ext cx="4629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02A2A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>
                <a:solidFill>
                  <a:srgbClr val="102A2A"/>
                </a:solidFill>
                <a:latin typeface="PingFang SC"/>
                <a:ea typeface="PingFang SC"/>
                <a:cs typeface="PingFang SC"/>
              </a:rPr>
              <a:t>好假设长什么样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8DEB45D-64D5-4AA2-A518-9735C86698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962150"/>
            <a:ext cx="462915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334155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334155"/>
                </a:solidFill>
                <a:latin typeface="PingFang SC"/>
                <a:ea typeface="PingFang SC"/>
                <a:cs typeface="PingFang SC"/>
              </a:rPr>
              <a:t>格式：产业变化 + 受益环节 + 可观察反馈。</a:t>
            </a:r>
          </a:p>
          <a:p xmlns:a="http://schemas.openxmlformats.org/drawingml/2006/main">
            <a:pPr algn="l">
              <a:defRPr sz="1200" b="0">
                <a:solidFill>
                  <a:srgbClr val="334155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334155"/>
                </a:solidFill>
                <a:latin typeface="PingFang SC"/>
                <a:ea typeface="PingFang SC"/>
                <a:cs typeface="PingFang SC"/>
              </a:rPr>
              <a:t>示例：CPO增速放缓可能推动MPO连接器量价齐升。</a:t>
            </a:r>
          </a:p>
          <a:p xmlns:a="http://schemas.openxmlformats.org/drawingml/2006/main">
            <a:pPr algn="l">
              <a:defRPr sz="1200" b="0">
                <a:solidFill>
                  <a:srgbClr val="334155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334155"/>
                </a:solidFill>
                <a:latin typeface="PingFang SC"/>
                <a:ea typeface="PingFang SC"/>
                <a:cs typeface="PingFang SC"/>
              </a:rPr>
              <a:t>示例：健滔涨价函可能推动CCL/覆铜板链条重估。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D11CCE8-E57F-479B-A3DA-BA0496DD41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1428750"/>
            <a:ext cx="4953000" cy="1733550"/>
          </a:xfrm>
          <a:prstGeom xmlns:a="http://schemas.openxmlformats.org/drawingml/2006/main" prst="roundRect">
            <a:avLst>
              <a:gd name="adj" fmla="val 65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2E1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CFA094E-942C-4899-8A88-43B490689B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1428750"/>
            <a:ext cx="57150" cy="1733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2626"/>
          </a:solidFill>
          <a:ln xmlns:a="http://schemas.openxmlformats.org/drawingml/2006/main" w="9525">
            <a:solidFill>
              <a:srgbClr val="DC2626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2AC6630-0E62-4CD8-BF54-3DAC595035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1600200"/>
            <a:ext cx="4629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02A2A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>
                <a:solidFill>
                  <a:srgbClr val="102A2A"/>
                </a:solidFill>
                <a:latin typeface="PingFang SC"/>
                <a:ea typeface="PingFang SC"/>
                <a:cs typeface="PingFang SC"/>
              </a:rPr>
              <a:t>坏假设长什么样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9CAF808-A289-41C7-9697-96C44F097B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1962150"/>
            <a:ext cx="462915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334155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334155"/>
                </a:solidFill>
                <a:latin typeface="PingFang SC"/>
                <a:ea typeface="PingFang SC"/>
                <a:cs typeface="PingFang SC"/>
              </a:rPr>
              <a:t>只有主题词、日期、股票名、情绪词。</a:t>
            </a:r>
          </a:p>
          <a:p xmlns:a="http://schemas.openxmlformats.org/drawingml/2006/main">
            <a:pPr algn="l">
              <a:defRPr sz="1200" b="0">
                <a:solidFill>
                  <a:srgbClr val="334155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334155"/>
                </a:solidFill>
                <a:latin typeface="PingFang SC"/>
                <a:ea typeface="PingFang SC"/>
                <a:cs typeface="PingFang SC"/>
              </a:rPr>
              <a:t>例如：2026-06-19、3.、AI、预期差、A股涨停。</a:t>
            </a:r>
          </a:p>
          <a:p xmlns:a="http://schemas.openxmlformats.org/drawingml/2006/main">
            <a:pPr algn="l">
              <a:defRPr sz="1200" b="0">
                <a:solidFill>
                  <a:srgbClr val="334155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334155"/>
                </a:solidFill>
                <a:latin typeface="PingFang SC"/>
                <a:ea typeface="PingFang SC"/>
                <a:cs typeface="PingFang SC"/>
              </a:rPr>
              <a:t>这些会被过滤，避免待处理区变成垃圾堆。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7602CE0-422F-438C-BE1E-D55BB31A86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848100"/>
            <a:ext cx="3238500" cy="1047750"/>
          </a:xfrm>
          <a:prstGeom xmlns:a="http://schemas.openxmlformats.org/drawingml/2006/main" prst="roundRect">
            <a:avLst>
              <a:gd name="adj" fmla="val 1090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2E1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14793C4-13CF-411C-A47F-AAB2FFB2AF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01955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D4ED8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44E0F8E-7FAD-48E3-8656-8592C6FB74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086225"/>
            <a:ext cx="361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1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35107D0-A1F0-4BFE-88FD-6F1A8E6F3D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019550"/>
            <a:ext cx="2419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02A2A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>
                <a:solidFill>
                  <a:srgbClr val="102A2A"/>
                </a:solidFill>
                <a:latin typeface="PingFang SC"/>
                <a:ea typeface="PingFang SC"/>
                <a:cs typeface="PingFang SC"/>
              </a:rPr>
              <a:t>点 AI 并发找假设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0BBC62F-7112-4CCE-943B-31755823B8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362450"/>
            <a:ext cx="24003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334155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334155"/>
                </a:solidFill>
                <a:latin typeface="PingFang SC"/>
                <a:ea typeface="PingFang SC"/>
                <a:cs typeface="PingFang SC"/>
              </a:rPr>
              <a:t>输入大主题，例如 AI数据中心互联、玻璃基板、PCB、机器人。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202C670-192F-43A6-94AE-7D4F065C75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848100"/>
            <a:ext cx="3238500" cy="1047750"/>
          </a:xfrm>
          <a:prstGeom xmlns:a="http://schemas.openxmlformats.org/drawingml/2006/main" prst="roundRect">
            <a:avLst>
              <a:gd name="adj" fmla="val 1090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2E1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23EC753-5116-437A-9D16-A2DCFC273A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401955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9525">
            <a:solidFill>
              <a:srgbClr val="F59E0B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B85EA1B-01B1-49C2-BC42-D978D7F64D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4086225"/>
            <a:ext cx="361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CF94C97-182A-4D45-96F8-CB088E3122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4019550"/>
            <a:ext cx="2419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02A2A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>
                <a:solidFill>
                  <a:srgbClr val="102A2A"/>
                </a:solidFill>
                <a:latin typeface="PingFang SC"/>
                <a:ea typeface="PingFang SC"/>
                <a:cs typeface="PingFang SC"/>
              </a:rPr>
              <a:t>看候选表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92040A6-F8D6-4169-A5FC-AFAE7CDB9E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4362450"/>
            <a:ext cx="24003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334155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334155"/>
                </a:solidFill>
                <a:latin typeface="PingFang SC"/>
                <a:ea typeface="PingFang SC"/>
                <a:cs typeface="PingFang SC"/>
              </a:rPr>
              <a:t>AI 只生成候选，不自动加入跟踪。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50B72F0-81A8-4B24-A5F5-29C6F6BCAD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848100"/>
            <a:ext cx="3238500" cy="1047750"/>
          </a:xfrm>
          <a:prstGeom xmlns:a="http://schemas.openxmlformats.org/drawingml/2006/main" prst="roundRect">
            <a:avLst>
              <a:gd name="adj" fmla="val 1090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2E1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62D730F-D1B6-4807-BDFE-5BF371454B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401955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A34A"/>
          </a:solidFill>
          <a:ln xmlns:a="http://schemas.openxmlformats.org/drawingml/2006/main" w="9525">
            <a:solidFill>
              <a:srgbClr val="16A34A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2200296-5BFA-4AF9-A6E4-B2F913C5E8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4086225"/>
            <a:ext cx="361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3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36C6211-DD89-4FF4-B1A2-FEC0EF8CC1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4019550"/>
            <a:ext cx="2419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02A2A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>
                <a:solidFill>
                  <a:srgbClr val="102A2A"/>
                </a:solidFill>
                <a:latin typeface="PingFang SC"/>
                <a:ea typeface="PingFang SC"/>
                <a:cs typeface="PingFang SC"/>
              </a:rPr>
              <a:t>点加入跟踪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2AEB617-3D91-42AE-A69E-605C726B27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4362450"/>
            <a:ext cx="24003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334155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334155"/>
                </a:solidFill>
                <a:latin typeface="PingFang SC"/>
                <a:ea typeface="PingFang SC"/>
                <a:cs typeface="PingFang SC"/>
              </a:rPr>
              <a:t>确认后才写入 .llm-wiki/hypotheses。</a:t>
            </a:r>
          </a:p>
        </p:txBody>
      </p:sp>
    </p:spTree>
    <p:extLst>
      <p:ext uri="{BB962C8B-B14F-4D97-AF65-F5344CB8AC3E}">
        <p14:creationId xmlns:p14="http://schemas.microsoft.com/office/powerpoint/2010/main" val="804088524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7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D9F6DB6-E829-4B23-8AFB-71D8ADD2AB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8150"/>
            <a:ext cx="8572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02A2A"/>
                </a:solidFill>
                <a:latin typeface="PingFang SC"/>
                <a:ea typeface="PingFang SC"/>
                <a:cs typeface="PingFang SC"/>
              </a:defRPr>
            </a:pPr>
            <a:r>
              <a:rPr sz="2700" b="1">
                <a:solidFill>
                  <a:srgbClr val="102A2A"/>
                </a:solidFill>
                <a:latin typeface="PingFang SC"/>
                <a:ea typeface="PingFang SC"/>
                <a:cs typeface="PingFang SC"/>
              </a:rPr>
              <a:t>Step 2：选择微信聊天文档作为增量源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BD64C0E-5E7B-495A-9F15-A884057E78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933450"/>
            <a:ext cx="933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57477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657477"/>
                </a:solidFill>
                <a:latin typeface="PingFang SC"/>
                <a:ea typeface="PingFang SC"/>
                <a:cs typeface="PingFang SC"/>
              </a:rPr>
              <a:t>微信不是用来替代假设发现，它只负责“今天有没有新信号更新已有假设”。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CCD4EBC-639B-4ADB-924A-6C4C573968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819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789090"/>
                </a:solidFill>
                <a:latin typeface="PingFang SC"/>
                <a:ea typeface="PingFang SC"/>
                <a:cs typeface="PingFang SC"/>
              </a:defRPr>
            </a:pPr>
            <a:r>
              <a:rPr sz="825" b="0">
                <a:solidFill>
                  <a:srgbClr val="789090"/>
                </a:solidFill>
                <a:latin typeface="PingFang SC"/>
                <a:ea typeface="PingFang SC"/>
                <a:cs typeface="PingFang SC"/>
              </a:rPr>
              <a:t>Research Cockpit Lite V2 新手操作教学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C5BF6AA-5D34-450C-AAAC-752E946460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62700"/>
            <a:ext cx="533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789090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789090"/>
                </a:solidFill>
                <a:latin typeface="PingFang SC"/>
                <a:ea typeface="PingFang SC"/>
                <a:cs typeface="PingFang SC"/>
              </a:rPr>
              <a:t>06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C0D0643-ABC4-428C-9A08-69A1E0EC1E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28750"/>
            <a:ext cx="3276600" cy="1409700"/>
          </a:xfrm>
          <a:prstGeom xmlns:a="http://schemas.openxmlformats.org/drawingml/2006/main" prst="roundRect">
            <a:avLst>
              <a:gd name="adj" fmla="val 810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2E1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107C1E7-293F-4182-ACD1-0A1E36FD19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28750"/>
            <a:ext cx="57150" cy="1409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4ED8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2A01382-F353-4A5C-9637-583D6F0B07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600200"/>
            <a:ext cx="2952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02A2A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>
                <a:solidFill>
                  <a:srgbClr val="102A2A"/>
                </a:solidFill>
                <a:latin typeface="PingFang SC"/>
                <a:ea typeface="PingFang SC"/>
                <a:cs typeface="PingFang SC"/>
              </a:rPr>
              <a:t>默认路径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8122BE6-2635-435F-940F-B013CDBAB3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962150"/>
            <a:ext cx="29527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334155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334155"/>
                </a:solidFill>
                <a:latin typeface="PingFang SC"/>
                <a:ea typeface="PingFang SC"/>
                <a:cs typeface="PingFang SC"/>
              </a:rPr>
              <a:t>优先选择 raw/微信聊天/YYYY-MM-DD.md。</a:t>
            </a:r>
          </a:p>
          <a:p xmlns:a="http://schemas.openxmlformats.org/drawingml/2006/main">
            <a:pPr algn="l">
              <a:defRPr sz="1200" b="0">
                <a:solidFill>
                  <a:srgbClr val="334155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334155"/>
                </a:solidFill>
                <a:latin typeface="PingFang SC"/>
                <a:ea typeface="PingFang SC"/>
                <a:cs typeface="PingFang SC"/>
              </a:rPr>
              <a:t>如果今天文件不存在，系统会使用最近修改文件并提示。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D129D71-D097-4236-B654-9EF3829692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1428750"/>
            <a:ext cx="3276600" cy="1409700"/>
          </a:xfrm>
          <a:prstGeom xmlns:a="http://schemas.openxmlformats.org/drawingml/2006/main" prst="roundRect">
            <a:avLst>
              <a:gd name="adj" fmla="val 810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2E1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F37C283-B54C-4948-AD50-8AC7D77E65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1428750"/>
            <a:ext cx="57150" cy="1409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29CCFDC-B515-49BE-95EA-80CD569F9D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1600200"/>
            <a:ext cx="2952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02A2A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>
                <a:solidFill>
                  <a:srgbClr val="102A2A"/>
                </a:solidFill>
                <a:latin typeface="PingFang SC"/>
                <a:ea typeface="PingFang SC"/>
                <a:cs typeface="PingFang SC"/>
              </a:rPr>
              <a:t>外部工具写入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67E68D8-D47E-4B4C-A6CA-22DE30A06F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1962150"/>
            <a:ext cx="29527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334155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334155"/>
                </a:solidFill>
                <a:latin typeface="PingFang SC"/>
                <a:ea typeface="PingFang SC"/>
                <a:cs typeface="PingFang SC"/>
              </a:rPr>
              <a:t>你的微信提取工具可以每 20-30 秒追加文档。</a:t>
            </a:r>
          </a:p>
          <a:p xmlns:a="http://schemas.openxmlformats.org/drawingml/2006/main">
            <a:pPr algn="l">
              <a:defRPr sz="1200" b="0">
                <a:solidFill>
                  <a:srgbClr val="334155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334155"/>
                </a:solidFill>
                <a:latin typeface="PingFang SC"/>
                <a:ea typeface="PingFang SC"/>
                <a:cs typeface="PingFang SC"/>
              </a:rPr>
              <a:t>驾驶舱只读新增部分，避免高频直连微信。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E3E899B-9421-4982-A48E-461407460A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1428750"/>
            <a:ext cx="3276600" cy="1409700"/>
          </a:xfrm>
          <a:prstGeom xmlns:a="http://schemas.openxmlformats.org/drawingml/2006/main" prst="roundRect">
            <a:avLst>
              <a:gd name="adj" fmla="val 810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2E1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D7C51DF-B5BB-4241-BDC4-060913286D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1428750"/>
            <a:ext cx="57150" cy="1409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A34A"/>
          </a:solidFill>
          <a:ln xmlns:a="http://schemas.openxmlformats.org/drawingml/2006/main" w="9525">
            <a:solidFill>
              <a:srgbClr val="16A34A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B0F2A42-F273-4AA1-91C3-E2EFD1F6FB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1600200"/>
            <a:ext cx="2952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02A2A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>
                <a:solidFill>
                  <a:srgbClr val="102A2A"/>
                </a:solidFill>
                <a:latin typeface="PingFang SC"/>
                <a:ea typeface="PingFang SC"/>
                <a:cs typeface="PingFang SC"/>
              </a:rPr>
              <a:t>安全写入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FDB835F-919C-4D1A-8901-96698DD10E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1962150"/>
            <a:ext cx="29527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334155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334155"/>
                </a:solidFill>
                <a:latin typeface="PingFang SC"/>
                <a:ea typeface="PingFang SC"/>
                <a:cs typeface="PingFang SC"/>
              </a:rPr>
              <a:t>自动扫描只写 .llm-wiki/wechat-inbox/**。</a:t>
            </a:r>
          </a:p>
          <a:p xmlns:a="http://schemas.openxmlformats.org/drawingml/2006/main">
            <a:pPr algn="l">
              <a:defRPr sz="1200" b="0">
                <a:solidFill>
                  <a:srgbClr val="334155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334155"/>
                </a:solidFill>
                <a:latin typeface="PingFang SC"/>
                <a:ea typeface="PingFang SC"/>
                <a:cs typeface="PingFang SC"/>
              </a:rPr>
              <a:t>不会写 raw/** 或 wiki/**。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5793F45-E04B-4B82-BB4F-0708BDB3CA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810000"/>
            <a:ext cx="2390775" cy="1047750"/>
          </a:xfrm>
          <a:prstGeom xmlns:a="http://schemas.openxmlformats.org/drawingml/2006/main" prst="roundRect">
            <a:avLst>
              <a:gd name="adj" fmla="val 727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2E1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EEE9379-4629-4C5E-AF12-C2F8E95075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3943350"/>
            <a:ext cx="21621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02A2A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102A2A"/>
                </a:solidFill>
                <a:latin typeface="PingFang SC"/>
                <a:ea typeface="PingFang SC"/>
                <a:cs typeface="PingFang SC"/>
              </a:rPr>
              <a:t>选择文档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E2FF391-6955-448A-8D67-F0F3E713B1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4229100"/>
            <a:ext cx="21621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334155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334155"/>
                </a:solidFill>
                <a:latin typeface="PingFang SC"/>
                <a:ea typeface="PingFang SC"/>
                <a:cs typeface="PingFang SC"/>
              </a:rPr>
              <a:t>当天或最近修改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7B53FD8-B1DC-4436-A6E9-E25151328C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2825" y="4314825"/>
            <a:ext cx="762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4ED8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8949CDC-38BC-461F-B761-46094B40C9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48075" y="3810000"/>
            <a:ext cx="2390775" cy="1047750"/>
          </a:xfrm>
          <a:prstGeom xmlns:a="http://schemas.openxmlformats.org/drawingml/2006/main" prst="roundRect">
            <a:avLst>
              <a:gd name="adj" fmla="val 727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2E1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486E8C9-45FA-4C8C-A2BF-F2B94E185E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62375" y="3943350"/>
            <a:ext cx="21621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02A2A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102A2A"/>
                </a:solidFill>
                <a:latin typeface="PingFang SC"/>
                <a:ea typeface="PingFang SC"/>
                <a:cs typeface="PingFang SC"/>
              </a:rPr>
              <a:t>导入新增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D8DDCE6-96EC-49C3-96E9-D16913BE12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62375" y="4229100"/>
            <a:ext cx="21621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334155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334155"/>
                </a:solidFill>
                <a:latin typeface="PingFang SC"/>
                <a:ea typeface="PingFang SC"/>
                <a:cs typeface="PingFang SC"/>
              </a:rPr>
              <a:t>只处理追加内容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63D49DD-14B9-4E32-9B59-384D1AE66E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4314825"/>
            <a:ext cx="762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4ED8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2410101-D963-470F-8948-690B138ACC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3810000"/>
            <a:ext cx="2390775" cy="1047750"/>
          </a:xfrm>
          <a:prstGeom xmlns:a="http://schemas.openxmlformats.org/drawingml/2006/main" prst="roundRect">
            <a:avLst>
              <a:gd name="adj" fmla="val 727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2E1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0DB9D7F-41BF-445D-9B2C-5DC9206F2E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943350"/>
            <a:ext cx="21621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02A2A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102A2A"/>
                </a:solidFill>
                <a:latin typeface="PingFang SC"/>
                <a:ea typeface="PingFang SC"/>
                <a:cs typeface="PingFang SC"/>
              </a:rPr>
              <a:t>去重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ABC7B0F-684F-49A9-B9F3-47E2CC87E1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4229100"/>
            <a:ext cx="21621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334155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334155"/>
                </a:solidFill>
                <a:latin typeface="PingFang SC"/>
                <a:ea typeface="PingFang SC"/>
                <a:cs typeface="PingFang SC"/>
              </a:rPr>
              <a:t>messageId / hash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C7006F5-2855-423C-AF94-253947E866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62975" y="4314825"/>
            <a:ext cx="762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4ED8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B7CE883-8C98-4584-AA95-EF19F8F3BA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58225" y="3810000"/>
            <a:ext cx="2390775" cy="1047750"/>
          </a:xfrm>
          <a:prstGeom xmlns:a="http://schemas.openxmlformats.org/drawingml/2006/main" prst="roundRect">
            <a:avLst>
              <a:gd name="adj" fmla="val 727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2E1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4760DE5-ABED-4365-AD41-8302062BA9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72525" y="3943350"/>
            <a:ext cx="21621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02A2A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102A2A"/>
                </a:solidFill>
                <a:latin typeface="PingFang SC"/>
                <a:ea typeface="PingFang SC"/>
                <a:cs typeface="PingFang SC"/>
              </a:rPr>
              <a:t>进入扫描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B67EFF1-E6C7-411E-981A-F1C5929EF1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72525" y="4229100"/>
            <a:ext cx="21621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334155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334155"/>
                </a:solidFill>
                <a:latin typeface="PingFang SC"/>
                <a:ea typeface="PingFang SC"/>
                <a:cs typeface="PingFang SC"/>
              </a:rPr>
              <a:t>匹配假设</a:t>
            </a:r>
          </a:p>
        </p:txBody>
      </p:sp>
    </p:spTree>
    <p:extLst>
      <p:ext uri="{BB962C8B-B14F-4D97-AF65-F5344CB8AC3E}">
        <p14:creationId xmlns:p14="http://schemas.microsoft.com/office/powerpoint/2010/main" val="1575888379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7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DEC5813-B718-46D4-A389-B5F4732B52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8150"/>
            <a:ext cx="8572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02A2A"/>
                </a:solidFill>
                <a:latin typeface="PingFang SC"/>
                <a:ea typeface="PingFang SC"/>
                <a:cs typeface="PingFang SC"/>
              </a:defRPr>
            </a:pPr>
            <a:r>
              <a:rPr sz="2700" b="1">
                <a:solidFill>
                  <a:srgbClr val="102A2A"/>
                </a:solidFill>
                <a:latin typeface="PingFang SC"/>
                <a:ea typeface="PingFang SC"/>
                <a:cs typeface="PingFang SC"/>
              </a:rPr>
              <a:t>Step 3：扫描微信新增时发生什么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D1A0F20-0DB7-408D-B959-A5068E1123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933450"/>
            <a:ext cx="933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57477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657477"/>
                </a:solidFill>
                <a:latin typeface="PingFang SC"/>
                <a:ea typeface="PingFang SC"/>
                <a:cs typeface="PingFang SC"/>
              </a:rPr>
              <a:t>你看到的是阶段级进度，不做 token 级流式，避免页面像终端一样吵。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8FCF386-7BF8-400C-86B8-8BA59FD802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819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789090"/>
                </a:solidFill>
                <a:latin typeface="PingFang SC"/>
                <a:ea typeface="PingFang SC"/>
                <a:cs typeface="PingFang SC"/>
              </a:defRPr>
            </a:pPr>
            <a:r>
              <a:rPr sz="825" b="0">
                <a:solidFill>
                  <a:srgbClr val="789090"/>
                </a:solidFill>
                <a:latin typeface="PingFang SC"/>
                <a:ea typeface="PingFang SC"/>
                <a:cs typeface="PingFang SC"/>
              </a:rPr>
              <a:t>Research Cockpit Lite V2 新手操作教学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BD2DFE3-F8B2-4B47-9CC7-93FB4B9290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62700"/>
            <a:ext cx="533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789090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789090"/>
                </a:solidFill>
                <a:latin typeface="PingFang SC"/>
                <a:ea typeface="PingFang SC"/>
                <a:cs typeface="PingFang SC"/>
              </a:rPr>
              <a:t>07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62AFF94-6F4D-4686-AD5E-5B7DD5E021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581150"/>
            <a:ext cx="1765300" cy="11430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9525">
            <a:solidFill>
              <a:srgbClr val="D7E2E1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4A8C31A-66D6-48A7-BB7F-61EAED2DDE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714500"/>
            <a:ext cx="1536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02A2A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102A2A"/>
                </a:solidFill>
                <a:latin typeface="PingFang SC"/>
                <a:ea typeface="PingFang SC"/>
                <a:cs typeface="PingFang SC"/>
              </a:rPr>
              <a:t>1 接收增量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FCF04FD-BB39-4AC3-91A0-6E909CCD5B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000250"/>
            <a:ext cx="15367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334155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334155"/>
                </a:solidFill>
                <a:latin typeface="PingFang SC"/>
                <a:ea typeface="PingFang SC"/>
                <a:cs typeface="PingFang SC"/>
              </a:rPr>
              <a:t>读取选中文档新增内容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5839B28-0C9C-456E-BF1D-601C7EE802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98700" y="2133600"/>
            <a:ext cx="762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4ED8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B8C5FAE-2D07-465C-8370-2596739575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93950" y="1581150"/>
            <a:ext cx="1765300" cy="11430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E7F6F3"/>
          </a:solidFill>
          <a:ln xmlns:a="http://schemas.openxmlformats.org/drawingml/2006/main" w="9525">
            <a:solidFill>
              <a:srgbClr val="D7E2E1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DDE5F05-B50D-4C74-ACE4-C59CC6D9E2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08250" y="1714500"/>
            <a:ext cx="1536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02A2A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102A2A"/>
                </a:solidFill>
                <a:latin typeface="PingFang SC"/>
                <a:ea typeface="PingFang SC"/>
                <a:cs typeface="PingFang SC"/>
              </a:rPr>
              <a:t>2 规范化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8EC2116-8F19-4E4B-BE78-344C27EB10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08250" y="2000250"/>
            <a:ext cx="15367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334155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334155"/>
                </a:solidFill>
                <a:latin typeface="PingFang SC"/>
                <a:ea typeface="PingFang SC"/>
                <a:cs typeface="PingFang SC"/>
              </a:rPr>
              <a:t>转成 wechat-increment-v1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BB61E45-9B42-4B87-A0AA-E178654B4F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8300" y="2133600"/>
            <a:ext cx="762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4ED8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B0D9876-C765-472C-8965-3F0251DCF1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73550" y="1581150"/>
            <a:ext cx="1765300" cy="11430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EAF8F0"/>
          </a:solidFill>
          <a:ln xmlns:a="http://schemas.openxmlformats.org/drawingml/2006/main" w="9525">
            <a:solidFill>
              <a:srgbClr val="D7E2E1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D1A7341-28E1-47C0-9F9E-798E2ACD01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7850" y="1714500"/>
            <a:ext cx="1536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02A2A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102A2A"/>
                </a:solidFill>
                <a:latin typeface="PingFang SC"/>
                <a:ea typeface="PingFang SC"/>
                <a:cs typeface="PingFang SC"/>
              </a:rPr>
              <a:t>3 去重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22F51FD-984D-4837-A1E6-CAE4B34836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7850" y="2000250"/>
            <a:ext cx="15367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334155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334155"/>
                </a:solidFill>
                <a:latin typeface="PingFang SC"/>
                <a:ea typeface="PingFang SC"/>
                <a:cs typeface="PingFang SC"/>
              </a:rPr>
              <a:t>避免重复卡片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B53E495-6504-4C95-B495-8226BC7371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2133600"/>
            <a:ext cx="762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4ED8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93E327C-AC61-420C-915A-9E68DF16DA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1581150"/>
            <a:ext cx="1765300" cy="11430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FF7E6"/>
          </a:solidFill>
          <a:ln xmlns:a="http://schemas.openxmlformats.org/drawingml/2006/main" w="9525">
            <a:solidFill>
              <a:srgbClr val="D7E2E1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F8B57CA-1458-402B-A94E-616491CCCE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1714500"/>
            <a:ext cx="1536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02A2A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102A2A"/>
                </a:solidFill>
                <a:latin typeface="PingFang SC"/>
                <a:ea typeface="PingFang SC"/>
                <a:cs typeface="PingFang SC"/>
              </a:rPr>
              <a:t>4 规则路由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C3FC11A-EEAD-44F2-8EA5-78D9282254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000250"/>
            <a:ext cx="15367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334155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334155"/>
                </a:solidFill>
                <a:latin typeface="PingFang SC"/>
                <a:ea typeface="PingFang SC"/>
                <a:cs typeface="PingFang SC"/>
              </a:rPr>
              <a:t>日期/泛词过滤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68DFC0D-0151-4C31-9B6B-954781240D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37500" y="2133600"/>
            <a:ext cx="762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4ED8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1551397-88C4-48C9-8C55-E9C9EA280E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2750" y="1581150"/>
            <a:ext cx="1765300" cy="11430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3E8FF"/>
          </a:solidFill>
          <a:ln xmlns:a="http://schemas.openxmlformats.org/drawingml/2006/main" w="9525">
            <a:solidFill>
              <a:srgbClr val="D7E2E1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F54BAD5-4E96-4935-AAAD-FF472E0C17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7050" y="1714500"/>
            <a:ext cx="1536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02A2A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102A2A"/>
                </a:solidFill>
                <a:latin typeface="PingFang SC"/>
                <a:ea typeface="PingFang SC"/>
                <a:cs typeface="PingFang SC"/>
              </a:rPr>
              <a:t>5 AI复核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E538BF3-4300-4EE1-AFBD-F2DCF78E41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7050" y="2000250"/>
            <a:ext cx="15367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334155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334155"/>
                </a:solidFill>
                <a:latin typeface="PingFang SC"/>
                <a:ea typeface="PingFang SC"/>
                <a:cs typeface="PingFang SC"/>
              </a:rPr>
              <a:t>只复核少量候选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4FC476D-1011-4EDA-A48A-3DD8CF749A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7100" y="2133600"/>
            <a:ext cx="762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4ED8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DADD82B-D47F-4A02-A516-1411EF1827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12350" y="1581150"/>
            <a:ext cx="1765300" cy="11430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EF2F2"/>
          </a:solidFill>
          <a:ln xmlns:a="http://schemas.openxmlformats.org/drawingml/2006/main" w="9525">
            <a:solidFill>
              <a:srgbClr val="D7E2E1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CD30801-443D-4617-A014-A0D2350D00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6650" y="1714500"/>
            <a:ext cx="1536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02A2A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102A2A"/>
                </a:solidFill>
                <a:latin typeface="PingFang SC"/>
                <a:ea typeface="PingFang SC"/>
                <a:cs typeface="PingFang SC"/>
              </a:rPr>
              <a:t>6 待处理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D86F7B1-AD20-4FDD-838E-FBEFD8B78E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6650" y="2000250"/>
            <a:ext cx="15367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334155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334155"/>
                </a:solidFill>
                <a:latin typeface="PingFang SC"/>
                <a:ea typeface="PingFang SC"/>
                <a:cs typeface="PingFang SC"/>
              </a:rPr>
              <a:t>生成可操作卡片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6C962A3-7030-4033-A619-99BBEE4D97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390900"/>
            <a:ext cx="4629150" cy="1295400"/>
          </a:xfrm>
          <a:prstGeom xmlns:a="http://schemas.openxmlformats.org/drawingml/2006/main" prst="roundRect">
            <a:avLst>
              <a:gd name="adj" fmla="val 882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2E1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3C15D97-4881-4778-9EE1-4A14515B6B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390900"/>
            <a:ext cx="57150" cy="1295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C3AED"/>
          </a:solidFill>
          <a:ln xmlns:a="http://schemas.openxmlformats.org/drawingml/2006/main" w="9525">
            <a:solidFill>
              <a:srgbClr val="7C3AED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DEC6B01-9B67-4D70-9C85-B86AFE8224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562350"/>
            <a:ext cx="4305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02A2A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>
                <a:solidFill>
                  <a:srgbClr val="102A2A"/>
                </a:solidFill>
                <a:latin typeface="PingFang SC"/>
                <a:ea typeface="PingFang SC"/>
                <a:cs typeface="PingFang SC"/>
              </a:rPr>
              <a:t>什么情况下用 AI 复核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C27C2A46-53A7-4F87-835D-D3BD518CA6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924300"/>
            <a:ext cx="43053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334155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334155"/>
                </a:solidFill>
                <a:latin typeface="PingFang SC"/>
                <a:ea typeface="PingFang SC"/>
                <a:cs typeface="PingFang SC"/>
              </a:rPr>
              <a:t>手动点击“只扫这条+AI复核”时，会把候选信号交给 LLM 判断含义；自动跟踪默认更保守。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FC160A20-1156-4C45-ABC7-F198D6AEE2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3390900"/>
            <a:ext cx="4629150" cy="1295400"/>
          </a:xfrm>
          <a:prstGeom xmlns:a="http://schemas.openxmlformats.org/drawingml/2006/main" prst="roundRect">
            <a:avLst>
              <a:gd name="adj" fmla="val 882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2E1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A1A55403-0BD9-430D-BD40-3FD96BFFEE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3390900"/>
            <a:ext cx="57150" cy="1295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9525">
            <a:solidFill>
              <a:srgbClr val="F59E0B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4E778856-D4C4-4007-A790-75CE13B2C8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3562350"/>
            <a:ext cx="4305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02A2A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>
                <a:solidFill>
                  <a:srgbClr val="102A2A"/>
                </a:solidFill>
                <a:latin typeface="PingFang SC"/>
                <a:ea typeface="PingFang SC"/>
                <a:cs typeface="PingFang SC"/>
              </a:rPr>
              <a:t>为什么不是全部丢给 LLM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C4C459FA-35F7-4C6F-B73D-DA63D612F3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3924300"/>
            <a:ext cx="43053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334155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334155"/>
                </a:solidFill>
                <a:latin typeface="PingFang SC"/>
                <a:ea typeface="PingFang SC"/>
                <a:cs typeface="PingFang SC"/>
              </a:rPr>
              <a:t>微信消息太密，全部高频送模型会慢、贵、噪声大。正确做法是规则层先筛，LLM 只判断候选。</a:t>
            </a:r>
          </a:p>
        </p:txBody>
      </p:sp>
    </p:spTree>
    <p:extLst>
      <p:ext uri="{BB962C8B-B14F-4D97-AF65-F5344CB8AC3E}">
        <p14:creationId xmlns:p14="http://schemas.microsoft.com/office/powerpoint/2010/main" val="1775781686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7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5A62461-94C0-4C13-A667-C383AAF12F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8150"/>
            <a:ext cx="8572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02A2A"/>
                </a:solidFill>
                <a:latin typeface="PingFang SC"/>
                <a:ea typeface="PingFang SC"/>
                <a:cs typeface="PingFang SC"/>
              </a:defRPr>
            </a:pPr>
            <a:r>
              <a:rPr sz="2700" b="1">
                <a:solidFill>
                  <a:srgbClr val="102A2A"/>
                </a:solidFill>
                <a:latin typeface="PingFang SC"/>
                <a:ea typeface="PingFang SC"/>
                <a:cs typeface="PingFang SC"/>
              </a:rPr>
              <a:t>Step 4：读懂一张待处理卡片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7987E71-963F-4978-8909-9AE548A423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933450"/>
            <a:ext cx="933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57477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657477"/>
                </a:solidFill>
                <a:latin typeface="PingFang SC"/>
                <a:ea typeface="PingFang SC"/>
                <a:cs typeface="PingFang SC"/>
              </a:rPr>
              <a:t>它只需要让你决定：确认、Ask 深挖，还是忽略。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6D759C1-0141-458A-80AC-E2F376F6AF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819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789090"/>
                </a:solidFill>
                <a:latin typeface="PingFang SC"/>
                <a:ea typeface="PingFang SC"/>
                <a:cs typeface="PingFang SC"/>
              </a:defRPr>
            </a:pPr>
            <a:r>
              <a:rPr sz="825" b="0">
                <a:solidFill>
                  <a:srgbClr val="789090"/>
                </a:solidFill>
                <a:latin typeface="PingFang SC"/>
                <a:ea typeface="PingFang SC"/>
                <a:cs typeface="PingFang SC"/>
              </a:rPr>
              <a:t>Research Cockpit Lite V2 新手操作教学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5C67B64-AE3D-4459-A41D-D47704FC39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62700"/>
            <a:ext cx="533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789090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789090"/>
                </a:solidFill>
                <a:latin typeface="PingFang SC"/>
                <a:ea typeface="PingFang SC"/>
                <a:cs typeface="PingFang SC"/>
              </a:rPr>
              <a:t>08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4AF451C-2EC3-4190-A80A-77C4ECD3C3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1428750"/>
            <a:ext cx="10401300" cy="3105150"/>
          </a:xfrm>
          <a:prstGeom xmlns:a="http://schemas.openxmlformats.org/drawingml/2006/main" prst="roundRect">
            <a:avLst>
              <a:gd name="adj" fmla="val 3681"/>
            </a:avLst>
          </a:prstGeom>
          <a:solidFill xmlns:a="http://schemas.openxmlformats.org/drawingml/2006/main">
            <a:srgbClr val="F4F9FF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825A491-ABF6-4766-9B28-1E70B82E4B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1714500"/>
            <a:ext cx="87630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D4ED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3D3C785-6103-4BEC-AC9E-F323121FB6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1762125"/>
            <a:ext cx="609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今日先手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44CCC1F-8ABA-4ABC-9913-AF020EBFB7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1714500"/>
            <a:ext cx="99060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EF3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42E86D3-3D48-4192-9904-84EBD5EF0C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1762125"/>
            <a:ext cx="7239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334155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334155"/>
                </a:solidFill>
                <a:latin typeface="PingFang SC"/>
                <a:ea typeface="PingFang SC"/>
                <a:cs typeface="PingFang SC"/>
              </a:rPr>
              <a:t>叙事扩散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819A61F-4EA0-4D11-B49E-A30C549DBD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1714500"/>
            <a:ext cx="99060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BCD21AB-9DCB-49EF-8935-879198961B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1762125"/>
            <a:ext cx="7239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D4ED8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1D4ED8"/>
                </a:solidFill>
                <a:latin typeface="PingFang SC"/>
                <a:ea typeface="PingFang SC"/>
                <a:cs typeface="PingFang SC"/>
              </a:rPr>
              <a:t>建议 Ask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8C2D92A-C488-4D0C-A1C3-74D68A3682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266950"/>
            <a:ext cx="5810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02A2A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102A2A"/>
                </a:solidFill>
                <a:latin typeface="PingFang SC"/>
                <a:ea typeface="PingFang SC"/>
                <a:cs typeface="PingFang SC"/>
              </a:rPr>
              <a:t>CPO增速放缓可能推动MPO连接器量价齐升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ECD9B22-0125-4D29-A319-82FEB05ED9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781300"/>
            <a:ext cx="857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D4ED8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1D4ED8"/>
                </a:solidFill>
                <a:latin typeface="PingFang SC"/>
                <a:ea typeface="PingFang SC"/>
                <a:cs typeface="PingFang SC"/>
              </a:rPr>
              <a:t>为什么重要：新增信息命中当前假设，但仍缺少订单、客户、价格和财务兑现证据。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05E4564-10AB-4F1F-8AA1-9AADEEE559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181350"/>
            <a:ext cx="857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334155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334155"/>
                </a:solidFill>
                <a:latin typeface="PingFang SC"/>
                <a:ea typeface="PingFang SC"/>
                <a:cs typeface="PingFang SC"/>
              </a:rPr>
              <a:t>影响假设：watching -&gt; watching（暂不升级，只加入核验清单）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65542E2-8555-41A9-8D94-D6A96AECE5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562350"/>
            <a:ext cx="857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334155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334155"/>
                </a:solidFill>
                <a:latin typeface="PingFang SC"/>
                <a:ea typeface="PingFang SC"/>
                <a:cs typeface="PingFang SC"/>
              </a:rPr>
              <a:t>现在动作：先点 Ask 深挖，看关联股票、最直接受益、利好排序和来源。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A47FA2C-C20E-4130-A392-AAD45402A7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1733550"/>
            <a:ext cx="14287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2E1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16776EE-270D-41CE-A16C-771A461845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1847850"/>
            <a:ext cx="838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02A2A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102A2A"/>
                </a:solidFill>
                <a:latin typeface="PingFang SC"/>
                <a:ea typeface="PingFang SC"/>
                <a:cs typeface="PingFang SC"/>
              </a:rPr>
              <a:t>Ask 深挖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29FE7D7-CB60-458E-B722-08977D917F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2305050"/>
            <a:ext cx="14287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2E1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8997F92-7488-4342-B447-1C9A659D28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2650" y="2419350"/>
            <a:ext cx="552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6A34A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16A34A"/>
                </a:solidFill>
                <a:latin typeface="PingFang SC"/>
                <a:ea typeface="PingFang SC"/>
                <a:cs typeface="PingFang SC"/>
              </a:rPr>
              <a:t>确认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3FB4932-17FE-46F7-BF7F-95CBA21770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2876550"/>
            <a:ext cx="14287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2E1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5E25C4F-3206-4C87-BEFF-810BA704E4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2650" y="2990850"/>
            <a:ext cx="552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657477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657477"/>
                </a:solidFill>
                <a:latin typeface="PingFang SC"/>
                <a:ea typeface="PingFang SC"/>
                <a:cs typeface="PingFang SC"/>
              </a:rPr>
              <a:t>忽略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2BB9E20-C6BB-442A-B8DC-53D10912DC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5067300"/>
            <a:ext cx="96774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02A2A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102A2A"/>
                </a:solidFill>
                <a:latin typeface="PingFang SC"/>
                <a:ea typeface="PingFang SC"/>
                <a:cs typeface="PingFang SC"/>
              </a:rPr>
              <a:t>卡片里不要默认展示长缺口清单；只用一句话讲清：它现在是新催化、二次确认、市场反馈，还是反证。</a:t>
            </a:r>
          </a:p>
        </p:txBody>
      </p:sp>
    </p:spTree>
    <p:extLst>
      <p:ext uri="{BB962C8B-B14F-4D97-AF65-F5344CB8AC3E}">
        <p14:creationId xmlns:p14="http://schemas.microsoft.com/office/powerpoint/2010/main" val="560271402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7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D974045-A362-4836-8B5C-294472A501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8150"/>
            <a:ext cx="8572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02A2A"/>
                </a:solidFill>
                <a:latin typeface="PingFang SC"/>
                <a:ea typeface="PingFang SC"/>
                <a:cs typeface="PingFang SC"/>
              </a:defRPr>
            </a:pPr>
            <a:r>
              <a:rPr sz="2700" b="1">
                <a:solidFill>
                  <a:srgbClr val="102A2A"/>
                </a:solidFill>
                <a:latin typeface="PingFang SC"/>
                <a:ea typeface="PingFang SC"/>
                <a:cs typeface="PingFang SC"/>
              </a:rPr>
              <a:t>Step 5：三按钮决策树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8C8FD97-C88A-4D7B-A738-C1363F5853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933450"/>
            <a:ext cx="933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57477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657477"/>
                </a:solidFill>
                <a:latin typeface="PingFang SC"/>
                <a:ea typeface="PingFang SC"/>
                <a:cs typeface="PingFang SC"/>
              </a:rPr>
              <a:t>不要在一张卡里做所有事。每次只做一个小判断。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DAC0A2C-665B-4E16-AB9A-591E404DCC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819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789090"/>
                </a:solidFill>
                <a:latin typeface="PingFang SC"/>
                <a:ea typeface="PingFang SC"/>
                <a:cs typeface="PingFang SC"/>
              </a:defRPr>
            </a:pPr>
            <a:r>
              <a:rPr sz="825" b="0">
                <a:solidFill>
                  <a:srgbClr val="789090"/>
                </a:solidFill>
                <a:latin typeface="PingFang SC"/>
                <a:ea typeface="PingFang SC"/>
                <a:cs typeface="PingFang SC"/>
              </a:rPr>
              <a:t>Research Cockpit Lite V2 新手操作教学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6942871-EF4C-46D8-8B52-1408F75403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62700"/>
            <a:ext cx="533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789090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789090"/>
                </a:solidFill>
                <a:latin typeface="PingFang SC"/>
                <a:ea typeface="PingFang SC"/>
                <a:cs typeface="PingFang SC"/>
              </a:rPr>
              <a:t>09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64B198F-B83E-4029-9F85-6520C05E2D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524000"/>
            <a:ext cx="3143250" cy="1466850"/>
          </a:xfrm>
          <a:prstGeom xmlns:a="http://schemas.openxmlformats.org/drawingml/2006/main" prst="roundRect">
            <a:avLst>
              <a:gd name="adj" fmla="val 779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2E1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F4B9017-1C4D-43B1-8206-6A92C10E6A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69545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A34A"/>
          </a:solidFill>
          <a:ln xmlns:a="http://schemas.openxmlformats.org/drawingml/2006/main" w="9525">
            <a:solidFill>
              <a:srgbClr val="16A34A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4A6CDA2-48C9-4BBC-8046-95BF8302D3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762125"/>
            <a:ext cx="361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524FC90-023D-4B97-9983-F80E708135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1695450"/>
            <a:ext cx="2324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02A2A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>
                <a:solidFill>
                  <a:srgbClr val="102A2A"/>
                </a:solidFill>
                <a:latin typeface="PingFang SC"/>
                <a:ea typeface="PingFang SC"/>
                <a:cs typeface="PingFang SC"/>
              </a:rPr>
              <a:t>确认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EC7844D-0D3B-48AC-A10D-D187DC3947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2038350"/>
            <a:ext cx="23050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334155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334155"/>
                </a:solidFill>
                <a:latin typeface="PingFang SC"/>
                <a:ea typeface="PingFang SC"/>
                <a:cs typeface="PingFang SC"/>
              </a:rPr>
              <a:t>当你认为信号足以改变状态，例如 watching -&gt; strengthening。确认后才写入假设 JSON 和事件。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53E2463-8932-47BA-A44B-3132741FB4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1524000"/>
            <a:ext cx="3143250" cy="1466850"/>
          </a:xfrm>
          <a:prstGeom xmlns:a="http://schemas.openxmlformats.org/drawingml/2006/main" prst="roundRect">
            <a:avLst>
              <a:gd name="adj" fmla="val 779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2E1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C89AE98-AE73-4E78-AC7B-41D6ADC259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169545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D4ED8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48F48A9-0522-4E90-8D2F-146127EC91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1762125"/>
            <a:ext cx="361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5EF1F37-E1AA-4F7A-B49F-419853E3C9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695450"/>
            <a:ext cx="2324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02A2A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>
                <a:solidFill>
                  <a:srgbClr val="102A2A"/>
                </a:solidFill>
                <a:latin typeface="PingFang SC"/>
                <a:ea typeface="PingFang SC"/>
                <a:cs typeface="PingFang SC"/>
              </a:rPr>
              <a:t>Ask 深挖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CDB0336-A80C-4CDE-8A30-BEB6049DF9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2038350"/>
            <a:ext cx="23050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334155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334155"/>
                </a:solidFill>
                <a:latin typeface="PingFang SC"/>
                <a:ea typeface="PingFang SC"/>
                <a:cs typeface="PingFang SC"/>
              </a:rPr>
              <a:t>当你不知道受益股票、排序、交易阶段或证据来源时点它。它会调用 ask --agentic。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225415E-B109-42B4-8436-62EDC6A558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1524000"/>
            <a:ext cx="3143250" cy="1466850"/>
          </a:xfrm>
          <a:prstGeom xmlns:a="http://schemas.openxmlformats.org/drawingml/2006/main" prst="roundRect">
            <a:avLst>
              <a:gd name="adj" fmla="val 779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2E1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ACD7E11-FDB9-4F4A-84ED-82819DAAE5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169545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34155"/>
          </a:solidFill>
          <a:ln xmlns:a="http://schemas.openxmlformats.org/drawingml/2006/main" w="9525">
            <a:solidFill>
              <a:srgbClr val="334155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802C561-04CB-48DF-8A00-B741D3B350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1762125"/>
            <a:ext cx="361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2F44EFA-5285-4994-901C-81D3C794C8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1695450"/>
            <a:ext cx="2324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02A2A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>
                <a:solidFill>
                  <a:srgbClr val="102A2A"/>
                </a:solidFill>
                <a:latin typeface="PingFang SC"/>
                <a:ea typeface="PingFang SC"/>
                <a:cs typeface="PingFang SC"/>
              </a:rPr>
              <a:t>忽略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551706E-9232-4C49-BBB1-BB7452632D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2038350"/>
            <a:ext cx="23050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334155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334155"/>
                </a:solidFill>
                <a:latin typeface="PingFang SC"/>
                <a:ea typeface="PingFang SC"/>
                <a:cs typeface="PingFang SC"/>
              </a:rPr>
              <a:t>当它只是重复情绪、弱相关、日期标题或泛泛热词。本轮隐藏，不污染假设记忆。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A512E40-0728-43A2-B924-49232A227D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000500"/>
            <a:ext cx="2409825" cy="99060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2E1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946E519-1934-4FEF-8157-A1E8F33CAB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133850"/>
            <a:ext cx="21812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02A2A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102A2A"/>
                </a:solidFill>
                <a:latin typeface="PingFang SC"/>
                <a:ea typeface="PingFang SC"/>
                <a:cs typeface="PingFang SC"/>
              </a:rPr>
              <a:t>新催化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8B64850-2C7F-44B6-85DB-5E0F337E69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419600"/>
            <a:ext cx="218122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334155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334155"/>
                </a:solidFill>
                <a:latin typeface="PingFang SC"/>
                <a:ea typeface="PingFang SC"/>
                <a:cs typeface="PingFang SC"/>
              </a:rPr>
              <a:t>可能进入 strengthening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730C2F9-CBFB-4D19-B64F-B6A567882B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33775" y="4476750"/>
            <a:ext cx="762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A97B42C-7802-44DB-9956-FD6A224858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4000500"/>
            <a:ext cx="2409825" cy="99060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2E1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99140FD-97BE-4DB1-B6B9-E6A4FBE1F4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43325" y="4133850"/>
            <a:ext cx="21812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02A2A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102A2A"/>
                </a:solidFill>
                <a:latin typeface="PingFang SC"/>
                <a:ea typeface="PingFang SC"/>
                <a:cs typeface="PingFang SC"/>
              </a:rPr>
              <a:t>二次确认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1D92AF2-68F9-4770-80FC-4E020A2C0B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43325" y="4419600"/>
            <a:ext cx="218122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334155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334155"/>
                </a:solidFill>
                <a:latin typeface="PingFang SC"/>
                <a:ea typeface="PingFang SC"/>
                <a:cs typeface="PingFang SC"/>
              </a:rPr>
              <a:t>提高优先级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B6AD15A-73CC-434B-AD87-C42EF7A4F3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4476750"/>
            <a:ext cx="762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AA2457A-BB62-48EB-8C78-D863682204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4000500"/>
            <a:ext cx="2409825" cy="99060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2E1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943D39E-248A-4665-A66D-46ECEFFF25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4133850"/>
            <a:ext cx="21812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02A2A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102A2A"/>
                </a:solidFill>
                <a:latin typeface="PingFang SC"/>
                <a:ea typeface="PingFang SC"/>
                <a:cs typeface="PingFang SC"/>
              </a:rPr>
              <a:t>市场反馈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17B046A-9CF0-444E-8857-0C408D8FFE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4419600"/>
            <a:ext cx="218122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334155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334155"/>
                </a:solidFill>
                <a:latin typeface="PingFang SC"/>
                <a:ea typeface="PingFang SC"/>
                <a:cs typeface="PingFang SC"/>
              </a:rPr>
              <a:t>警惕 priced-in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C0B5178E-F298-4467-83B2-A5662BBE54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82025" y="4476750"/>
            <a:ext cx="762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03294B76-49C7-43DE-8B5E-1FEFCA8DC7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77275" y="4000500"/>
            <a:ext cx="2409825" cy="99060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2E1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E2CDF3FF-3AAB-4B1E-B517-D524E283B4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91575" y="4133850"/>
            <a:ext cx="21812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02A2A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102A2A"/>
                </a:solidFill>
                <a:latin typeface="PingFang SC"/>
                <a:ea typeface="PingFang SC"/>
                <a:cs typeface="PingFang SC"/>
              </a:rPr>
              <a:t>反证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214BFDEE-6125-4A1D-A9FD-BD8CA226F9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91575" y="4419600"/>
            <a:ext cx="218122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334155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334155"/>
                </a:solidFill>
                <a:latin typeface="PingFang SC"/>
                <a:ea typeface="PingFang SC"/>
                <a:cs typeface="PingFang SC"/>
              </a:rPr>
              <a:t>可能 divergent / disconfirmed</a:t>
            </a:r>
          </a:p>
        </p:txBody>
      </p:sp>
    </p:spTree>
    <p:extLst>
      <p:ext uri="{BB962C8B-B14F-4D97-AF65-F5344CB8AC3E}">
        <p14:creationId xmlns:p14="http://schemas.microsoft.com/office/powerpoint/2010/main" val="1763293762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7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C3F4137-E408-4F11-B4A2-83FEAC1C0E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8150"/>
            <a:ext cx="8572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02A2A"/>
                </a:solidFill>
                <a:latin typeface="PingFang SC"/>
                <a:ea typeface="PingFang SC"/>
                <a:cs typeface="PingFang SC"/>
              </a:defRPr>
            </a:pPr>
            <a:r>
              <a:rPr sz="2700" b="1">
                <a:solidFill>
                  <a:srgbClr val="102A2A"/>
                </a:solidFill>
                <a:latin typeface="PingFang SC"/>
                <a:ea typeface="PingFang SC"/>
                <a:cs typeface="PingFang SC"/>
              </a:rPr>
              <a:t>Step 6：Ask 深挖的回答显示在哪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2C5D690-71BB-42AE-B0D9-8CE538401B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933450"/>
            <a:ext cx="933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57477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657477"/>
                </a:solidFill>
                <a:latin typeface="PingFang SC"/>
                <a:ea typeface="PingFang SC"/>
                <a:cs typeface="PingFang SC"/>
              </a:rPr>
              <a:t>点 Ask 后不要去别处找，回答就在同一个工作台的“3. Ask 深挖结果”。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A1938B2-68DA-4EB0-85FF-7AFD6AD04E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819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789090"/>
                </a:solidFill>
                <a:latin typeface="PingFang SC"/>
                <a:ea typeface="PingFang SC"/>
                <a:cs typeface="PingFang SC"/>
              </a:defRPr>
            </a:pPr>
            <a:r>
              <a:rPr sz="825" b="0">
                <a:solidFill>
                  <a:srgbClr val="789090"/>
                </a:solidFill>
                <a:latin typeface="PingFang SC"/>
                <a:ea typeface="PingFang SC"/>
                <a:cs typeface="PingFang SC"/>
              </a:rPr>
              <a:t>Research Cockpit Lite V2 新手操作教学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8D0C7CC-3FB4-44C7-A5F2-D143D29252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62700"/>
            <a:ext cx="533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789090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789090"/>
                </a:solidFill>
                <a:latin typeface="PingFang SC"/>
                <a:ea typeface="PingFang SC"/>
                <a:cs typeface="PingFang SC"/>
              </a:rPr>
              <a:t>10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02EAEFE-4478-4C71-9425-7AD65F60BE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333500"/>
            <a:ext cx="10706100" cy="3676650"/>
          </a:xfrm>
          <a:prstGeom xmlns:a="http://schemas.openxmlformats.org/drawingml/2006/main" prst="roundRect">
            <a:avLst>
              <a:gd name="adj" fmla="val 310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2E1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523D3E0-0CC7-4C78-9AF0-3991849C0D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619250"/>
            <a:ext cx="4000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02A2A"/>
                </a:solidFill>
                <a:latin typeface="PingFang SC"/>
                <a:ea typeface="PingFang SC"/>
                <a:cs typeface="PingFang SC"/>
              </a:defRPr>
            </a:pPr>
            <a:r>
              <a:rPr sz="2100" b="1">
                <a:solidFill>
                  <a:srgbClr val="102A2A"/>
                </a:solidFill>
                <a:latin typeface="PingFang SC"/>
                <a:ea typeface="PingFang SC"/>
                <a:cs typeface="PingFang SC"/>
              </a:rPr>
              <a:t>3. Ask 深挖结果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A9FD800-DAA3-4165-8380-A6E1317DCF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133600"/>
            <a:ext cx="3048000" cy="781050"/>
          </a:xfrm>
          <a:prstGeom xmlns:a="http://schemas.openxmlformats.org/drawingml/2006/main" prst="roundRect">
            <a:avLst>
              <a:gd name="adj" fmla="val 1463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2E1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411310F-EDF9-4494-B5D6-AE06569622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133600"/>
            <a:ext cx="571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9525">
            <a:solidFill>
              <a:srgbClr val="F59E0B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B98FB98-C0E9-4182-84BC-605C376CEB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2305050"/>
            <a:ext cx="2724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02A2A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>
                <a:solidFill>
                  <a:srgbClr val="102A2A"/>
                </a:solidFill>
                <a:latin typeface="PingFang SC"/>
                <a:ea typeface="PingFang SC"/>
                <a:cs typeface="PingFang SC"/>
              </a:rPr>
              <a:t>Ask 决策快照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E8B1D5D-33C0-4430-83E3-737ED599A4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2667000"/>
            <a:ext cx="27241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334155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334155"/>
                </a:solidFill>
                <a:latin typeface="PingFang SC"/>
                <a:ea typeface="PingFang SC"/>
                <a:cs typeface="PingFang SC"/>
              </a:rPr>
              <a:t>先补证据，再谈排序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8345535-40B2-4AB8-8EBE-7F2700DC03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2133600"/>
            <a:ext cx="3048000" cy="781050"/>
          </a:xfrm>
          <a:prstGeom xmlns:a="http://schemas.openxmlformats.org/drawingml/2006/main" prst="roundRect">
            <a:avLst>
              <a:gd name="adj" fmla="val 1463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2E1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18A0EE7-CD91-484D-B76D-274BD40009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2133600"/>
            <a:ext cx="571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4ED8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D7D1866-5B9A-4508-B094-62EDE2B6A8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2305050"/>
            <a:ext cx="2724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02A2A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>
                <a:solidFill>
                  <a:srgbClr val="102A2A"/>
                </a:solidFill>
                <a:latin typeface="PingFang SC"/>
                <a:ea typeface="PingFang SC"/>
                <a:cs typeface="PingFang SC"/>
              </a:rPr>
              <a:t>先看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3CD5D95-D0B8-4FFA-A46F-99379CF830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2667000"/>
            <a:ext cx="27241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334155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334155"/>
                </a:solidFill>
                <a:latin typeface="PingFang SC"/>
                <a:ea typeface="PingFang SC"/>
                <a:cs typeface="PingFang SC"/>
              </a:rPr>
              <a:t>等待 Ask 摘要 / 结构化摘要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827C281-98C5-43C4-A757-59ABD235B1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133600"/>
            <a:ext cx="3048000" cy="781050"/>
          </a:xfrm>
          <a:prstGeom xmlns:a="http://schemas.openxmlformats.org/drawingml/2006/main" prst="roundRect">
            <a:avLst>
              <a:gd name="adj" fmla="val 1463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2E1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0CDA4D3-F6E4-4EE2-A83A-0560BBE0DC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133600"/>
            <a:ext cx="571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2626"/>
          </a:solidFill>
          <a:ln xmlns:a="http://schemas.openxmlformats.org/drawingml/2006/main" w="9525">
            <a:solidFill>
              <a:srgbClr val="DC2626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6E8BEC3-5440-4226-8D1E-AF0753056A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305050"/>
            <a:ext cx="2724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02A2A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>
                <a:solidFill>
                  <a:srgbClr val="102A2A"/>
                </a:solidFill>
                <a:latin typeface="PingFang SC"/>
                <a:ea typeface="PingFang SC"/>
                <a:cs typeface="PingFang SC"/>
              </a:rPr>
              <a:t>缺口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A65FE37-F741-42FC-9BB8-94D1295280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667000"/>
            <a:ext cx="27241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334155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334155"/>
                </a:solidFill>
                <a:latin typeface="PingFang SC"/>
                <a:ea typeface="PingFang SC"/>
                <a:cs typeface="PingFang SC"/>
              </a:rPr>
              <a:t>订单、客户、ASP、财报兑现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D6FD33E-963C-40E6-AB11-E8245801CF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200400"/>
            <a:ext cx="2171700" cy="762000"/>
          </a:xfrm>
          <a:prstGeom xmlns:a="http://schemas.openxmlformats.org/drawingml/2006/main" prst="roundRect">
            <a:avLst>
              <a:gd name="adj" fmla="val 15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2E1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7520501-0272-4280-9935-42FAF919BF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200400"/>
            <a:ext cx="5715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4ED8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531F801-7323-420F-BCB5-4BC60D611E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3371850"/>
            <a:ext cx="18478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02A2A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>
                <a:solidFill>
                  <a:srgbClr val="102A2A"/>
                </a:solidFill>
                <a:latin typeface="PingFang SC"/>
                <a:ea typeface="PingFang SC"/>
                <a:cs typeface="PingFang SC"/>
              </a:rPr>
              <a:t>关联股票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A5EEBEF-3C0A-4B6A-A085-5FFB348FB2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3733800"/>
            <a:ext cx="18478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334155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334155"/>
                </a:solidFill>
                <a:latin typeface="PingFang SC"/>
                <a:ea typeface="PingFang SC"/>
                <a:cs typeface="PingFang SC"/>
              </a:rPr>
              <a:t>见下方六段回答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1342774-6319-4360-B905-5D804A110B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3200400"/>
            <a:ext cx="2171700" cy="762000"/>
          </a:xfrm>
          <a:prstGeom xmlns:a="http://schemas.openxmlformats.org/drawingml/2006/main" prst="roundRect">
            <a:avLst>
              <a:gd name="adj" fmla="val 15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2E1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6517F72-BF15-4CE5-869F-DCD3ECE974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3200400"/>
            <a:ext cx="5715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1E06EA7-1947-4E29-862A-BAD18BC40E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3371850"/>
            <a:ext cx="18478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02A2A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>
                <a:solidFill>
                  <a:srgbClr val="102A2A"/>
                </a:solidFill>
                <a:latin typeface="PingFang SC"/>
                <a:ea typeface="PingFang SC"/>
                <a:cs typeface="PingFang SC"/>
              </a:rPr>
              <a:t>最直接受益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65D98B8-1D17-461B-B8CA-2ACA782AA2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3733800"/>
            <a:ext cx="18478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334155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334155"/>
                </a:solidFill>
                <a:latin typeface="PingFang SC"/>
                <a:ea typeface="PingFang SC"/>
                <a:cs typeface="PingFang SC"/>
              </a:rPr>
              <a:t>待人工确认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B78B95B-C9F1-4F80-8E5D-0ADA4CC4BF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3200400"/>
            <a:ext cx="2171700" cy="762000"/>
          </a:xfrm>
          <a:prstGeom xmlns:a="http://schemas.openxmlformats.org/drawingml/2006/main" prst="roundRect">
            <a:avLst>
              <a:gd name="adj" fmla="val 15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2E1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AADF5E4-50D7-448C-8130-16AF3E51B2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3200400"/>
            <a:ext cx="5715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A34A"/>
          </a:solidFill>
          <a:ln xmlns:a="http://schemas.openxmlformats.org/drawingml/2006/main" w="9525">
            <a:solidFill>
              <a:srgbClr val="16A34A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CA81434-8FBB-47E4-A655-913DAB54FB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3371850"/>
            <a:ext cx="18478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02A2A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>
                <a:solidFill>
                  <a:srgbClr val="102A2A"/>
                </a:solidFill>
                <a:latin typeface="PingFang SC"/>
                <a:ea typeface="PingFang SC"/>
                <a:cs typeface="PingFang SC"/>
              </a:rPr>
              <a:t>利好排序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7A52036-B670-405E-8457-8D6D647A55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3733800"/>
            <a:ext cx="18478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334155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334155"/>
                </a:solidFill>
                <a:latin typeface="PingFang SC"/>
                <a:ea typeface="PingFang SC"/>
                <a:cs typeface="PingFang SC"/>
              </a:rPr>
              <a:t>待人工确认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DA75288-2216-48B5-A7E9-68C826A63C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200400"/>
            <a:ext cx="2171700" cy="762000"/>
          </a:xfrm>
          <a:prstGeom xmlns:a="http://schemas.openxmlformats.org/drawingml/2006/main" prst="roundRect">
            <a:avLst>
              <a:gd name="adj" fmla="val 15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2E1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9A5E9110-507C-4371-A07D-22EFBAF9A6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200400"/>
            <a:ext cx="5715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C3AED"/>
          </a:solidFill>
          <a:ln xmlns:a="http://schemas.openxmlformats.org/drawingml/2006/main" w="9525">
            <a:solidFill>
              <a:srgbClr val="7C3AED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EB42252D-920A-49DB-97B7-F80760278C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371850"/>
            <a:ext cx="18478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02A2A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>
                <a:solidFill>
                  <a:srgbClr val="102A2A"/>
                </a:solidFill>
                <a:latin typeface="PingFang SC"/>
                <a:ea typeface="PingFang SC"/>
                <a:cs typeface="PingFang SC"/>
              </a:rPr>
              <a:t>一句话结论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4453B3FA-0F23-49E2-87E4-333F2C634E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733800"/>
            <a:ext cx="18478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334155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334155"/>
                </a:solidFill>
                <a:latin typeface="PingFang SC"/>
                <a:ea typeface="PingFang SC"/>
                <a:cs typeface="PingFang SC"/>
              </a:rPr>
              <a:t>先看完整回答和来源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EDD9D707-E148-4A96-9BE6-9F7807BF36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229100"/>
            <a:ext cx="651510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EEF3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A9E5D521-240C-47A4-9AAB-0CE18915B5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4324350"/>
            <a:ext cx="438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334155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334155"/>
                </a:solidFill>
                <a:latin typeface="PingFang SC"/>
                <a:ea typeface="PingFang SC"/>
                <a:cs typeface="PingFang SC"/>
              </a:rPr>
              <a:t>展开完整六段回答 / 关联股票 / 利好排序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6D88A1E6-6ABB-4B30-BEAE-DFE1FBE2DA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5353050"/>
            <a:ext cx="96964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02A2A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>
                <a:solidFill>
                  <a:srgbClr val="102A2A"/>
                </a:solidFill>
                <a:latin typeface="PingFang SC"/>
                <a:ea typeface="PingFang SC"/>
                <a:cs typeface="PingFang SC"/>
              </a:rPr>
              <a:t>如果只看到“等待 Ask 摘要”，说明任务还在跑；如果提示“有来源但无回答”，需要重试或把问题缩窄。</a:t>
            </a:r>
          </a:p>
        </p:txBody>
      </p:sp>
    </p:spTree>
    <p:extLst>
      <p:ext uri="{BB962C8B-B14F-4D97-AF65-F5344CB8AC3E}">
        <p14:creationId xmlns:p14="http://schemas.microsoft.com/office/powerpoint/2010/main" val="56470422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7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DA3B181-2E15-4803-975D-79DCA8B958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8150"/>
            <a:ext cx="8572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02A2A"/>
                </a:solidFill>
                <a:latin typeface="PingFang SC"/>
                <a:ea typeface="PingFang SC"/>
                <a:cs typeface="PingFang SC"/>
              </a:defRPr>
            </a:pPr>
            <a:r>
              <a:rPr sz="2700" b="1">
                <a:solidFill>
                  <a:srgbClr val="102A2A"/>
                </a:solidFill>
                <a:latin typeface="PingFang SC"/>
                <a:ea typeface="PingFang SC"/>
                <a:cs typeface="PingFang SC"/>
              </a:rPr>
              <a:t>真实示例：CPO 放缓 -&gt; MPO 量价齐升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969E4B6-BA64-426D-96DD-E42161D999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933450"/>
            <a:ext cx="933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57477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657477"/>
                </a:solidFill>
                <a:latin typeface="PingFang SC"/>
                <a:ea typeface="PingFang SC"/>
                <a:cs typeface="PingFang SC"/>
              </a:rPr>
              <a:t>这条假设适合跟踪，但还不能直接当作已验证结论。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6E4FF30-32F6-4123-B4D4-A90ADFC1C2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819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789090"/>
                </a:solidFill>
                <a:latin typeface="PingFang SC"/>
                <a:ea typeface="PingFang SC"/>
                <a:cs typeface="PingFang SC"/>
              </a:defRPr>
            </a:pPr>
            <a:r>
              <a:rPr sz="825" b="0">
                <a:solidFill>
                  <a:srgbClr val="789090"/>
                </a:solidFill>
                <a:latin typeface="PingFang SC"/>
                <a:ea typeface="PingFang SC"/>
                <a:cs typeface="PingFang SC"/>
              </a:rPr>
              <a:t>Research Cockpit Lite V2 新手操作教学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C60E1F3-29A0-49D9-B83F-A18003EA19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62700"/>
            <a:ext cx="533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789090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789090"/>
                </a:solidFill>
                <a:latin typeface="PingFang SC"/>
                <a:ea typeface="PingFang SC"/>
                <a:cs typeface="PingFang SC"/>
              </a:rPr>
              <a:t>11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02D65EB-96E8-4175-BA38-CF706697F2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71600"/>
            <a:ext cx="3333750" cy="14287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2E1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B4163F1-B99A-4470-804E-DE86A7C4D0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71600"/>
            <a:ext cx="5715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4ED8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E1326CA-36D6-4676-BB7A-0D6494111A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543050"/>
            <a:ext cx="3009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02A2A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>
                <a:solidFill>
                  <a:srgbClr val="102A2A"/>
                </a:solidFill>
                <a:latin typeface="PingFang SC"/>
                <a:ea typeface="PingFang SC"/>
                <a:cs typeface="PingFang SC"/>
              </a:rPr>
              <a:t>1 选中假设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597DA4B-E784-4F2F-BBD5-1E865EC013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905000"/>
            <a:ext cx="30099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334155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334155"/>
                </a:solidFill>
                <a:latin typeface="PingFang SC"/>
                <a:ea typeface="PingFang SC"/>
                <a:cs typeface="PingFang SC"/>
              </a:rPr>
              <a:t>CPO增速放缓可能推动MPO连接器量价齐升。</a:t>
            </a:r>
          </a:p>
          <a:p xmlns:a="http://schemas.openxmlformats.org/drawingml/2006/main">
            <a:pPr algn="l">
              <a:defRPr sz="1200" b="0">
                <a:solidFill>
                  <a:srgbClr val="334155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334155"/>
                </a:solidFill>
                <a:latin typeface="PingFang SC"/>
                <a:ea typeface="PingFang SC"/>
                <a:cs typeface="PingFang SC"/>
              </a:rPr>
              <a:t>状态：watching。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F8820A0-4015-4016-A504-EA0C42FCD6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1371600"/>
            <a:ext cx="3333750" cy="14287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2E1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0FABBF4-DC4A-4A57-AA40-3155EB73D8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1371600"/>
            <a:ext cx="5715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9525">
            <a:solidFill>
              <a:srgbClr val="F59E0B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E992AFD-C596-4AC5-92D5-1CEA986D81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1543050"/>
            <a:ext cx="3009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02A2A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>
                <a:solidFill>
                  <a:srgbClr val="102A2A"/>
                </a:solidFill>
                <a:latin typeface="PingFang SC"/>
                <a:ea typeface="PingFang SC"/>
                <a:cs typeface="PingFang SC"/>
              </a:rPr>
              <a:t>2 扫微信新增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AA8E7D7-CF53-46E2-9A9C-38E020BCDC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1905000"/>
            <a:ext cx="30099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334155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334155"/>
                </a:solidFill>
                <a:latin typeface="PingFang SC"/>
                <a:ea typeface="PingFang SC"/>
                <a:cs typeface="PingFang SC"/>
              </a:rPr>
              <a:t>新增消息命中该假设，但系统判断仍需结合证据缺口。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E80871F-0073-4B44-BA80-B65201F5D0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1371600"/>
            <a:ext cx="3333750" cy="14287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2E1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82BDCDC-993E-4D1E-9AB6-FFD1E9FBE5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1371600"/>
            <a:ext cx="5715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A34A"/>
          </a:solidFill>
          <a:ln xmlns:a="http://schemas.openxmlformats.org/drawingml/2006/main" w="9525">
            <a:solidFill>
              <a:srgbClr val="16A34A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DE5FD12-300B-446E-AA51-37A5BB9F3F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1543050"/>
            <a:ext cx="3009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02A2A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>
                <a:solidFill>
                  <a:srgbClr val="102A2A"/>
                </a:solidFill>
                <a:latin typeface="PingFang SC"/>
                <a:ea typeface="PingFang SC"/>
                <a:cs typeface="PingFang SC"/>
              </a:rPr>
              <a:t>3 Ask 深挖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ED0C03B-AD34-4EC0-91A8-239333E372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1905000"/>
            <a:ext cx="30099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334155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334155"/>
                </a:solidFill>
                <a:latin typeface="PingFang SC"/>
                <a:ea typeface="PingFang SC"/>
                <a:cs typeface="PingFang SC"/>
              </a:rPr>
              <a:t>先扩展到关联股票、受益链条、市场反馈，再判断是否升级。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771B984-57EB-4FC9-ABE2-B7D779C8AC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37185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02A2A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102A2A"/>
                </a:solidFill>
                <a:latin typeface="PingFang SC"/>
                <a:ea typeface="PingFang SC"/>
                <a:cs typeface="PingFang SC"/>
              </a:rPr>
              <a:t>Ask 核心输出示例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90ABC26-7D7E-4772-963D-F6FA6ECCAF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790950"/>
            <a:ext cx="2381250" cy="97155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2E1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ADEE96D-F13E-45CC-AF54-8BB8EBCCB3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790950"/>
            <a:ext cx="57150" cy="971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4ED8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49ADCEC-D481-4E0D-8688-31192A3E46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962400"/>
            <a:ext cx="2057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02A2A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>
                <a:solidFill>
                  <a:srgbClr val="102A2A"/>
                </a:solidFill>
                <a:latin typeface="PingFang SC"/>
                <a:ea typeface="PingFang SC"/>
                <a:cs typeface="PingFang SC"/>
              </a:rPr>
              <a:t>关联股票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7BA288C-CC0A-4FCD-9038-1757D09581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324350"/>
            <a:ext cx="20574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334155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334155"/>
                </a:solidFill>
                <a:latin typeface="PingFang SC"/>
                <a:ea typeface="PingFang SC"/>
                <a:cs typeface="PingFang SC"/>
              </a:rPr>
              <a:t>唯特偶、立讯精密；扩展：联特科技、东山精密、精研科技、通富微电。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E54DE87-9245-4426-9790-E7A4D43651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3790950"/>
            <a:ext cx="2381250" cy="97155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2E1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23565D6-D898-4069-B094-E83E373DB7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3790950"/>
            <a:ext cx="57150" cy="971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A6358F5-F911-49DA-880A-AC14DD4441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3962400"/>
            <a:ext cx="2057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02A2A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>
                <a:solidFill>
                  <a:srgbClr val="102A2A"/>
                </a:solidFill>
                <a:latin typeface="PingFang SC"/>
                <a:ea typeface="PingFang SC"/>
                <a:cs typeface="PingFang SC"/>
              </a:rPr>
              <a:t>市场反馈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31C573C-B338-4FB1-8C04-E1217AE718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4324350"/>
            <a:ext cx="20574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334155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334155"/>
                </a:solidFill>
                <a:latin typeface="PingFang SC"/>
                <a:ea typeface="PingFang SC"/>
                <a:cs typeface="PingFang SC"/>
              </a:rPr>
              <a:t>唯特偶阶段涨幅强，但量能未持续放大；立讯精密反馈较弱。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4F0ABD5-ABD0-4003-8C7B-A4308CCF27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3790950"/>
            <a:ext cx="2381250" cy="97155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2E1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88D1FCF-BD29-40E8-86A0-98F7004AC5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3790950"/>
            <a:ext cx="57150" cy="971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9525">
            <a:solidFill>
              <a:srgbClr val="F59E0B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98B4719-A183-48FC-B687-8B34465C28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962400"/>
            <a:ext cx="2057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02A2A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>
                <a:solidFill>
                  <a:srgbClr val="102A2A"/>
                </a:solidFill>
                <a:latin typeface="PingFang SC"/>
                <a:ea typeface="PingFang SC"/>
                <a:cs typeface="PingFang SC"/>
              </a:rPr>
              <a:t>最大缺口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2EBB886-DAB9-4084-8674-94F4DE8E09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324350"/>
            <a:ext cx="20574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334155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334155"/>
                </a:solidFill>
                <a:latin typeface="PingFang SC"/>
                <a:ea typeface="PingFang SC"/>
                <a:cs typeface="PingFang SC"/>
              </a:rPr>
              <a:t>缺 MPO/MTP 订单、涨价、客户料号、交付和财务确认。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9EEBC30-4E76-4583-A94F-4D8D75116F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3790950"/>
            <a:ext cx="2381250" cy="97155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2E1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69EC759-4F38-44D3-AF73-B9F63A4EC9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3790950"/>
            <a:ext cx="57150" cy="971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2626"/>
          </a:solidFill>
          <a:ln xmlns:a="http://schemas.openxmlformats.org/drawingml/2006/main" w="9525">
            <a:solidFill>
              <a:srgbClr val="DC2626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E0A3832C-A23A-4095-BF3B-879B7CBEB3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3962400"/>
            <a:ext cx="2057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02A2A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>
                <a:solidFill>
                  <a:srgbClr val="102A2A"/>
                </a:solidFill>
                <a:latin typeface="PingFang SC"/>
                <a:ea typeface="PingFang SC"/>
                <a:cs typeface="PingFang SC"/>
              </a:rPr>
              <a:t>结论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A78DB97A-9951-4326-AED5-FFDADC44B1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4324350"/>
            <a:ext cx="20574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334155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334155"/>
                </a:solidFill>
                <a:latin typeface="PingFang SC"/>
                <a:ea typeface="PingFang SC"/>
                <a:cs typeface="PingFang SC"/>
              </a:rPr>
              <a:t>它是可跟踪催化，不是已兑现投资结论；先 Ask，再确认。</a:t>
            </a:r>
          </a:p>
        </p:txBody>
      </p:sp>
    </p:spTree>
    <p:extLst>
      <p:ext uri="{BB962C8B-B14F-4D97-AF65-F5344CB8AC3E}">
        <p14:creationId xmlns:p14="http://schemas.microsoft.com/office/powerpoint/2010/main" val="949264549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7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D4814F3-C295-44ED-BDC1-DFFA6D3919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8150"/>
            <a:ext cx="8572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02A2A"/>
                </a:solidFill>
                <a:latin typeface="PingFang SC"/>
                <a:ea typeface="PingFang SC"/>
                <a:cs typeface="PingFang SC"/>
              </a:defRPr>
            </a:pPr>
            <a:r>
              <a:rPr sz="2700" b="1">
                <a:solidFill>
                  <a:srgbClr val="102A2A"/>
                </a:solidFill>
                <a:latin typeface="PingFang SC"/>
                <a:ea typeface="PingFang SC"/>
                <a:cs typeface="PingFang SC"/>
              </a:rPr>
              <a:t>Step 7：补证不是聊天框，而是资料入口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4B03414-FE72-43C8-85E2-9A8782D967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933450"/>
            <a:ext cx="933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57477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657477"/>
                </a:solidFill>
                <a:latin typeface="PingFang SC"/>
                <a:ea typeface="PingFang SC"/>
                <a:cs typeface="PingFang SC"/>
              </a:rPr>
              <a:t>资料可以丢进去，也可以让系统按数据源去找；但补证默认仍是人工确认。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B9C1D74-0BC8-47E3-9DC0-6E2B8616B8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819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789090"/>
                </a:solidFill>
                <a:latin typeface="PingFang SC"/>
                <a:ea typeface="PingFang SC"/>
                <a:cs typeface="PingFang SC"/>
              </a:defRPr>
            </a:pPr>
            <a:r>
              <a:rPr sz="825" b="0">
                <a:solidFill>
                  <a:srgbClr val="789090"/>
                </a:solidFill>
                <a:latin typeface="PingFang SC"/>
                <a:ea typeface="PingFang SC"/>
                <a:cs typeface="PingFang SC"/>
              </a:rPr>
              <a:t>Research Cockpit Lite V2 新手操作教学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4C2A637-3AE0-4B46-B988-26A773E540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62700"/>
            <a:ext cx="533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789090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789090"/>
                </a:solidFill>
                <a:latin typeface="PingFang SC"/>
                <a:ea typeface="PingFang SC"/>
                <a:cs typeface="PingFang SC"/>
              </a:rPr>
              <a:t>12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1A41AC7-8BBF-40CE-B31B-3A68F543D8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466850"/>
            <a:ext cx="2057400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2E1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96C2E1F-D040-46F4-B097-81FA829B10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600200"/>
            <a:ext cx="1828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02A2A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102A2A"/>
                </a:solidFill>
                <a:latin typeface="PingFang SC"/>
                <a:ea typeface="PingFang SC"/>
                <a:cs typeface="PingFang SC"/>
              </a:rPr>
              <a:t>粘贴资料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BFA194C-790F-4C0E-8514-FA2E6F7352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885950"/>
            <a:ext cx="18288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334155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334155"/>
                </a:solidFill>
                <a:latin typeface="PingFang SC"/>
                <a:ea typeface="PingFang SC"/>
                <a:cs typeface="PingFang SC"/>
              </a:rPr>
              <a:t>路演、表格、公告片段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2616B41-5E6E-46C1-BAD3-91ADE782E0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1981200"/>
            <a:ext cx="762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4ED8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73AA777-BE7C-4AFE-BB78-CC1A22C8DD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1466850"/>
            <a:ext cx="2057400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2E1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A73B5D2-8938-4A64-B254-C41C04825D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1600200"/>
            <a:ext cx="1828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02A2A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102A2A"/>
                </a:solidFill>
                <a:latin typeface="PingFang SC"/>
                <a:ea typeface="PingFang SC"/>
                <a:cs typeface="PingFang SC"/>
              </a:rPr>
              <a:t>选数据源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6A6E72A-3F62-423A-8F0F-22FAED6B59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1885950"/>
            <a:ext cx="18288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334155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334155"/>
                </a:solidFill>
                <a:latin typeface="PingFang SC"/>
                <a:ea typeface="PingFang SC"/>
                <a:cs typeface="PingFang SC"/>
              </a:rPr>
              <a:t>IMA / wiki / CNINFO / QCC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EBB5656-E5B9-48F3-B086-B034772E8B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1981200"/>
            <a:ext cx="762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4ED8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B733EFC-470D-4DA1-ACC2-ECDE035834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1466850"/>
            <a:ext cx="2057400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2E1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FB6A85A-EEE8-46D3-AAAF-B662539C92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600200"/>
            <a:ext cx="1828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02A2A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102A2A"/>
                </a:solidFill>
                <a:latin typeface="PingFang SC"/>
                <a:ea typeface="PingFang SC"/>
                <a:cs typeface="PingFang SC"/>
              </a:rPr>
              <a:t>LLM 整理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3B8511C-0F6F-4BA0-BC2A-9872A9BBB2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885950"/>
            <a:ext cx="18288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334155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334155"/>
                </a:solidFill>
                <a:latin typeface="PingFang SC"/>
                <a:ea typeface="PingFang SC"/>
                <a:cs typeface="PingFang SC"/>
              </a:rPr>
              <a:t>提取要点和缺口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B9429FD-A6E3-4894-AF5F-0B18B033CD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1981200"/>
            <a:ext cx="762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4ED8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6168288-281A-43CF-842D-1A9FA52993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466850"/>
            <a:ext cx="2057400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2E1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BE60BD4-FAD7-4F9A-B672-C6942FB4C8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1600200"/>
            <a:ext cx="1828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02A2A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102A2A"/>
                </a:solidFill>
                <a:latin typeface="PingFang SC"/>
                <a:ea typeface="PingFang SC"/>
                <a:cs typeface="PingFang SC"/>
              </a:rPr>
              <a:t>Watchtower 扫描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AEA3ECF-B173-4580-89EC-DC8D5EDE6D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1885950"/>
            <a:ext cx="18288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334155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334155"/>
                </a:solidFill>
                <a:latin typeface="PingFang SC"/>
                <a:ea typeface="PingFang SC"/>
                <a:cs typeface="PingFang SC"/>
              </a:rPr>
              <a:t>变成事件或候选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FC9EDD2-175E-47DA-9E1E-A024A512A3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1981200"/>
            <a:ext cx="762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4ED8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B1427F2-2256-40EF-97AF-DEED92773C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1466850"/>
            <a:ext cx="2057400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2E1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9783C7F-46C5-4176-BC7E-452AB5B141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1600200"/>
            <a:ext cx="1828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02A2A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102A2A"/>
                </a:solidFill>
                <a:latin typeface="PingFang SC"/>
                <a:ea typeface="PingFang SC"/>
                <a:cs typeface="PingFang SC"/>
              </a:rPr>
              <a:t>人工确认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CCF255E-C0C4-4BF2-A9F4-5398D50134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1885950"/>
            <a:ext cx="18288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334155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334155"/>
                </a:solidFill>
                <a:latin typeface="PingFang SC"/>
                <a:ea typeface="PingFang SC"/>
                <a:cs typeface="PingFang SC"/>
              </a:rPr>
              <a:t>写入假设记忆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9EBD53A-D659-4202-AB3B-90E6F6D155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257550"/>
            <a:ext cx="2952750" cy="1276350"/>
          </a:xfrm>
          <a:prstGeom xmlns:a="http://schemas.openxmlformats.org/drawingml/2006/main" prst="roundRect">
            <a:avLst>
              <a:gd name="adj" fmla="val 895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2E1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BB2497D-099D-4C0B-BD4A-99E945127C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257550"/>
            <a:ext cx="57150" cy="1276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A34A"/>
          </a:solidFill>
          <a:ln xmlns:a="http://schemas.openxmlformats.org/drawingml/2006/main" w="9525">
            <a:solidFill>
              <a:srgbClr val="16A34A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0341ACF-9D69-45AD-95A0-7B8A465DBE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429000"/>
            <a:ext cx="2628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02A2A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>
                <a:solidFill>
                  <a:srgbClr val="102A2A"/>
                </a:solidFill>
                <a:latin typeface="PingFang SC"/>
                <a:ea typeface="PingFang SC"/>
                <a:cs typeface="PingFang SC"/>
              </a:rPr>
              <a:t>适合补证的资料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A2D6335-EB6B-4945-BC1B-887757D231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790950"/>
            <a:ext cx="26289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334155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334155"/>
                </a:solidFill>
                <a:latin typeface="PingFang SC"/>
                <a:ea typeface="PingFang SC"/>
                <a:cs typeface="PingFang SC"/>
              </a:rPr>
              <a:t>路演 PDF、调研纪要、卖方深度、公告链接、招投标线索、财报表格。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32AF80D-D320-46B9-BA33-F865BD8724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3257550"/>
            <a:ext cx="2952750" cy="1276350"/>
          </a:xfrm>
          <a:prstGeom xmlns:a="http://schemas.openxmlformats.org/drawingml/2006/main" prst="roundRect">
            <a:avLst>
              <a:gd name="adj" fmla="val 895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2E1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8B18DC4-2AB3-49FD-A1F3-DB761D4555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3257550"/>
            <a:ext cx="57150" cy="1276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4ED8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A1610E6-0C21-4138-BFF2-6E10E2E59F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3429000"/>
            <a:ext cx="2628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02A2A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>
                <a:solidFill>
                  <a:srgbClr val="102A2A"/>
                </a:solidFill>
                <a:latin typeface="PingFang SC"/>
                <a:ea typeface="PingFang SC"/>
                <a:cs typeface="PingFang SC"/>
              </a:rPr>
              <a:t>适合自动搜集的数据源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3F7F6D5-23AD-41DE-A56B-24174A4528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3790950"/>
            <a:ext cx="26289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334155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334155"/>
                </a:solidFill>
                <a:latin typeface="PingFang SC"/>
                <a:ea typeface="PingFang SC"/>
                <a:cs typeface="PingFang SC"/>
              </a:rPr>
              <a:t>IMA 知识库、CNINFO 公告、企查查招投标、Tushare 行情财务。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F7870C6B-FE95-45CF-B73C-573F69541F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3257550"/>
            <a:ext cx="2952750" cy="1276350"/>
          </a:xfrm>
          <a:prstGeom xmlns:a="http://schemas.openxmlformats.org/drawingml/2006/main" prst="roundRect">
            <a:avLst>
              <a:gd name="adj" fmla="val 895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2E1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116B245B-EF1F-44F2-887B-BDC7DB28E5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3257550"/>
            <a:ext cx="57150" cy="1276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9525">
            <a:solidFill>
              <a:srgbClr val="F59E0B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DC49A50F-9517-4AFF-A4FC-887D695F2A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3429000"/>
            <a:ext cx="2628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02A2A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>
                <a:solidFill>
                  <a:srgbClr val="102A2A"/>
                </a:solidFill>
                <a:latin typeface="PingFang SC"/>
                <a:ea typeface="PingFang SC"/>
                <a:cs typeface="PingFang SC"/>
              </a:rPr>
              <a:t>不建议默认做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176DB537-B195-44BC-8E81-5FAE7460F3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3790950"/>
            <a:ext cx="26289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334155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334155"/>
                </a:solidFill>
                <a:latin typeface="PingFang SC"/>
                <a:ea typeface="PingFang SC"/>
                <a:cs typeface="PingFang SC"/>
              </a:rPr>
              <a:t>每条微信舆情都做财报级验证。只对关键假设深挖。</a:t>
            </a:r>
          </a:p>
        </p:txBody>
      </p:sp>
    </p:spTree>
    <p:extLst>
      <p:ext uri="{BB962C8B-B14F-4D97-AF65-F5344CB8AC3E}">
        <p14:creationId xmlns:p14="http://schemas.microsoft.com/office/powerpoint/2010/main" val="812954903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7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D516CA1-4CA9-4A8C-B64F-8F1D15F8F0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8150"/>
            <a:ext cx="8572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02A2A"/>
                </a:solidFill>
                <a:latin typeface="PingFang SC"/>
                <a:ea typeface="PingFang SC"/>
                <a:cs typeface="PingFang SC"/>
              </a:defRPr>
            </a:pPr>
            <a:r>
              <a:rPr sz="2700" b="1">
                <a:solidFill>
                  <a:srgbClr val="102A2A"/>
                </a:solidFill>
                <a:latin typeface="PingFang SC"/>
                <a:ea typeface="PingFang SC"/>
                <a:cs typeface="PingFang SC"/>
              </a:rPr>
              <a:t>写入边界：哪里会被改，哪里不会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4CA1A5C-39B9-4E74-8775-71FE3A3690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933450"/>
            <a:ext cx="933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57477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657477"/>
                </a:solidFill>
                <a:latin typeface="PingFang SC"/>
                <a:ea typeface="PingFang SC"/>
                <a:cs typeface="PingFang SC"/>
              </a:rPr>
              <a:t>这是这个系统能放心日用的关键。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D957CF2-9744-41ED-BC64-2EED4363CF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819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789090"/>
                </a:solidFill>
                <a:latin typeface="PingFang SC"/>
                <a:ea typeface="PingFang SC"/>
                <a:cs typeface="PingFang SC"/>
              </a:defRPr>
            </a:pPr>
            <a:r>
              <a:rPr sz="825" b="0">
                <a:solidFill>
                  <a:srgbClr val="789090"/>
                </a:solidFill>
                <a:latin typeface="PingFang SC"/>
                <a:ea typeface="PingFang SC"/>
                <a:cs typeface="PingFang SC"/>
              </a:rPr>
              <a:t>Research Cockpit Lite V2 新手操作教学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5F72788-5147-4DBD-B838-DDAA4A7378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62700"/>
            <a:ext cx="533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789090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789090"/>
                </a:solidFill>
                <a:latin typeface="PingFang SC"/>
                <a:ea typeface="PingFang SC"/>
                <a:cs typeface="PingFang SC"/>
              </a:rPr>
              <a:t>13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24722D0-4E8F-414D-8456-20F811BBA0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485900"/>
            <a:ext cx="4762500" cy="182880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2E1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73EE06A-46BF-412C-BBEB-00B278CC91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485900"/>
            <a:ext cx="57150" cy="1828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A34A"/>
          </a:solidFill>
          <a:ln xmlns:a="http://schemas.openxmlformats.org/drawingml/2006/main" w="9525">
            <a:solidFill>
              <a:srgbClr val="16A34A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D6CCDB4-5287-475E-A8F6-AEDA9588C5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657350"/>
            <a:ext cx="4438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02A2A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>
                <a:solidFill>
                  <a:srgbClr val="102A2A"/>
                </a:solidFill>
                <a:latin typeface="PingFang SC"/>
                <a:ea typeface="PingFang SC"/>
                <a:cs typeface="PingFang SC"/>
              </a:rPr>
              <a:t>自动扫描允许写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47EE784-36AE-4313-AE73-5FEDCBCFD1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019300"/>
            <a:ext cx="4438650" cy="121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334155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334155"/>
                </a:solidFill>
                <a:latin typeface="PingFang SC"/>
                <a:ea typeface="PingFang SC"/>
                <a:cs typeface="PingFang SC"/>
              </a:rPr>
              <a:t>.llm-wiki/wechat-inbox/**</a:t>
            </a:r>
          </a:p>
          <a:p xmlns:a="http://schemas.openxmlformats.org/drawingml/2006/main">
            <a:pPr algn="l">
              <a:defRPr sz="1200" b="0">
                <a:solidFill>
                  <a:srgbClr val="334155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334155"/>
                </a:solidFill>
                <a:latin typeface="PingFang SC"/>
                <a:ea typeface="PingFang SC"/>
                <a:cs typeface="PingFang SC"/>
              </a:rPr>
              <a:t>- incoming / processed / state</a:t>
            </a:r>
          </a:p>
          <a:p xmlns:a="http://schemas.openxmlformats.org/drawingml/2006/main">
            <a:pPr algn="l">
              <a:defRPr sz="1200" b="0">
                <a:solidFill>
                  <a:srgbClr val="334155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334155"/>
                </a:solidFill>
                <a:latin typeface="PingFang SC"/>
                <a:ea typeface="PingFang SC"/>
                <a:cs typeface="PingFang SC"/>
              </a:rPr>
              <a:t>- 用于审计和去重</a:t>
            </a:r>
          </a:p>
          <a:p xmlns:a="http://schemas.openxmlformats.org/drawingml/2006/main">
            <a:pPr algn="l">
              <a:defRPr sz="1200" b="0">
                <a:solidFill>
                  <a:srgbClr val="334155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334155"/>
                </a:solidFill>
                <a:latin typeface="PingFang SC"/>
                <a:ea typeface="PingFang SC"/>
                <a:cs typeface="PingFang SC"/>
              </a:rPr>
              <a:t>- 不等于正式知识库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1B69F30-AEC3-4363-8BE2-6CFF537023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485900"/>
            <a:ext cx="4762500" cy="182880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2E1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B411F64-2492-4C26-84B4-7FDE04863C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485900"/>
            <a:ext cx="57150" cy="1828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4ED8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9FF868D-B971-434F-8A55-A36BF73610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1657350"/>
            <a:ext cx="4438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02A2A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>
                <a:solidFill>
                  <a:srgbClr val="102A2A"/>
                </a:solidFill>
                <a:latin typeface="PingFang SC"/>
                <a:ea typeface="PingFang SC"/>
                <a:cs typeface="PingFang SC"/>
              </a:rPr>
              <a:t>人工确认后才写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191FB3C-E9DA-43B0-A533-0AD0CB6425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2019300"/>
            <a:ext cx="4438650" cy="121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334155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334155"/>
                </a:solidFill>
                <a:latin typeface="PingFang SC"/>
                <a:ea typeface="PingFang SC"/>
                <a:cs typeface="PingFang SC"/>
              </a:rPr>
              <a:t>.llm-wiki/hypotheses/**</a:t>
            </a:r>
          </a:p>
          <a:p xmlns:a="http://schemas.openxmlformats.org/drawingml/2006/main">
            <a:pPr algn="l">
              <a:defRPr sz="1200" b="0">
                <a:solidFill>
                  <a:srgbClr val="334155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334155"/>
                </a:solidFill>
                <a:latin typeface="PingFang SC"/>
                <a:ea typeface="PingFang SC"/>
                <a:cs typeface="PingFang SC"/>
              </a:rPr>
              <a:t>.llm-wiki/hypothesis-events/**</a:t>
            </a:r>
          </a:p>
          <a:p xmlns:a="http://schemas.openxmlformats.org/drawingml/2006/main">
            <a:pPr algn="l">
              <a:defRPr sz="1200" b="0">
                <a:solidFill>
                  <a:srgbClr val="334155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334155"/>
                </a:solidFill>
                <a:latin typeface="PingFang SC"/>
                <a:ea typeface="PingFang SC"/>
                <a:cs typeface="PingFang SC"/>
              </a:rPr>
              <a:t>.llm-wiki/hypothesis-alerts/**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DD8AFFE-E255-4B86-A003-A6AA5F9E7D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905250"/>
            <a:ext cx="4762500" cy="1219200"/>
          </a:xfrm>
          <a:prstGeom xmlns:a="http://schemas.openxmlformats.org/drawingml/2006/main" prst="roundRect">
            <a:avLst>
              <a:gd name="adj" fmla="val 937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2E1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C558AEA-833F-49D6-85C4-095ECDE49F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905250"/>
            <a:ext cx="57150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2626"/>
          </a:solidFill>
          <a:ln xmlns:a="http://schemas.openxmlformats.org/drawingml/2006/main" w="9525">
            <a:solidFill>
              <a:srgbClr val="DC2626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A74CC38-07CF-4126-8F11-64E7F1F33B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076700"/>
            <a:ext cx="4438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02A2A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>
                <a:solidFill>
                  <a:srgbClr val="102A2A"/>
                </a:solidFill>
                <a:latin typeface="PingFang SC"/>
                <a:ea typeface="PingFang SC"/>
                <a:cs typeface="PingFang SC"/>
              </a:rPr>
              <a:t>默认不写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EEC0936-1A0E-405A-B90A-59C0ECFBD3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438650"/>
            <a:ext cx="44386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334155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334155"/>
                </a:solidFill>
                <a:latin typeface="PingFang SC"/>
                <a:ea typeface="PingFang SC"/>
                <a:cs typeface="PingFang SC"/>
              </a:rPr>
              <a:t>wiki/**、raw/**、正式交易动作、券商委托、核心 prompt 自动应用。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8F3E295-C98E-4F96-85B1-AD634EF872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905250"/>
            <a:ext cx="4762500" cy="1219200"/>
          </a:xfrm>
          <a:prstGeom xmlns:a="http://schemas.openxmlformats.org/drawingml/2006/main" prst="roundRect">
            <a:avLst>
              <a:gd name="adj" fmla="val 937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2E1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BDFF4D7-FEE4-45F8-A6CE-1ABB2A36DA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905250"/>
            <a:ext cx="57150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9525">
            <a:solidFill>
              <a:srgbClr val="F59E0B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092A43E-030F-45E7-B151-718D48294A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4076700"/>
            <a:ext cx="4438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02A2A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>
                <a:solidFill>
                  <a:srgbClr val="102A2A"/>
                </a:solidFill>
                <a:latin typeface="PingFang SC"/>
                <a:ea typeface="PingFang SC"/>
                <a:cs typeface="PingFang SC"/>
              </a:rPr>
              <a:t>你应该怎么理解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9A2E0A4-DABB-43F3-9BF9-F9236E353B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4438650"/>
            <a:ext cx="44386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334155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334155"/>
                </a:solidFill>
                <a:latin typeface="PingFang SC"/>
                <a:ea typeface="PingFang SC"/>
                <a:cs typeface="PingFang SC"/>
              </a:rPr>
              <a:t>扫描是“发现建议”；确认才是“进入记忆”。交易判断仍由人做。</a:t>
            </a:r>
          </a:p>
        </p:txBody>
      </p:sp>
    </p:spTree>
    <p:extLst>
      <p:ext uri="{BB962C8B-B14F-4D97-AF65-F5344CB8AC3E}">
        <p14:creationId xmlns:p14="http://schemas.microsoft.com/office/powerpoint/2010/main" val="690754371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7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0279CB9-8842-446C-86ED-9C7D8D9FED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8150"/>
            <a:ext cx="8572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02A2A"/>
                </a:solidFill>
                <a:latin typeface="PingFang SC"/>
                <a:ea typeface="PingFang SC"/>
                <a:cs typeface="PingFang SC"/>
              </a:defRPr>
            </a:pPr>
            <a:r>
              <a:rPr sz="2700" b="1">
                <a:solidFill>
                  <a:srgbClr val="102A2A"/>
                </a:solidFill>
                <a:latin typeface="PingFang SC"/>
                <a:ea typeface="PingFang SC"/>
                <a:cs typeface="PingFang SC"/>
              </a:rPr>
              <a:t>命令行等价操作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C4D6F0E-9FEB-47A9-AE41-8680AE5AB5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933450"/>
            <a:ext cx="933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57477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657477"/>
                </a:solidFill>
                <a:latin typeface="PingFang SC"/>
                <a:ea typeface="PingFang SC"/>
                <a:cs typeface="PingFang SC"/>
              </a:rPr>
              <a:t>前端按钮背后都是固定 allowlist 动作；高级用户可用 CLI 复现。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6AFBE66-73E7-4004-9C74-DCBA9636AE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819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789090"/>
                </a:solidFill>
                <a:latin typeface="PingFang SC"/>
                <a:ea typeface="PingFang SC"/>
                <a:cs typeface="PingFang SC"/>
              </a:defRPr>
            </a:pPr>
            <a:r>
              <a:rPr sz="825" b="0">
                <a:solidFill>
                  <a:srgbClr val="789090"/>
                </a:solidFill>
                <a:latin typeface="PingFang SC"/>
                <a:ea typeface="PingFang SC"/>
                <a:cs typeface="PingFang SC"/>
              </a:rPr>
              <a:t>Research Cockpit Lite V2 新手操作教学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4FD496B-3CFE-42E0-88B2-AC4C841D6B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62700"/>
            <a:ext cx="533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789090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789090"/>
                </a:solidFill>
                <a:latin typeface="PingFang SC"/>
                <a:ea typeface="PingFang SC"/>
                <a:cs typeface="PingFang SC"/>
              </a:rPr>
              <a:t>14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3142990-0D40-4CDB-9B61-C8FAB0F21D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52550"/>
            <a:ext cx="10820400" cy="3943350"/>
          </a:xfrm>
          <a:prstGeom xmlns:a="http://schemas.openxmlformats.org/drawingml/2006/main" prst="roundRect">
            <a:avLst>
              <a:gd name="adj" fmla="val 2899"/>
            </a:avLst>
          </a:prstGeom>
          <a:solidFill xmlns:a="http://schemas.openxmlformats.org/drawingml/2006/main">
            <a:srgbClr val="0F172A"/>
          </a:solidFill>
          <a:ln xmlns:a="http://schemas.openxmlformats.org/drawingml/2006/main" w="9525">
            <a:solidFill>
              <a:srgbClr val="0F172A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2AB9B9A-AD19-42A4-94E7-4115975EC5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619250"/>
            <a:ext cx="10287000" cy="3429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DDEBFF"/>
                </a:solidFill>
                <a:latin typeface="Aptos Mono"/>
                <a:ea typeface="Aptos Mono"/>
                <a:cs typeface="Aptos Mono"/>
              </a:defRPr>
            </a:pPr>
            <a:r>
              <a:rPr sz="1200" b="0">
                <a:solidFill>
                  <a:srgbClr val="DDEBFF"/>
                </a:solidFill>
                <a:latin typeface="Aptos Mono"/>
                <a:ea typeface="Aptos Mono"/>
                <a:cs typeface="Aptos Mono"/>
              </a:rPr>
              <a:t># AI 并发发现假设</a:t>
            </a:r>
          </a:p>
          <a:p xmlns:a="http://schemas.openxmlformats.org/drawingml/2006/main">
            <a:pPr algn="l">
              <a:defRPr sz="1200" b="0">
                <a:solidFill>
                  <a:srgbClr val="DDEBFF"/>
                </a:solidFill>
                <a:latin typeface="Aptos Mono"/>
                <a:ea typeface="Aptos Mono"/>
                <a:cs typeface="Aptos Mono"/>
              </a:defRPr>
            </a:pPr>
            <a:r>
              <a:rPr sz="1200" b="0">
                <a:solidFill>
                  <a:srgbClr val="DDEBFF"/>
                </a:solidFill>
                <a:latin typeface="Aptos Mono"/>
                <a:ea typeface="Aptos Mono"/>
                <a:cs typeface="Aptos Mono"/>
              </a:rPr>
              <a:t>npm run codex:ingest -- hypothesis discover --theme "AI数据中心互联" --question-count 5 --concurrency 3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200" b="0">
                <a:solidFill>
                  <a:srgbClr val="DDEBFF"/>
                </a:solidFill>
                <a:latin typeface="Aptos Mono"/>
                <a:ea typeface="Aptos Mono"/>
                <a:cs typeface="Aptos Mono"/>
              </a:defRPr>
            </a:pPr>
            <a:r>
              <a:rPr sz="1200" b="0">
                <a:solidFill>
                  <a:srgbClr val="DDEBFF"/>
                </a:solidFill>
                <a:latin typeface="Aptos Mono"/>
                <a:ea typeface="Aptos Mono"/>
                <a:cs typeface="Aptos Mono"/>
              </a:rPr>
              <a:t># 扫描微信增量（规则层）</a:t>
            </a:r>
          </a:p>
          <a:p xmlns:a="http://schemas.openxmlformats.org/drawingml/2006/main">
            <a:pPr algn="l">
              <a:defRPr sz="1200" b="0">
                <a:solidFill>
                  <a:srgbClr val="DDEBFF"/>
                </a:solidFill>
                <a:latin typeface="Aptos Mono"/>
                <a:ea typeface="Aptos Mono"/>
                <a:cs typeface="Aptos Mono"/>
              </a:defRPr>
            </a:pPr>
            <a:r>
              <a:rPr sz="1200" b="0">
                <a:solidFill>
                  <a:srgbClr val="DDEBFF"/>
                </a:solidFill>
                <a:latin typeface="Aptos Mono"/>
                <a:ea typeface="Aptos Mono"/>
                <a:cs typeface="Aptos Mono"/>
              </a:rPr>
              <a:t>npm run codex:ingest -- hypothesis watch --sources wechat_incremental --since 30m --llm-review off --compact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200" b="0">
                <a:solidFill>
                  <a:srgbClr val="DDEBFF"/>
                </a:solidFill>
                <a:latin typeface="Aptos Mono"/>
                <a:ea typeface="Aptos Mono"/>
                <a:cs typeface="Aptos Mono"/>
              </a:defRPr>
            </a:pPr>
            <a:r>
              <a:rPr sz="1200" b="0">
                <a:solidFill>
                  <a:srgbClr val="DDEBFF"/>
                </a:solidFill>
                <a:latin typeface="Aptos Mono"/>
                <a:ea typeface="Aptos Mono"/>
                <a:cs typeface="Aptos Mono"/>
              </a:rPr>
              <a:t># 只扫当前假设并让 LLM 复核候选</a:t>
            </a:r>
          </a:p>
          <a:p xmlns:a="http://schemas.openxmlformats.org/drawingml/2006/main">
            <a:pPr algn="l">
              <a:defRPr sz="1200" b="0">
                <a:solidFill>
                  <a:srgbClr val="DDEBFF"/>
                </a:solidFill>
                <a:latin typeface="Aptos Mono"/>
                <a:ea typeface="Aptos Mono"/>
                <a:cs typeface="Aptos Mono"/>
              </a:defRPr>
            </a:pPr>
            <a:r>
              <a:rPr sz="1200" b="0">
                <a:solidFill>
                  <a:srgbClr val="DDEBFF"/>
                </a:solidFill>
                <a:latin typeface="Aptos Mono"/>
                <a:ea typeface="Aptos Mono"/>
                <a:cs typeface="Aptos Mono"/>
              </a:rPr>
              <a:t>npm run codex:ingest -- hypothesis watch --id &lt;hypothesis-id&gt; --sources wechat_incremental --since 30m --llm-review auto --compact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200" b="0">
                <a:solidFill>
                  <a:srgbClr val="DDEBFF"/>
                </a:solidFill>
                <a:latin typeface="Aptos Mono"/>
                <a:ea typeface="Aptos Mono"/>
                <a:cs typeface="Aptos Mono"/>
              </a:defRPr>
            </a:pPr>
            <a:r>
              <a:rPr sz="1200" b="0">
                <a:solidFill>
                  <a:srgbClr val="DDEBFF"/>
                </a:solidFill>
                <a:latin typeface="Aptos Mono"/>
                <a:ea typeface="Aptos Mono"/>
                <a:cs typeface="Aptos Mono"/>
              </a:rPr>
              <a:t># 确认状态变化</a:t>
            </a:r>
          </a:p>
          <a:p xmlns:a="http://schemas.openxmlformats.org/drawingml/2006/main">
            <a:pPr algn="l">
              <a:defRPr sz="1200" b="0">
                <a:solidFill>
                  <a:srgbClr val="DDEBFF"/>
                </a:solidFill>
                <a:latin typeface="Aptos Mono"/>
                <a:ea typeface="Aptos Mono"/>
                <a:cs typeface="Aptos Mono"/>
              </a:defRPr>
            </a:pPr>
            <a:r>
              <a:rPr sz="1200" b="0">
                <a:solidFill>
                  <a:srgbClr val="DDEBFF"/>
                </a:solidFill>
                <a:latin typeface="Aptos Mono"/>
                <a:ea typeface="Aptos Mono"/>
                <a:cs typeface="Aptos Mono"/>
              </a:rPr>
              <a:t>npm run codex:ingest -- hypothesis status-update --id &lt;hypothesis-id&gt; --status strengthening --reason "..." --write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200" b="0">
                <a:solidFill>
                  <a:srgbClr val="DDEBFF"/>
                </a:solidFill>
                <a:latin typeface="Aptos Mono"/>
                <a:ea typeface="Aptos Mono"/>
                <a:cs typeface="Aptos Mono"/>
              </a:defRPr>
            </a:pPr>
            <a:r>
              <a:rPr sz="1200" b="0">
                <a:solidFill>
                  <a:srgbClr val="DDEBFF"/>
                </a:solidFill>
                <a:latin typeface="Aptos Mono"/>
                <a:ea typeface="Aptos Mono"/>
                <a:cs typeface="Aptos Mono"/>
              </a:rPr>
              <a:t># Ask 深挖</a:t>
            </a:r>
          </a:p>
          <a:p xmlns:a="http://schemas.openxmlformats.org/drawingml/2006/main">
            <a:pPr algn="l">
              <a:defRPr sz="1200" b="0">
                <a:solidFill>
                  <a:srgbClr val="DDEBFF"/>
                </a:solidFill>
                <a:latin typeface="Aptos Mono"/>
                <a:ea typeface="Aptos Mono"/>
                <a:cs typeface="Aptos Mono"/>
              </a:defRPr>
            </a:pPr>
            <a:r>
              <a:rPr sz="1200" b="0">
                <a:solidFill>
                  <a:srgbClr val="DDEBFF"/>
                </a:solidFill>
                <a:latin typeface="Aptos Mono"/>
                <a:ea typeface="Aptos Mono"/>
                <a:cs typeface="Aptos Mono"/>
              </a:rPr>
              <a:t>npm run codex:ingest -- hypothesis ask --id &lt;hypothesis-id&gt; --agent-concurrency 3 --agent-timeout-ms 300000</a:t>
            </a:r>
          </a:p>
        </p:txBody>
      </p:sp>
    </p:spTree>
    <p:extLst>
      <p:ext uri="{BB962C8B-B14F-4D97-AF65-F5344CB8AC3E}">
        <p14:creationId xmlns:p14="http://schemas.microsoft.com/office/powerpoint/2010/main" val="705213798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7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84BBC42-D492-4709-B73C-F28B6031A4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8150"/>
            <a:ext cx="8572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02A2A"/>
                </a:solidFill>
                <a:latin typeface="PingFang SC"/>
                <a:ea typeface="PingFang SC"/>
                <a:cs typeface="PingFang SC"/>
              </a:defRPr>
            </a:pPr>
            <a:r>
              <a:rPr sz="2700" b="1">
                <a:solidFill>
                  <a:srgbClr val="102A2A"/>
                </a:solidFill>
                <a:latin typeface="PingFang SC"/>
                <a:ea typeface="PingFang SC"/>
                <a:cs typeface="PingFang SC"/>
              </a:rPr>
              <a:t>每天 10 分钟怎么用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55E9F7A-DB53-43E2-8E42-2352960752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933450"/>
            <a:ext cx="933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57477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657477"/>
                </a:solidFill>
                <a:latin typeface="PingFang SC"/>
                <a:ea typeface="PingFang SC"/>
                <a:cs typeface="PingFang SC"/>
              </a:rPr>
              <a:t>把它当成“假设待办系统”，不要当成无限搜索框。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A8D8052-12EF-4BF5-963F-DC1846FB45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819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789090"/>
                </a:solidFill>
                <a:latin typeface="PingFang SC"/>
                <a:ea typeface="PingFang SC"/>
                <a:cs typeface="PingFang SC"/>
              </a:defRPr>
            </a:pPr>
            <a:r>
              <a:rPr sz="825" b="0">
                <a:solidFill>
                  <a:srgbClr val="789090"/>
                </a:solidFill>
                <a:latin typeface="PingFang SC"/>
                <a:ea typeface="PingFang SC"/>
                <a:cs typeface="PingFang SC"/>
              </a:rPr>
              <a:t>Research Cockpit Lite V2 新手操作教学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757487D-FB5B-4FFA-880E-2B2BBFD555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62700"/>
            <a:ext cx="533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789090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789090"/>
                </a:solidFill>
                <a:latin typeface="PingFang SC"/>
                <a:ea typeface="PingFang SC"/>
                <a:cs typeface="PingFang SC"/>
              </a:rPr>
              <a:t>15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BA3A90E-C9EA-4B4B-AAF8-F89D045040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409700"/>
            <a:ext cx="3143250" cy="9906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2E1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D6A52F2-06D9-479C-A4B2-F60E039821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158115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D4ED8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733446B-8652-4211-99FA-EFE4DFE092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1647825"/>
            <a:ext cx="361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E551DB2-BB32-4FCD-A838-E645CC1603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1581150"/>
            <a:ext cx="2324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02A2A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>
                <a:solidFill>
                  <a:srgbClr val="102A2A"/>
                </a:solidFill>
                <a:latin typeface="PingFang SC"/>
                <a:ea typeface="PingFang SC"/>
                <a:cs typeface="PingFang SC"/>
              </a:rPr>
              <a:t>打开研究驾驶舱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461D12C-BD85-4EC5-8490-9DEAD3FC7D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1924050"/>
            <a:ext cx="2305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334155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334155"/>
                </a:solidFill>
                <a:latin typeface="PingFang SC"/>
                <a:ea typeface="PingFang SC"/>
                <a:cs typeface="PingFang SC"/>
              </a:rPr>
              <a:t>确认今天微信文档或最近文件已经选中。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761DC47-4384-4F94-B97E-AE5610C021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1409700"/>
            <a:ext cx="3143250" cy="9906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2E1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6465569-E7B0-42D4-AC42-35E5590884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158115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677DC5B-30ED-4EBA-A7A9-45BD5F52E3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1647825"/>
            <a:ext cx="361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D506251-D447-4BC1-BEFA-06329A29FD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1581150"/>
            <a:ext cx="2324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02A2A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>
                <a:solidFill>
                  <a:srgbClr val="102A2A"/>
                </a:solidFill>
                <a:latin typeface="PingFang SC"/>
                <a:ea typeface="PingFang SC"/>
                <a:cs typeface="PingFang SC"/>
              </a:rPr>
              <a:t>点扫描微信新增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CD97AF5-3240-42A3-96C1-A5695FFB67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1924050"/>
            <a:ext cx="2305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334155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334155"/>
                </a:solidFill>
                <a:latin typeface="PingFang SC"/>
                <a:ea typeface="PingFang SC"/>
                <a:cs typeface="PingFang SC"/>
              </a:rPr>
              <a:t>看阶段摘要：新增、命中、待处理。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C7F4C2F-9701-4E22-91B4-26C4347E6C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1409700"/>
            <a:ext cx="3143250" cy="9906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2E1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CCF9098-C69E-4BB6-8153-A918D7D40F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158115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9525">
            <a:solidFill>
              <a:srgbClr val="F59E0B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860BE22-CD9F-48E2-B35D-E167FC9AA9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1647825"/>
            <a:ext cx="361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C9A58EE-9514-4ED8-9EA8-E6E391AD2D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1581150"/>
            <a:ext cx="2324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02A2A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>
                <a:solidFill>
                  <a:srgbClr val="102A2A"/>
                </a:solidFill>
                <a:latin typeface="PingFang SC"/>
                <a:ea typeface="PingFang SC"/>
                <a:cs typeface="PingFang SC"/>
              </a:rPr>
              <a:t>只处理三类卡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7557588-7FE5-4260-9F22-EB626C6D42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1924050"/>
            <a:ext cx="2305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334155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334155"/>
                </a:solidFill>
                <a:latin typeface="PingFang SC"/>
                <a:ea typeface="PingFang SC"/>
                <a:cs typeface="PingFang SC"/>
              </a:rPr>
              <a:t>新催化、二次确认、市场反馈。弱噪声直接忽略。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7243EA0-32CD-431C-9E8C-482E488D3C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238500"/>
            <a:ext cx="3143250" cy="9906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2E1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B959BB9-3E00-40B1-873B-ABBC9442E0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40995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C3AED"/>
          </a:solidFill>
          <a:ln xmlns:a="http://schemas.openxmlformats.org/drawingml/2006/main" w="9525">
            <a:solidFill>
              <a:srgbClr val="7C3AED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3604E4A-DCEF-40AB-B1CB-8B930DB802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476625"/>
            <a:ext cx="361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4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CB984FF-DFA2-43E7-826F-992686E9CF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3409950"/>
            <a:ext cx="2324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02A2A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>
                <a:solidFill>
                  <a:srgbClr val="102A2A"/>
                </a:solidFill>
                <a:latin typeface="PingFang SC"/>
                <a:ea typeface="PingFang SC"/>
                <a:cs typeface="PingFang SC"/>
              </a:rPr>
              <a:t>需要时 Ask 深挖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1805090-1CBD-4C2E-ADE0-D6115B84E0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3752850"/>
            <a:ext cx="2305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334155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334155"/>
                </a:solidFill>
                <a:latin typeface="PingFang SC"/>
                <a:ea typeface="PingFang SC"/>
                <a:cs typeface="PingFang SC"/>
              </a:rPr>
              <a:t>先看结构化摘要，再看完整六段回答和来源。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50095E8-F805-40C8-9AFB-3B76A992DF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3238500"/>
            <a:ext cx="3143250" cy="9906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2E1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7F1A962-F02C-40B5-80D3-7C5E1C9C74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340995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A34A"/>
          </a:solidFill>
          <a:ln xmlns:a="http://schemas.openxmlformats.org/drawingml/2006/main" w="9525">
            <a:solidFill>
              <a:srgbClr val="16A34A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037396B-2799-4FF4-9696-18831A01A6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3476625"/>
            <a:ext cx="361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5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91CC499-0BC6-49C2-8A7D-C4E3B13011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3409950"/>
            <a:ext cx="2324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02A2A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>
                <a:solidFill>
                  <a:srgbClr val="102A2A"/>
                </a:solidFill>
                <a:latin typeface="PingFang SC"/>
                <a:ea typeface="PingFang SC"/>
                <a:cs typeface="PingFang SC"/>
              </a:rPr>
              <a:t>人工确认状态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8053E84-C171-4B38-892A-6245732F76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3752850"/>
            <a:ext cx="2305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334155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334155"/>
                </a:solidFill>
                <a:latin typeface="PingFang SC"/>
                <a:ea typeface="PingFang SC"/>
                <a:cs typeface="PingFang SC"/>
              </a:rPr>
              <a:t>确认后刷新假设表，状态和最新信号应可见。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3BBD365-5CD9-4477-95B8-A44CE8D715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238500"/>
            <a:ext cx="3143250" cy="9906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2E1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A57E96BE-B1D7-4432-8C4A-CAE3189038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340995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C2626"/>
          </a:solidFill>
          <a:ln xmlns:a="http://schemas.openxmlformats.org/drawingml/2006/main" w="9525">
            <a:solidFill>
              <a:srgbClr val="DC2626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693BD946-19A5-4F7D-A297-B304CDD3B7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3476625"/>
            <a:ext cx="361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6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B6A7E117-AA51-4D0E-A394-BE44F2C698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3409950"/>
            <a:ext cx="2324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02A2A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>
                <a:solidFill>
                  <a:srgbClr val="102A2A"/>
                </a:solidFill>
                <a:latin typeface="PingFang SC"/>
                <a:ea typeface="PingFang SC"/>
                <a:cs typeface="PingFang SC"/>
              </a:rPr>
              <a:t>收盘后复盘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3AA21E3D-55C0-49B0-B3D0-E498BBA894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3752850"/>
            <a:ext cx="2305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334155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334155"/>
                </a:solidFill>
                <a:latin typeface="PingFang SC"/>
                <a:ea typeface="PingFang SC"/>
                <a:cs typeface="PingFang SC"/>
              </a:rPr>
              <a:t>哪些信号有效、哪些是噪声，进入后续自训练样本。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26E0C632-B6E8-4460-9143-2EBE3AB4E2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5276850"/>
            <a:ext cx="689610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7F6F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BEA7D826-84D0-4634-A972-B1FC28DE5F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5324475"/>
            <a:ext cx="6629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0F766E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0F766E"/>
                </a:solidFill>
                <a:latin typeface="PingFang SC"/>
                <a:ea typeface="PingFang SC"/>
                <a:cs typeface="PingFang SC"/>
              </a:rPr>
              <a:t>原则：少看日志，多看待办；少确认，重质量；关键假设再深挖。</a:t>
            </a:r>
          </a:p>
        </p:txBody>
      </p:sp>
    </p:spTree>
    <p:extLst>
      <p:ext uri="{BB962C8B-B14F-4D97-AF65-F5344CB8AC3E}">
        <p14:creationId xmlns:p14="http://schemas.microsoft.com/office/powerpoint/2010/main" val="973480817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7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9A98311-9BD7-45BD-B038-7F0D5748C9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8150"/>
            <a:ext cx="8572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02A2A"/>
                </a:solidFill>
                <a:latin typeface="PingFang SC"/>
                <a:ea typeface="PingFang SC"/>
                <a:cs typeface="PingFang SC"/>
              </a:defRPr>
            </a:pPr>
            <a:r>
              <a:rPr sz="2700" b="1">
                <a:solidFill>
                  <a:srgbClr val="102A2A"/>
                </a:solidFill>
                <a:latin typeface="PingFang SC"/>
                <a:ea typeface="PingFang SC"/>
                <a:cs typeface="PingFang SC"/>
              </a:rPr>
              <a:t>常见问题排查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C204A78-EC36-4036-B71C-6BFAB03B01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933450"/>
            <a:ext cx="933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57477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657477"/>
                </a:solidFill>
                <a:latin typeface="PingFang SC"/>
                <a:ea typeface="PingFang SC"/>
                <a:cs typeface="PingFang SC"/>
              </a:rPr>
              <a:t>如果界面没有给你明确反馈，先按这张表定位。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27AF8FD-2F1D-49BC-8F9E-27F3CE04CF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819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789090"/>
                </a:solidFill>
                <a:latin typeface="PingFang SC"/>
                <a:ea typeface="PingFang SC"/>
                <a:cs typeface="PingFang SC"/>
              </a:defRPr>
            </a:pPr>
            <a:r>
              <a:rPr sz="825" b="0">
                <a:solidFill>
                  <a:srgbClr val="789090"/>
                </a:solidFill>
                <a:latin typeface="PingFang SC"/>
                <a:ea typeface="PingFang SC"/>
                <a:cs typeface="PingFang SC"/>
              </a:rPr>
              <a:t>Research Cockpit Lite V2 新手操作教学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BFE7374-EF4C-4A4B-98ED-8FCE28086B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62700"/>
            <a:ext cx="533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789090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789090"/>
                </a:solidFill>
                <a:latin typeface="PingFang SC"/>
                <a:ea typeface="PingFang SC"/>
                <a:cs typeface="PingFang SC"/>
              </a:rPr>
              <a:t>16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527150F-4B17-4FF6-8A4D-E70D5ADEE6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90650"/>
            <a:ext cx="3333750" cy="11430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2E1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09FC6A9-8F50-4555-8442-A49FECDFD6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90650"/>
            <a:ext cx="5715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4ED8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E1399D6-0CE5-4A1B-A3FF-7FAD7500D3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562100"/>
            <a:ext cx="3009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02A2A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>
                <a:solidFill>
                  <a:srgbClr val="102A2A"/>
                </a:solidFill>
                <a:latin typeface="PingFang SC"/>
                <a:ea typeface="PingFang SC"/>
                <a:cs typeface="PingFang SC"/>
              </a:rPr>
              <a:t>点 Ask 没看到回答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8B37BE2-7A50-480F-B677-722994A38D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924050"/>
            <a:ext cx="30099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334155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334155"/>
                </a:solidFill>
                <a:latin typeface="PingFang SC"/>
                <a:ea typeface="PingFang SC"/>
                <a:cs typeface="PingFang SC"/>
              </a:rPr>
              <a:t>看“3. Ask 深挖结果”。若显示进行中就等；若有来源但无回答，重试或缩窄问题。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7A93063-C8CE-49D7-B34A-480C5E3BE4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1390650"/>
            <a:ext cx="3333750" cy="11430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2E1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4AD9071-F0EA-47DE-8B4F-08A56AA668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1390650"/>
            <a:ext cx="5715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9525">
            <a:solidFill>
              <a:srgbClr val="F59E0B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AA8A52C-1436-4673-899C-DC14CC0CE5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1562100"/>
            <a:ext cx="3009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02A2A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>
                <a:solidFill>
                  <a:srgbClr val="102A2A"/>
                </a:solidFill>
                <a:latin typeface="PingFang SC"/>
                <a:ea typeface="PingFang SC"/>
                <a:cs typeface="PingFang SC"/>
              </a:rPr>
              <a:t>只有日期/编号候选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2FF1FC3-6ACC-4D76-900F-F21272A19C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1924050"/>
            <a:ext cx="30099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334155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334155"/>
                </a:solidFill>
                <a:latin typeface="PingFang SC"/>
                <a:ea typeface="PingFang SC"/>
                <a:cs typeface="PingFang SC"/>
              </a:rPr>
              <a:t>这是噪声过滤问题。现在应被过滤；如果还有，点忽略并反馈样例。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915C31A-63C9-4FEB-B86C-460E4896D0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1390650"/>
            <a:ext cx="3333750" cy="11430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2E1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03FB8DA-8146-477F-B4D5-7546F8061A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1390650"/>
            <a:ext cx="5715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7EE0F03-B9AA-435A-A029-198FC5F662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1562100"/>
            <a:ext cx="3009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02A2A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>
                <a:solidFill>
                  <a:srgbClr val="102A2A"/>
                </a:solidFill>
                <a:latin typeface="PingFang SC"/>
                <a:ea typeface="PingFang SC"/>
                <a:cs typeface="PingFang SC"/>
              </a:rPr>
              <a:t>待处理太多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B921BBB-7CF7-4C13-897E-748A16E68D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1924050"/>
            <a:ext cx="30099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334155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334155"/>
                </a:solidFill>
                <a:latin typeface="PingFang SC"/>
                <a:ea typeface="PingFang SC"/>
                <a:cs typeface="PingFang SC"/>
              </a:rPr>
              <a:t>优先处理新催化、二次确认、市场反馈；弱叙事扩散先忽略。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677A91F-5451-4DB1-B894-75E863BB0C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28950"/>
            <a:ext cx="3333750" cy="11430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2E1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6084E6E-8641-4C83-9744-A79FA5E7D4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28950"/>
            <a:ext cx="5715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A34A"/>
          </a:solidFill>
          <a:ln xmlns:a="http://schemas.openxmlformats.org/drawingml/2006/main" w="9525">
            <a:solidFill>
              <a:srgbClr val="16A34A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8083645-3633-4565-A8E9-CCF447EC0F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200400"/>
            <a:ext cx="3009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02A2A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>
                <a:solidFill>
                  <a:srgbClr val="102A2A"/>
                </a:solidFill>
                <a:latin typeface="PingFang SC"/>
                <a:ea typeface="PingFang SC"/>
                <a:cs typeface="PingFang SC"/>
              </a:rPr>
              <a:t>今天微信文件不存在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B7B9980-083D-4ABB-BF9E-2DFD64919D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562350"/>
            <a:ext cx="30099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334155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334155"/>
                </a:solidFill>
                <a:latin typeface="PingFang SC"/>
                <a:ea typeface="PingFang SC"/>
                <a:cs typeface="PingFang SC"/>
              </a:rPr>
              <a:t>系统会选最近修改文件，并在今日信号源提示“使用最近文件”。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98E1026-D8D3-4F44-9901-91267CD219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3028950"/>
            <a:ext cx="3333750" cy="11430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2E1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F37A9A8-AF55-4FE9-A4FD-AB7D8D0AAA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3028950"/>
            <a:ext cx="5715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2626"/>
          </a:solidFill>
          <a:ln xmlns:a="http://schemas.openxmlformats.org/drawingml/2006/main" w="9525">
            <a:solidFill>
              <a:srgbClr val="DC2626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4CF0980-E0B9-4891-B5CD-EE7DF86F93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3200400"/>
            <a:ext cx="3009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02A2A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>
                <a:solidFill>
                  <a:srgbClr val="102A2A"/>
                </a:solidFill>
                <a:latin typeface="PingFang SC"/>
                <a:ea typeface="PingFang SC"/>
                <a:cs typeface="PingFang SC"/>
              </a:rPr>
              <a:t>自动跟踪像卡住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A8FE27D-569A-4D71-9C9F-F9A32C0C37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3562350"/>
            <a:ext cx="30099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334155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334155"/>
                </a:solidFill>
                <a:latin typeface="PingFang SC"/>
                <a:ea typeface="PingFang SC"/>
                <a:cs typeface="PingFang SC"/>
              </a:rPr>
              <a:t>确认是否有运行中锁；先手动刷新，再点扫描微信新增。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E670D30-2432-4223-A4A6-E5796935CC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3028950"/>
            <a:ext cx="3333750" cy="11430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2E1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FD584F9-8687-4785-BD70-F77DD086AC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3028950"/>
            <a:ext cx="5715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C3AED"/>
          </a:solidFill>
          <a:ln xmlns:a="http://schemas.openxmlformats.org/drawingml/2006/main" w="9525">
            <a:solidFill>
              <a:srgbClr val="7C3AED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8E40AB3-DB3A-4097-ACC1-73E4F634A4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3200400"/>
            <a:ext cx="3009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02A2A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>
                <a:solidFill>
                  <a:srgbClr val="102A2A"/>
                </a:solidFill>
                <a:latin typeface="PingFang SC"/>
                <a:ea typeface="PingFang SC"/>
                <a:cs typeface="PingFang SC"/>
              </a:rPr>
              <a:t>不知道是否该确认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67F46C2-0E1F-4B1E-980B-E3CC892001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3562350"/>
            <a:ext cx="30099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334155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334155"/>
                </a:solidFill>
                <a:latin typeface="PingFang SC"/>
                <a:ea typeface="PingFang SC"/>
                <a:cs typeface="PingFang SC"/>
              </a:rPr>
              <a:t>先 Ask 深挖。只有硬证据或市场反馈+二次确认，才考虑升级状态。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6913EC1-753C-408C-9339-AA7665FC00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143500"/>
            <a:ext cx="100584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02A2A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102A2A"/>
                </a:solidFill>
                <a:latin typeface="PingFang SC"/>
                <a:ea typeface="PingFang SC"/>
                <a:cs typeface="PingFang SC"/>
              </a:rPr>
              <a:t>如果你只记住一句话：扫描负责发现建议，Ask 负责深挖解释，确认负责写入记忆。</a:t>
            </a:r>
          </a:p>
        </p:txBody>
      </p:sp>
    </p:spTree>
    <p:extLst>
      <p:ext uri="{BB962C8B-B14F-4D97-AF65-F5344CB8AC3E}">
        <p14:creationId xmlns:p14="http://schemas.microsoft.com/office/powerpoint/2010/main" val="73409262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2026-06-19T08:44:20.2810000Z</dcterms:created>
  <dcterms:modified xsi:type="dcterms:W3CDTF">2026-06-19T08:44:20.2810000Z</dcterms:modified>
</coreProperties>
</file>