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2d4cdd9cae406d" /><Relationship Type="http://schemas.openxmlformats.org/officeDocument/2006/relationships/extended-properties" Target="/docProps/app.xml" Id="R5080568003ba40d5" /><Relationship Type="http://schemas.openxmlformats.org/officeDocument/2006/relationships/officeDocument" Target="/ppt/presentation.xml" Id="R7829a19e1c1d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e503085f7345bc"/>
  </p:sldMasterIdLst>
  <p:notesMasterIdLst>
    <p:notesMasterId xmlns:r="http://schemas.openxmlformats.org/officeDocument/2006/relationships" r:id="R1dda7b53192042f7"/>
  </p:notesMasterIdLst>
  <p:sldIdLst>
    <p:sldId xmlns:r="http://schemas.openxmlformats.org/officeDocument/2006/relationships" id="256" r:id="R71bf42eb345c4cd7"/>
    <p:sldId xmlns:r="http://schemas.openxmlformats.org/officeDocument/2006/relationships" id="257" r:id="R3d5412babcbb438b"/>
    <p:sldId xmlns:r="http://schemas.openxmlformats.org/officeDocument/2006/relationships" id="258" r:id="Ra816e4726afb48b2"/>
    <p:sldId xmlns:r="http://schemas.openxmlformats.org/officeDocument/2006/relationships" id="259" r:id="R2395f1e3275142de"/>
    <p:sldId xmlns:r="http://schemas.openxmlformats.org/officeDocument/2006/relationships" id="260" r:id="R588679b151dc4522"/>
    <p:sldId xmlns:r="http://schemas.openxmlformats.org/officeDocument/2006/relationships" id="261" r:id="Rd2b2076b083b4d17"/>
    <p:sldId xmlns:r="http://schemas.openxmlformats.org/officeDocument/2006/relationships" id="262" r:id="R8bbe38339cb14bc3"/>
    <p:sldId xmlns:r="http://schemas.openxmlformats.org/officeDocument/2006/relationships" id="263" r:id="R6a0ed4d8d8814fe0"/>
    <p:sldId xmlns:r="http://schemas.openxmlformats.org/officeDocument/2006/relationships" id="264" r:id="R063df3f97e164489"/>
    <p:sldId xmlns:r="http://schemas.openxmlformats.org/officeDocument/2006/relationships" id="265" r:id="R71ebc3732f3e4e63"/>
    <p:sldId xmlns:r="http://schemas.openxmlformats.org/officeDocument/2006/relationships" id="266" r:id="Ra12a52abf3944fbe"/>
    <p:sldId xmlns:r="http://schemas.openxmlformats.org/officeDocument/2006/relationships" id="267" r:id="Rc6d545089ee74b1e"/>
    <p:sldId xmlns:r="http://schemas.openxmlformats.org/officeDocument/2006/relationships" id="268" r:id="Re84096e418f74cc6"/>
    <p:sldId xmlns:r="http://schemas.openxmlformats.org/officeDocument/2006/relationships" id="269" r:id="Rdeec83a1f61f47b5"/>
    <p:sldId xmlns:r="http://schemas.openxmlformats.org/officeDocument/2006/relationships" id="270" r:id="R4387863ec1d04a51"/>
    <p:sldId xmlns:r="http://schemas.openxmlformats.org/officeDocument/2006/relationships" id="271" r:id="R55a99bc0f7054b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a0ef675ca14c19" /><Relationship Type="http://schemas.openxmlformats.org/officeDocument/2006/relationships/slideMaster" Target="/ppt/slideMasters/slideMaster1.xml" Id="Rbbe503085f7345bc" /><Relationship Type="http://schemas.openxmlformats.org/officeDocument/2006/relationships/notesMaster" Target="/ppt/notesMasters/notesMaster1.xml" Id="R1dda7b53192042f7" /><Relationship Type="http://schemas.openxmlformats.org/officeDocument/2006/relationships/presProps" Target="/ppt/presProps.xml" Id="Rf2af082310a9402d" /><Relationship Type="http://schemas.openxmlformats.org/officeDocument/2006/relationships/tableStyles" Target="/ppt/tableStyles.xml" Id="Rf0442b32293f4238" /><Relationship Type="http://schemas.openxmlformats.org/officeDocument/2006/relationships/slide" Target="/ppt/slides/slide1.xml" Id="R71bf42eb345c4cd7" /><Relationship Type="http://schemas.openxmlformats.org/officeDocument/2006/relationships/slide" Target="/ppt/slides/slide2.xml" Id="R3d5412babcbb438b" /><Relationship Type="http://schemas.openxmlformats.org/officeDocument/2006/relationships/slide" Target="/ppt/slides/slide3.xml" Id="Ra816e4726afb48b2" /><Relationship Type="http://schemas.openxmlformats.org/officeDocument/2006/relationships/slide" Target="/ppt/slides/slide4.xml" Id="R2395f1e3275142de" /><Relationship Type="http://schemas.openxmlformats.org/officeDocument/2006/relationships/slide" Target="/ppt/slides/slide5.xml" Id="R588679b151dc4522" /><Relationship Type="http://schemas.openxmlformats.org/officeDocument/2006/relationships/slide" Target="/ppt/slides/slide6.xml" Id="Rd2b2076b083b4d17" /><Relationship Type="http://schemas.openxmlformats.org/officeDocument/2006/relationships/slide" Target="/ppt/slides/slide7.xml" Id="R8bbe38339cb14bc3" /><Relationship Type="http://schemas.openxmlformats.org/officeDocument/2006/relationships/slide" Target="/ppt/slides/slide8.xml" Id="R6a0ed4d8d8814fe0" /><Relationship Type="http://schemas.openxmlformats.org/officeDocument/2006/relationships/slide" Target="/ppt/slides/slide9.xml" Id="R063df3f97e164489" /><Relationship Type="http://schemas.openxmlformats.org/officeDocument/2006/relationships/slide" Target="/ppt/slides/slide10.xml" Id="R71ebc3732f3e4e63" /><Relationship Type="http://schemas.openxmlformats.org/officeDocument/2006/relationships/slide" Target="/ppt/slides/slide11.xml" Id="Ra12a52abf3944fbe" /><Relationship Type="http://schemas.openxmlformats.org/officeDocument/2006/relationships/slide" Target="/ppt/slides/slide12.xml" Id="Rc6d545089ee74b1e" /><Relationship Type="http://schemas.openxmlformats.org/officeDocument/2006/relationships/slide" Target="/ppt/slides/slide13.xml" Id="Re84096e418f74cc6" /><Relationship Type="http://schemas.openxmlformats.org/officeDocument/2006/relationships/slide" Target="/ppt/slides/slide14.xml" Id="Rdeec83a1f61f47b5" /><Relationship Type="http://schemas.openxmlformats.org/officeDocument/2006/relationships/slide" Target="/ppt/slides/slide15.xml" Id="R4387863ec1d04a51" /><Relationship Type="http://schemas.openxmlformats.org/officeDocument/2006/relationships/slide" Target="/ppt/slides/slide16.xml" Id="R55a99bc0f705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4fbe69343249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cursive Trading AI">
      <a:dk1>
        <a:srgbClr val="101820"/>
      </a:dk1>
      <a:lt1>
        <a:srgbClr val="FFFFFF"/>
      </a:lt1>
      <a:dk2>
        <a:srgbClr val="1F3A5A"/>
      </a:dk2>
      <a:lt2>
        <a:srgbClr val="CFC7B9"/>
      </a:lt2>
      <a:accent1>
        <a:srgbClr val="00796B"/>
      </a:accent1>
      <a:accent2>
        <a:srgbClr val="D28A1E"/>
      </a:accent2>
      <a:accent3>
        <a:srgbClr val="C2413A"/>
      </a:accent3>
      <a:accent4>
        <a:srgbClr val="2D7D46"/>
      </a:accent4>
      <a:accent5>
        <a:srgbClr val="6D5BD0"/>
      </a:accent5>
      <a:accent6>
        <a:srgbClr val="3178B9"/>
      </a:accent6>
      <a:hlink>
        <a:srgbClr val="00796B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cursive Trading A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2d160a9dec4408" /><Relationship Type="http://schemas.openxmlformats.org/officeDocument/2006/relationships/notesMaster" Target="/ppt/notesMasters/notesMaster1.xml" Id="Rc9eaed473b9f41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2ee7f55454b19" /><Relationship Type="http://schemas.openxmlformats.org/officeDocument/2006/relationships/notesMaster" Target="/ppt/notesMasters/notesMaster1.xml" Id="R462c01ae372a4c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3c979702294049" /><Relationship Type="http://schemas.openxmlformats.org/officeDocument/2006/relationships/notesMaster" Target="/ppt/notesMasters/notesMaster1.xml" Id="Rbe8324966cde44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56e3454c014edc" /><Relationship Type="http://schemas.openxmlformats.org/officeDocument/2006/relationships/notesMaster" Target="/ppt/notesMasters/notesMaster1.xml" Id="R6a6c3fe27c9747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96853157e846ef" /><Relationship Type="http://schemas.openxmlformats.org/officeDocument/2006/relationships/notesMaster" Target="/ppt/notesMasters/notesMaster1.xml" Id="R59e558fef49547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626be58f7e4651" /><Relationship Type="http://schemas.openxmlformats.org/officeDocument/2006/relationships/notesMaster" Target="/ppt/notesMasters/notesMaster1.xml" Id="Rfe827159726d45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5ba6b3932b4f1b" /><Relationship Type="http://schemas.openxmlformats.org/officeDocument/2006/relationships/notesMaster" Target="/ppt/notesMasters/notesMaster1.xml" Id="Rc64bf56aee764f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a267640f6d4177" /><Relationship Type="http://schemas.openxmlformats.org/officeDocument/2006/relationships/notesMaster" Target="/ppt/notesMasters/notesMaster1.xml" Id="Rc15200c4d28347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2cab2678af488c" /><Relationship Type="http://schemas.openxmlformats.org/officeDocument/2006/relationships/notesMaster" Target="/ppt/notesMasters/notesMaster1.xml" Id="R172f1f36cd9f47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17ed1571714303" /><Relationship Type="http://schemas.openxmlformats.org/officeDocument/2006/relationships/notesMaster" Target="/ppt/notesMasters/notesMaster1.xml" Id="Re6476c61d35c48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16db6ac38d4069" /><Relationship Type="http://schemas.openxmlformats.org/officeDocument/2006/relationships/notesMaster" Target="/ppt/notesMasters/notesMaster1.xml" Id="R1b335567183c45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8188fe5d134788" /><Relationship Type="http://schemas.openxmlformats.org/officeDocument/2006/relationships/notesMaster" Target="/ppt/notesMasters/notesMaster1.xml" Id="R1bfcabdac01845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bed6c0a7d948b1" /><Relationship Type="http://schemas.openxmlformats.org/officeDocument/2006/relationships/notesMaster" Target="/ppt/notesMasters/notesMaster1.xml" Id="Ra1f6a739156640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e7d34e9df148e5" /><Relationship Type="http://schemas.openxmlformats.org/officeDocument/2006/relationships/notesMaster" Target="/ppt/notesMasters/notesMaster1.xml" Id="R47fe97a1e82a42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bf161500a44f86" /><Relationship Type="http://schemas.openxmlformats.org/officeDocument/2006/relationships/notesMaster" Target="/ppt/notesMasters/notesMaster1.xml" Id="R86e4ac3987df4d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236da4ca4849f4" /><Relationship Type="http://schemas.openxmlformats.org/officeDocument/2006/relationships/notesMaster" Target="/ppt/notesMasters/notesMaster1.xml" Id="R871348fb7f9141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7c228ad9c4a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21bdd20f264be6" /><Relationship Type="http://schemas.openxmlformats.org/officeDocument/2006/relationships/slideLayout" Target="/ppt/slideLayouts/slideLayout1.xml" Id="R3f2fedcf0b98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2fedcf0b98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cursive Trading AI">
      <a:dk1>
        <a:srgbClr val="101820"/>
      </a:dk1>
      <a:lt1>
        <a:srgbClr val="FFFFFF"/>
      </a:lt1>
      <a:dk2>
        <a:srgbClr val="1F3A5A"/>
      </a:dk2>
      <a:lt2>
        <a:srgbClr val="CFC7B9"/>
      </a:lt2>
      <a:accent1>
        <a:srgbClr val="00796B"/>
      </a:accent1>
      <a:accent2>
        <a:srgbClr val="D28A1E"/>
      </a:accent2>
      <a:accent3>
        <a:srgbClr val="C2413A"/>
      </a:accent3>
      <a:accent4>
        <a:srgbClr val="2D7D46"/>
      </a:accent4>
      <a:accent5>
        <a:srgbClr val="6D5BD0"/>
      </a:accent5>
      <a:accent6>
        <a:srgbClr val="3178B9"/>
      </a:accent6>
      <a:hlink>
        <a:srgbClr val="00796B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cursive Trading A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6232c5e67403c" /><Relationship Type="http://schemas.openxmlformats.org/officeDocument/2006/relationships/notesSlide" Target="/ppt/notesSlides/notesSlide1.xml" Id="R9dff77a8e81c48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dc93163b344c8" /><Relationship Type="http://schemas.openxmlformats.org/officeDocument/2006/relationships/notesSlide" Target="/ppt/notesSlides/notesSlide2.xml" Id="R5d371c1e2a7d42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94bc516a44657" /><Relationship Type="http://schemas.openxmlformats.org/officeDocument/2006/relationships/notesSlide" Target="/ppt/notesSlides/notesSlide3.xml" Id="Rc788d666c26843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c1f1f5aaa4bda" /><Relationship Type="http://schemas.openxmlformats.org/officeDocument/2006/relationships/notesSlide" Target="/ppt/notesSlides/notesSlide4.xml" Id="R1b38bcdb2cba4e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d76d5d9da4b3f" /><Relationship Type="http://schemas.openxmlformats.org/officeDocument/2006/relationships/notesSlide" Target="/ppt/notesSlides/notesSlide5.xml" Id="R995c24fbac0f4b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d5c20aeda423e" /><Relationship Type="http://schemas.openxmlformats.org/officeDocument/2006/relationships/notesSlide" Target="/ppt/notesSlides/notesSlide6.xml" Id="R2fd4b6df5e8246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a1d87a5044b67" /><Relationship Type="http://schemas.openxmlformats.org/officeDocument/2006/relationships/notesSlide" Target="/ppt/notesSlides/notesSlide7.xml" Id="R7f1ce402653740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b804655eb4d81" /><Relationship Type="http://schemas.openxmlformats.org/officeDocument/2006/relationships/notesSlide" Target="/ppt/notesSlides/notesSlide8.xml" Id="R906fb7d1758047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d64f7b3e74aa4" /><Relationship Type="http://schemas.openxmlformats.org/officeDocument/2006/relationships/notesSlide" Target="/ppt/notesSlides/notesSlide9.xml" Id="R86a58797c68e49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a27b06f024e74" /><Relationship Type="http://schemas.openxmlformats.org/officeDocument/2006/relationships/notesSlide" Target="/ppt/notesSlides/notesSlide10.xml" Id="Re976ef98377c49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a7e9ee0be4da6" /><Relationship Type="http://schemas.openxmlformats.org/officeDocument/2006/relationships/notesSlide" Target="/ppt/notesSlides/notesSlide11.xml" Id="Rc460cd7d21794c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df2d735f8488d" /><Relationship Type="http://schemas.openxmlformats.org/officeDocument/2006/relationships/notesSlide" Target="/ppt/notesSlides/notesSlide12.xml" Id="Rdcaf5a01d23e44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d55de0a0c4619" /><Relationship Type="http://schemas.openxmlformats.org/officeDocument/2006/relationships/notesSlide" Target="/ppt/notesSlides/notesSlide13.xml" Id="R45541ddafb1349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9bd8c58bc49bf" /><Relationship Type="http://schemas.openxmlformats.org/officeDocument/2006/relationships/notesSlide" Target="/ppt/notesSlides/notesSlide14.xml" Id="Rb4a74abae56a46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b57188fc348d4" /><Relationship Type="http://schemas.openxmlformats.org/officeDocument/2006/relationships/notesSlide" Target="/ppt/notesSlides/notesSlide15.xml" Id="R371123a7671a48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e6761ca9e48b8" /><Relationship Type="http://schemas.openxmlformats.org/officeDocument/2006/relationships/notesSlide" Target="/ppt/notesSlides/notesSlide16.xml" Id="Rfa03f0a021874c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">
            <a:extLst xmlns:a="http://schemas.openxmlformats.org/drawingml/2006/main">
              <a:ext uri="{FF2B5EF4-FFF2-40B4-BE49-F238E27FC236}">
                <a16:creationId xmlns:a16="http://schemas.microsoft.com/office/drawing/2014/main" id="{0DAA47FB-06D8-4481-B7CB-A3CF8B2D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F3A"/>
          </a:solidFill>
          <a:ln xmlns:a="http://schemas.openxmlformats.org/drawingml/2006/main" w="9525">
            <a:solidFill>
              <a:srgbClr val="183F3A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BF84DE-76C4-43E3-8C93-2B1E59CA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437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B7F3E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7F3E4"/>
                </a:solidFill>
                <a:latin typeface="PingFang SC"/>
                <a:ea typeface="PingFang SC"/>
                <a:cs typeface="PingFang SC"/>
              </a:rPr>
              <a:t>系统路线图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C656506-648E-4F84-8A6C-64E6612C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DB6F977-5292-40C0-9310-34A73B8B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从知识库问答，到可审计实验系统，再到受控交易建议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5532C37A-23E7-484E-BCB3-269D8D35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286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2532"/>
          </a:solidFill>
          <a:ln xmlns:a="http://schemas.openxmlformats.org/drawingml/2006/main" w="9525">
            <a:solidFill>
              <a:srgbClr val="3443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8CD9C-6E12-4213-AABE-3D4C0ED0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DCFBBE-AABC-409F-AE90-81E9495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DD1E0C-3187-4AF5-B906-021E767D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DCE7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7ED"/>
                </a:solidFill>
                <a:latin typeface="PingFang SC"/>
                <a:ea typeface="PingFang SC"/>
                <a:cs typeface="PingFang SC"/>
              </a:rPr>
              <a:t>Phase 5A：AI 提出改进建议，不自动应用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1DC67539-11BA-4C5C-A413-FD4686C8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2286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2532"/>
          </a:solidFill>
          <a:ln xmlns:a="http://schemas.openxmlformats.org/drawingml/2006/main" w="9525">
            <a:solidFill>
              <a:srgbClr val="3443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69918-61CD-4182-BC8C-46FC9207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313B32-C0CD-45ED-B515-7A1373D6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719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B2BFDC-D1DF-453A-8349-3C0FEB73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33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DCE7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7ED"/>
                </a:solidFill>
                <a:latin typeface="PingFang SC"/>
                <a:ea typeface="PingFang SC"/>
                <a:cs typeface="PingFang SC"/>
              </a:rPr>
              <a:t>人工批准后，应用低风险配置改动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B807C953-67FC-4367-90BB-34BA7135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2286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2532"/>
          </a:solidFill>
          <a:ln xmlns:a="http://schemas.openxmlformats.org/drawingml/2006/main" w="9525">
            <a:solidFill>
              <a:srgbClr val="3443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891AC-CC4E-4A92-BD94-4F4630DB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F6BA40-CEF0-4E72-B26E-54D2630F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7FEF3D2-B6B5-43A1-B073-5DD8CB9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DCE7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7ED"/>
                </a:solidFill>
                <a:latin typeface="PingFang SC"/>
                <a:ea typeface="PingFang SC"/>
                <a:cs typeface="PingFang SC"/>
              </a:rPr>
              <a:t>模拟交易闭环验证，严格禁止未来函数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CAF81DB8-DE67-4610-B919-B92A0676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0450"/>
            <a:ext cx="2286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2532"/>
          </a:solidFill>
          <a:ln xmlns:a="http://schemas.openxmlformats.org/drawingml/2006/main" w="9525">
            <a:solidFill>
              <a:srgbClr val="3443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D4410-3741-4EFC-A52D-F451780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04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EE80095-7AE3-48EC-9918-6A535B27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719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长期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D124EBC-4202-47B9-B438-676E0256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33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DCE7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7ED"/>
                </a:solidFill>
                <a:latin typeface="PingFang SC"/>
                <a:ea typeface="PingFang SC"/>
                <a:cs typeface="PingFang SC"/>
              </a:rPr>
              <a:t>受控真实交易建议，不直接自动下单</a:t>
            </a:r>
          </a:p>
        </p:txBody>
      </p: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28950" y="41814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6CE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29300" y="41814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6CE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29650" y="41814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6CE"/>
            </a:solidFill>
            <a:prstDash val="solid"/>
            <a:tailEnd type="arrow" w="med" len="med"/>
          </a:ln>
        </p:spPr>
      </p:cxn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DAF4E13-A45B-4DED-A7DC-B15424CE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FC6C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FC6CE"/>
                </a:solidFill>
                <a:latin typeface="PingFang SC"/>
                <a:ea typeface="PingFang SC"/>
                <a:cs typeface="PingFang SC"/>
              </a:rPr>
              <a:t>核心原则：先验证，再训练；先建议，再审核；先模拟，再受控进入真实交易建议。</a:t>
            </a:r>
          </a:p>
        </p:txBody>
      </p:sp>
    </p:spTree>
    <p:extLst>
      <p:ext uri="{BB962C8B-B14F-4D97-AF65-F5344CB8AC3E}">
        <p14:creationId xmlns:p14="http://schemas.microsoft.com/office/powerpoint/2010/main" val="1865857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ACB6FA9-A357-477E-9A6B-616FD745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为什么要做这套系统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7FAD943-DE10-4753-9CD4-6BF79AD6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目标不是让 AI 看起来更聪明，而是让每个交易判断有证据、反馈和复盘。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62FDFE-BC47-4E21-9F02-39E16E53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3BC2B-72C3-40AC-9338-7912218F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514078-3192-4455-BCBD-251B7211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E99F76B-6936-4103-A1B6-A30F6D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314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60589-558A-450E-8B1B-C18AC6FC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3E3097-F582-4FE6-A917-8E4E8877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FC8B24C-2343-44B9-B24C-8E4907EE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投研资料、行情、公告、财报、个人纠错分散在不同地方，结论容易变成聊天记录。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3642AC7E-DDFB-4D81-9423-669DA825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3314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B4788-858C-463C-A09C-136885AB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B51ED5-111F-4AFB-BC87-D2D30E11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解法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FCFD44-95B4-4B81-83E3-A44B05BB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用 CLI 把摄入、检索、agentic ask、市场验证、归因、训练样本和 policy 建议串起来。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85A70841-4000-4AC3-B594-406E7AD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314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EC898-1905-496C-A22B-51C51DC0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77EDB62-95D4-4272-8B2C-D759FCC2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CA312E1-639C-4C42-9DE5-0A9034B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系统能提出可验证问题，等待市场和基本面反馈，再改进下一轮研究策略。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F4A6F807-C452-4E6C-8E16-DD4DB9C6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05250"/>
            <a:ext cx="9258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635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E9E20F8-DBCC-4B6E-B927-A35D831B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不是：一次性问答工具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而是：可验证、可审计、可复盘的交易研究操作系统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C2939EE-FC60-4ED9-9705-35ACE619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911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3A5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F3A5A"/>
                </a:solidFill>
                <a:latin typeface="PingFang SC"/>
                <a:ea typeface="PingFang SC"/>
                <a:cs typeface="PingFang SC"/>
              </a:rPr>
              <a:t>长期目标：形成可交易的研究与决策链摘要能力，而不是不可审计的黑箱。</a:t>
            </a:r>
          </a:p>
        </p:txBody>
      </p:sp>
    </p:spTree>
    <p:extLst>
      <p:ext uri="{BB962C8B-B14F-4D97-AF65-F5344CB8AC3E}">
        <p14:creationId xmlns:p14="http://schemas.microsoft.com/office/powerpoint/2010/main" val="1936963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835C4FE-CCF3-40C9-8760-2D6941EC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现阶段进度：Phase 5A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842D032-62FA-42A1-A6C9-A9D44762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系统已经可以做可审计研究实验，但还不能自动应用策略或自动交易。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88CC0A2-3B36-473A-AAF6-4504B6EC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09ECC-4CD9-4C82-81F2-12B8ADDA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D937D8-8B1E-4425-AEBB-E984A648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A2B6006-E4F9-4894-B0EB-28FF179D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D2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6BEC2F-6551-476A-812B-4A9C681C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28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28A1E"/>
                </a:solidFill>
                <a:latin typeface="PingFang SC"/>
                <a:ea typeface="PingFang SC"/>
                <a:cs typeface="PingFang SC"/>
              </a:rPr>
              <a:t>Phase 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2225A9-8B8F-4395-9C0E-757BE46C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CLI 工程化拆分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CCECF7-5769-4C08-BE1A-94E52442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已完成主体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B0FABD6F-73B5-46E9-81C2-682421C6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954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F1EB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8154A80-430C-40CB-858C-0A49F668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Phase 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BEA5B3-AABC-410D-BC67-2B8E73B9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多智能体研究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DB918A-6AD9-4A69-A180-A05A4E9D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ask --agentic 已落地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CE0FE43C-1626-42E1-AFB4-57B358DB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954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CE8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4946C3F-8848-4F29-8A2B-3E6D759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288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D5BD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5BD0"/>
                </a:solidFill>
                <a:latin typeface="PingFang SC"/>
                <a:ea typeface="PingFang SC"/>
                <a:cs typeface="PingFang SC"/>
              </a:rPr>
              <a:t>Phase 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BD906E-A05C-4DA9-85CC-86AD521F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14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市场验证和 segment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97FEE7B-2C58-45CF-97BC-7B308FD8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717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已有第一版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8F37FBB4-AF7C-4236-83C1-EB9F4D81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954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3F1E7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5A35A42-3B1C-40C6-A758-EFDB7BDB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288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Phase 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7C06DBD-689D-40BA-9ECE-5DB44369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14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自提问/归因/样本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A099B2-7DFF-4C95-8B7B-72AD4B2A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已有闭环雏形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97FB3DAA-30D0-4127-AEE1-944BE95C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954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F567638-74E5-4A21-8D8D-BD84E279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288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Phase 5A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EE43F64-5C3B-4255-AA87-89CFEF18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14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Autoresearch proposal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E4506D4-69F8-489D-B18A-A5356C69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717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当前阶段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563AFD9-E65B-4068-93AF-62A80ED2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当前边界</a:t>
            </a:r>
          </a:p>
        </p:txBody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67A39A0D-9471-4B11-B2C0-9EF90B7C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F1E7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6FC290B-7FFC-4EAF-9289-F5271BC3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可以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4EEC3A0-8BEA-44DB-8CBE-B703F07F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29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提出系统改进建议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8FE7CFBF-FC18-4C4E-A62D-227F346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CC42C3B-6278-4AB5-A8E4-F4F972A3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29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不可以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E2F6487-9065-4E0B-924D-05C1CA6A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自动改 prompt / segment</a:t>
            </a:r>
          </a:p>
        </p:txBody>
      </p:sp>
      <p:sp>
        <p:nvSpPr>
          <p:cNvPr id="33" name="shape">
            <a:extLst xmlns:a="http://schemas.openxmlformats.org/drawingml/2006/main">
              <a:ext uri="{FF2B5EF4-FFF2-40B4-BE49-F238E27FC236}">
                <a16:creationId xmlns:a16="http://schemas.microsoft.com/office/drawing/2014/main" id="{A971F0D9-3B59-4A9F-8ED6-48CDFC7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8B87DA07-460C-4F7E-AD5F-76810AE9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不可以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5D0F64E-194F-4574-9584-A883641B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29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写正式 wiki/raw</a:t>
            </a:r>
          </a:p>
        </p:txBody>
      </p:sp>
      <p:sp>
        <p:nvSpPr>
          <p:cNvPr id="36" name="shape">
            <a:extLst xmlns:a="http://schemas.openxmlformats.org/drawingml/2006/main">
              <a:ext uri="{FF2B5EF4-FFF2-40B4-BE49-F238E27FC236}">
                <a16:creationId xmlns:a16="http://schemas.microsoft.com/office/drawing/2014/main" id="{68B5044B-7476-46AE-B201-C8C048C5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957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E3DA614-82A1-4840-86E0-557DBDBD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29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不可以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5BBBC14-8248-4C81-A6F5-CEC256C4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29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自动交易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7C179EDA-28BB-4B1A-8FCD-0D204177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292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3A5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F3A5A"/>
                </a:solidFill>
                <a:latin typeface="PingFang SC"/>
                <a:ea typeface="PingFang SC"/>
                <a:cs typeface="PingFang SC"/>
              </a:rPr>
              <a:t>一句话：现在可以开始系统化做实验，但所有改变仍然过人工审核门。</a:t>
            </a:r>
          </a:p>
        </p:txBody>
      </p:sp>
    </p:spTree>
    <p:extLst>
      <p:ext uri="{BB962C8B-B14F-4D97-AF65-F5344CB8AC3E}">
        <p14:creationId xmlns:p14="http://schemas.microsoft.com/office/powerpoint/2010/main" val="856329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0984D66-5475-44CD-882D-3700D225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整体架构：五层能力栈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4B67BAA-A196-4AC4-9CEA-AB147454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从资料入库，到市场反馈，再到递归实验和策略治理。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1CD6FE0-FE77-4696-8CF1-61CAE720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8A201-455B-41FF-8836-AA59FAA6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7D1068-0803-49EC-B92D-0FD30AA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27FEF08-572F-47DE-AEE7-F8CC744E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906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E3D6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D39D8-F09E-4226-B217-82797337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906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5F82AB-405C-474E-9A17-B5501FBE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24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资料与知识层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577ABE-4291-4EF7-9FCA-213D7BE7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621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3707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3707A"/>
                </a:solidFill>
                <a:latin typeface="Menlo"/>
                <a:ea typeface="Menlo"/>
                <a:cs typeface="Menlo"/>
              </a:rPr>
              <a:t>raw / wiki / facts / brain / company research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E7C3C218-5145-411E-8D46-D79DE0D3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AFBDB-1198-4D0C-8629-460D416B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944152-7616-40AC-8F06-E407518A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05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检索与问答层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8CEBDD-8C34-4AD6-AB3B-EB2379B8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3707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3707A"/>
                </a:solidFill>
                <a:latin typeface="Menlo"/>
                <a:ea typeface="Menlo"/>
                <a:cs typeface="Menlo"/>
              </a:rPr>
              <a:t>ask / graph / stock SQL / Temporal Facts</a:t>
            </a:r>
          </a:p>
        </p:txBody>
      </p:sp>
      <p:cxnSp>
        <p:nvCxnSpPr>
          <p:cNvPr id="44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19431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FC7B9"/>
            </a:solidFill>
            <a:prstDash val="solid"/>
            <a:tailEnd type="arrow" w="med" len="med"/>
          </a:ln>
        </p:spPr>
      </p:cxn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6226D993-6C9B-4DFF-BD66-BA27426C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E3D6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0F6DF-6537-4453-8B4C-6B272D5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AB607B0-B55D-44D5-9C19-0C0B86C1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多智能体层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75AE89B-7135-425D-A80C-21B01F44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242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3707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3707A"/>
                </a:solidFill>
                <a:latin typeface="Menlo"/>
                <a:ea typeface="Menlo"/>
                <a:cs typeface="Menlo"/>
              </a:rPr>
              <a:t>evidence / counterevidence / market / strategy / adjudicator</a:t>
            </a:r>
          </a:p>
        </p:txBody>
      </p:sp>
      <p:cxnSp>
        <p:nvCxnSpPr>
          <p:cNvPr id="49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2724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FC7B9"/>
            </a:solidFill>
            <a:prstDash val="solid"/>
            <a:tailEnd type="arrow" w="med" len="med"/>
          </a:ln>
        </p:spPr>
      </p:cxn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D1335CAE-FDE4-441D-996E-7A6D1832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CF81A-1BAB-44EF-BF6A-46C963ED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7CE54DA-9A10-42BD-886D-C84DB712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验证与归因层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713378D-C420-4B9C-9869-4393FF7E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3707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3707A"/>
                </a:solidFill>
                <a:latin typeface="Menlo"/>
                <a:ea typeface="Menlo"/>
                <a:cs typeface="Menlo"/>
              </a:rPr>
              <a:t>market-validate / self-question validate / attribute</a:t>
            </a:r>
          </a:p>
        </p:txBody>
      </p:sp>
      <p:cxnSp>
        <p:nvCxnSpPr>
          <p:cNvPr id="54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5052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FC7B9"/>
            </a:solidFill>
            <a:prstDash val="solid"/>
            <a:tailEnd type="arrow" w="med" len="med"/>
          </a:ln>
        </p:spPr>
      </p:cxn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82591CC7-B906-4C01-B048-7F71E7E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1005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E3D6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C4F3C2-CE8A-4AD4-A604-E0F7308A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B0E31FC-3395-40A8-8746-C30B19A3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自训练治理层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EFC97FA-CFB3-49D6-92E7-B103D159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863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3707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3707A"/>
                </a:solidFill>
                <a:latin typeface="Menlo"/>
                <a:ea typeface="Menlo"/>
                <a:cs typeface="Menlo"/>
              </a:rPr>
              <a:t>export-samples / autoresearch / policy proposal / regression</a:t>
            </a:r>
          </a:p>
        </p:txBody>
      </p:sp>
      <p:cxnSp>
        <p:nvCxnSpPr>
          <p:cNvPr id="59" name=""/>
          <p:cNvCxnSpPr>
            <a:stCxn xmlns:a="http://schemas.openxmlformats.org/drawingml/2006/main" id="2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096000" y="42862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FC7B9"/>
            </a:solidFill>
            <a:prstDash val="solid"/>
            <a:tailEnd type="arrow" w="med" len="med"/>
          </a:ln>
        </p:spPr>
      </p:cxn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98BC167-C75E-43E9-B524-E1F5C9A8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435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F3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3A5A"/>
                </a:solidFill>
                <a:latin typeface="PingFang SC"/>
                <a:ea typeface="PingFang SC"/>
                <a:cs typeface="PingFang SC"/>
              </a:rPr>
              <a:t>所有层都必须保留 sourceRefs、runId、manifest 和写入边界。</a:t>
            </a:r>
          </a:p>
        </p:txBody>
      </p:sp>
    </p:spTree>
    <p:extLst>
      <p:ext uri="{BB962C8B-B14F-4D97-AF65-F5344CB8AC3E}">
        <p14:creationId xmlns:p14="http://schemas.microsoft.com/office/powerpoint/2010/main" val="349354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0BAC30D-647E-47E5-9BE8-152D4B1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现阶段能做到什么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25242B-5E6D-4CC3-AD6A-9C670B48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这些能力已经能支撑真实主题的研究实验。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934753D-339B-410A-97BC-1A4B94D2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45CB1-BAFC-4E59-B0CA-35E1135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F3A39E6-C8A8-461B-B98F-7CA92067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CCC3BEF7-E5BB-462B-8564-0427390B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FCD61-12F6-4F29-9C6D-E338E16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771DF-96B8-4C56-9D73-5E7D54B9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6382FB-F50C-4643-8711-DA8A9849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842019-C07B-4DF5-A136-1E995BAA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478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CLI 底座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2FF24F5-BAC2-4F7D-97D8-E94085BF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模块化拆分，兼容原命令和 skills。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0A2CCF7B-FD36-45FC-9D53-3E6DAB64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859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FE13C-131F-43DE-BC85-776F9638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859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BECC1-9323-460B-8559-85FC951B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B97E2C9-A10B-4A91-9CA2-CC407A03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51A7ED2-0CDF-4481-B3CC-08BD5860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478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多源问答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E97CC88-2ACD-4267-9551-575566DE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wiki/raw/graph/facts/brain/stock-price。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BC215511-9303-4C45-8687-2203898A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859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84A18-7286-4666-BE90-2AA08AE2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859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E0961-2EF0-49C7-8D6D-0BFA933C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A4FAC34-4204-4CA9-B02E-6684F7B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D0D76E6-70AF-489F-AD69-D162965A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478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agentic ask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A138F58-680E-469E-A150-7AD4A2B7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并发证据、反证、市场、策略角色。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9D66BE15-D4CA-4FA6-B140-5923B8C0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66C4F-5F71-4638-9FB9-BAB62D12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9E1F4-DDE9-4E08-B6D0-03334FCA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6D59948-3D70-42AF-B2DD-9C97F3D4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15AA831-5DC5-4CBC-9AC9-8F5091FB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623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Market Validator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66295AE-7E11-46ED-B5AC-A8C39BBA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主题识别 + segment 候选池 + 量价验证。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C22359C4-5B79-482C-A3EF-915FC145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E5A2D2-87E7-4926-BFCB-3401D695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B9"/>
          </a:solidFill>
          <a:ln xmlns:a="http://schemas.openxmlformats.org/drawingml/2006/main" w="0">
            <a:solidFill>
              <a:srgbClr val="3178B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E490EB-3A7D-4871-995D-0D5727C9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78B9"/>
          </a:solidFill>
          <a:ln xmlns:a="http://schemas.openxmlformats.org/drawingml/2006/main" w="0">
            <a:solidFill>
              <a:srgbClr val="3178B9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9F82FD4-B153-4566-AC56-24DF1299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09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E2DA1BC-96F6-4863-AB0F-D00347DA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623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Self-Question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CA1F450-6668-410E-9F32-2468F3C4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生成问题、市场验证、归因、补证任务。</a:t>
            </a:r>
          </a:p>
        </p:txBody>
      </p:sp>
      <p:sp>
        <p:nvSpPr>
          <p:cNvPr id="36" name="shape">
            <a:extLst xmlns:a="http://schemas.openxmlformats.org/drawingml/2006/main">
              <a:ext uri="{FF2B5EF4-FFF2-40B4-BE49-F238E27FC236}">
                <a16:creationId xmlns:a16="http://schemas.microsoft.com/office/drawing/2014/main" id="{F977860D-241B-45FC-A5C4-210D73AE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ACA921-4B17-47B5-93A2-7818FDF0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E2A084-4721-40BA-BAFF-97D0AB66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FA0B627-2F8E-478F-B5DC-7864BE16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5FC668CA-386A-40D9-A294-BE9E1089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623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Autoresearch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324F3CCE-2571-49D2-9DF8-F7A3CF7F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program/score/ledger/proposal，当前只建议。</a:t>
            </a:r>
          </a:p>
        </p:txBody>
      </p:sp>
      <p:sp>
        <p:nvSpPr>
          <p:cNvPr id="42" name="shape">
            <a:extLst xmlns:a="http://schemas.openxmlformats.org/drawingml/2006/main">
              <a:ext uri="{FF2B5EF4-FFF2-40B4-BE49-F238E27FC236}">
                <a16:creationId xmlns:a16="http://schemas.microsoft.com/office/drawing/2014/main" id="{5BBF94F8-16E0-4630-97C2-0F0C718C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76850"/>
            <a:ext cx="9410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635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0007CE11-8181-4A3F-BF64-A0D0ACE0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10200"/>
            <a:ext cx="910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核心产物：agent-runs / experiments / policy-proposals / validations / attributions / export-samples</a:t>
            </a:r>
          </a:p>
        </p:txBody>
      </p:sp>
    </p:spTree>
    <p:extLst>
      <p:ext uri="{BB962C8B-B14F-4D97-AF65-F5344CB8AC3E}">
        <p14:creationId xmlns:p14="http://schemas.microsoft.com/office/powerpoint/2010/main" val="506723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3B70B7F-3DE1-470D-883C-0B725963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今天可用的 Phase 5A 实验链路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AFC8EEB-A98C-4599-840F-0A60E176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每个深度问题都要变成可复查的三件套。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D19B159-6EC7-4DF2-81D0-D0C096A5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5FBDB-6EEA-4ED7-9A31-19B0EB3B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0728035-7F64-4E28-8D33-692DA785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DB36D091-8A0A-487B-9BF9-585B9B00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E3D6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4C2DA5-7F58-45AC-AC2A-B8098B3C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深度问题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F8C448-716C-4693-B0A9-C6F09E5A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产业链环节 + 时间窗 + 证伪条件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B1EA00AE-8887-478E-AC5D-8C10B940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0500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2509B9-A533-4012-B727-C960F683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33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D28A1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28A1E"/>
                </a:solidFill>
                <a:latin typeface="PingFang SC"/>
                <a:ea typeface="PingFang SC"/>
                <a:cs typeface="PingFang SC"/>
              </a:rPr>
              <a:t>ask --agentic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2712D8E-1869-45DD-A4F2-3D871EEA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多智能体分析与审计产物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25241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FD7315B4-8E01-4B26-BD33-AA93AED8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E3D6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7D5F4B6-CBB5-4AFA-BB44-85FE90DA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ledger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D66A6D3-8452-4A88-A1CC-4EC02AA9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3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记录假设、分数、证据缺口</a:t>
            </a:r>
          </a:p>
        </p:txBody>
      </p: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53100" y="25241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01AD56BD-5895-409E-B285-E25E6E8D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0500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F5D7C39-0ED4-4923-A57D-41C60226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33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proposal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AEA72E4-B06E-4849-A809-D76091D5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3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提出待审核策略改进</a:t>
            </a:r>
          </a:p>
        </p:txBody>
      </p:sp>
      <p:cxnSp>
        <p:nvCxnSpPr>
          <p:cNvPr id="43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534400" y="25241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0777350C-28AB-4742-9975-0D680E4A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7658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635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062874A-0DD0-427C-8E52-48F49F98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29100"/>
            <a:ext cx="7353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.llm-wiki/agent-runs/**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.llm-wiki/experiments/experiment-ledger.jsonl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.llm-wiki/policy-proposals/**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EC1A1E9-4480-4FBA-A02E-A9C56D67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00700"/>
            <a:ext cx="906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3A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F3A5A"/>
                </a:solidFill>
                <a:latin typeface="PingFang SC"/>
                <a:ea typeface="PingFang SC"/>
                <a:cs typeface="PingFang SC"/>
              </a:rPr>
              <a:t>最终产物不是“一个答案”，而是一组可审计、可复盘、可训练的研究资产。</a:t>
            </a:r>
          </a:p>
        </p:txBody>
      </p:sp>
    </p:spTree>
    <p:extLst>
      <p:ext uri="{BB962C8B-B14F-4D97-AF65-F5344CB8AC3E}">
        <p14:creationId xmlns:p14="http://schemas.microsoft.com/office/powerpoint/2010/main" val="1405755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ADCF0759-9B70-483B-ACA7-70B3C84E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最终闭环：从问题到策略更新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6F4A549-5D73-42C2-AC46-8C8E017B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闭环的核心是市场和基本面反馈，不是模型自我感觉。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69244A6-272A-4FA1-9AAE-C6FC907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3879-7CF9-4816-B5AA-B5D8D7BB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7E13CA-76A6-4DDA-9A76-F2CB7693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B1ADAAE-91CF-4D36-8200-EAD7F81F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A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3410E4-383F-4810-83CB-FFD32CAD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573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F3A5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3A5A"/>
                </a:solidFill>
                <a:latin typeface="PingFang SC"/>
                <a:ea typeface="PingFang SC"/>
                <a:cs typeface="PingFang SC"/>
              </a:rPr>
              <a:t>研究计划</a:t>
            </a:r>
          </a:p>
        </p:txBody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9C78A4B-8F6F-4D50-9443-A1D8A333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383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CAE8AD-C532-4A9F-B67F-A731A115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573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自提问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0589D452-B296-4FDB-8126-E301C8B9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383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48349B-04D3-48D1-81FB-270E83AE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573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28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28A1E"/>
                </a:solidFill>
                <a:latin typeface="PingFang SC"/>
                <a:ea typeface="PingFang SC"/>
                <a:cs typeface="PingFang SC"/>
              </a:rPr>
              <a:t>多智能体验证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37F36A49-EC17-4DB4-BFB6-D45BFE24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C22889-39BC-4840-A42D-54C1A94A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573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D5BD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5BD0"/>
                </a:solidFill>
                <a:latin typeface="PingFang SC"/>
                <a:ea typeface="PingFang SC"/>
                <a:cs typeface="PingFang SC"/>
              </a:rPr>
              <a:t>证据补齐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4C764B46-F553-4DBB-9EDF-E1489AF5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383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C6AF41B-5620-458D-BA71-DDDD5B64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573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市场反馈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702AC3F3-550B-4B92-85D8-AFD5B107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19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81D38FD-9B2D-4DAC-8F29-22544774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385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基本面反馈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12C0B81C-566A-4916-8B95-CFC4CDA8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FFFDC9A-E9A1-48D1-92B9-7BAC7CD1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385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归因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8574D98C-C610-44BE-A8C1-0C6DAF81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78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EE2AFF1-B04E-4B4A-A20F-EE25B14E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385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78B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178B9"/>
                </a:solidFill>
                <a:latin typeface="PingFang SC"/>
                <a:ea typeface="PingFang SC"/>
                <a:cs typeface="PingFang SC"/>
              </a:rPr>
              <a:t>训练样本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2F1F1756-FB10-4CD6-A50D-61EFA2D7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19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1699AB2-E12A-4EA3-B8CD-0D842BD8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385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28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28A1E"/>
                </a:solidFill>
                <a:latin typeface="PingFang SC"/>
                <a:ea typeface="PingFang SC"/>
                <a:cs typeface="PingFang SC"/>
              </a:rPr>
              <a:t>策略建议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9F04A8B9-3276-4ECD-AAE1-9F6A3893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D8EFC46-AFF7-41F0-A72B-065EC981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385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人工审核</a:t>
            </a:r>
          </a:p>
        </p:txBody>
      </p:sp>
      <p:cxnSp>
        <p:nvCxnSpPr>
          <p:cNvPr id="6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05050" y="19716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14800" y="19716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24550" y="19716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001000" y="19716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8420100" y="1971675"/>
            <a:ext cx="1885950" cy="19812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6343650" y="3505200"/>
            <a:ext cx="3962400" cy="4476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4267200" y="3505200"/>
            <a:ext cx="3962400" cy="4476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2457450" y="3505200"/>
            <a:ext cx="3695700" cy="4476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647700" y="3505200"/>
            <a:ext cx="3695700" cy="4476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24" idx="0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590675" y="1971675"/>
            <a:ext cx="1095375" cy="1647825"/>
          </a:xfrm>
          <a:prstGeom xmlns:a="http://schemas.openxmlformats.org/drawingml/2006/main" prst="bentConnector5">
            <a:avLst>
              <a:gd name="adj1" fmla="val 0"/>
              <a:gd name="adj2" fmla="val 13873"/>
              <a:gd name="adj3" fmla="val 79130"/>
            </a:avLst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E2A7B43-5F88-42D1-9DCE-77A6229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F3A5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F3A5A"/>
                </a:solidFill>
                <a:latin typeface="PingFang SC"/>
                <a:ea typeface="PingFang SC"/>
                <a:cs typeface="PingFang SC"/>
              </a:rPr>
              <a:t>每一轮必须回答：问题够不够深、证据够不够硬、市场是否验证、归因是否可信、经验是否可复用。</a:t>
            </a:r>
          </a:p>
        </p:txBody>
      </p:sp>
    </p:spTree>
    <p:extLst>
      <p:ext uri="{BB962C8B-B14F-4D97-AF65-F5344CB8AC3E}">
        <p14:creationId xmlns:p14="http://schemas.microsoft.com/office/powerpoint/2010/main" val="1520929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6A4617A-BD38-4657-9BDE-3659B45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最关键的数据缺口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CFC6153-4DCE-4CAF-B854-8EB5A6AD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现在短板不是模型不会写，而是缺少足够硬的产业和基本面反馈。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49A28B4-0392-4A6D-A55D-08183A28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8FDBE-5338-46BD-AD30-870F6882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E7DC8E-65EC-4A30-9DB1-811C32F7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CBFA3E6-5666-4CFE-8A27-3DB966A9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E3D6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7EFB00-9C46-48E1-8024-FC0469CF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97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P0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B48DF8-91FB-411F-935A-1FCD3A2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0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市场与财报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26A03F-C916-4960-ACD4-11374317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097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日线、复权、指数、财务三表、分产品收入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21F557-E146-4FDF-A36F-77F2F8AF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09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本地 SQL + Tushare + CNINFO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6966B76B-23BF-4CD5-9FA5-BE53A58D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8A1E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9A7BE8-8A9D-43B4-999C-7DD58FA0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28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28A1E"/>
                </a:solidFill>
                <a:latin typeface="PingFang SC"/>
                <a:ea typeface="PingFang SC"/>
                <a:cs typeface="PingFang SC"/>
              </a:rPr>
              <a:t>P1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476DFD-77AB-4485-80B8-91586B66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0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订单与交付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B9B4D91-CDC7-47E5-826C-5F8C880E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98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招标、中标、合同、合同负债、交付周期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9E2FA27-9894-42ED-9A5C-4389AB8F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98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QCC / 天眼查 / CNINFO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766F11F6-3395-4DFE-B45A-88A27E15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E3D6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699E97F-2C89-470D-8B84-E8DE0A0C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P1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EA5D7F9-C0AD-4259-9AC0-BE73588C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公司深研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8B12BA-D78E-4C1B-AEF7-4D907954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产品、客户、产能、ASP、毛利、风险项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638DAD8-E953-4EE3-997F-165B2B8B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099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company-research + 年报抽表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9F1C42B6-26D2-4A14-B080-478A9B71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6ADE86F-31B8-4127-8525-8167F7B4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D5BD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5BD0"/>
                </a:solidFill>
                <a:latin typeface="PingFang SC"/>
                <a:ea typeface="PingFang SC"/>
                <a:cs typeface="PingFang SC"/>
              </a:rPr>
              <a:t>P2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272641D-EE7F-40C2-A495-1C8160D1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产业参数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A19E7CA-0C94-416F-9E4A-DA75EC7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单柜用量、渗透率、客户份额、代际节奏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BF392D9-35BB-4F88-9383-9AC9FAD1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100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产业报告 / 专家纪要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DA3820F2-0255-452A-A7CE-B7EBE302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E3D6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431D18D-639B-440B-B3E2-EB74C423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P2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F127737-A552-4864-822B-E95B0016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交易执行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8BFFBAB-BFE1-4A47-8BAC-78ED6DCA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0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分钟线、盘口、滑点、仓位、成交约束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E5BAC31-449B-4901-9A82-88031919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101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模拟交易数据层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0D36F0A-1DAB-412A-897D-4AE56E1C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97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没有订单、公告、财报闭环的上涨，只能先标 price_only 或 needs_evidence。</a:t>
            </a:r>
          </a:p>
        </p:txBody>
      </p:sp>
    </p:spTree>
    <p:extLst>
      <p:ext uri="{BB962C8B-B14F-4D97-AF65-F5344CB8AC3E}">
        <p14:creationId xmlns:p14="http://schemas.microsoft.com/office/powerpoint/2010/main" val="4532313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90F85E0-8280-4A84-AA5D-A419D57A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产业深度需要补什么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EC3DFE-791B-4D28-AF9D-C7FF9886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产业报告用于空间和节奏，不能直接当作公司订单。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5F52C4E-D3B7-4420-B3E3-ADA4E450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510DF-5E5C-49D3-813D-9FE2408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3832DB-C30B-4F24-A38F-D0E10D45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B144E0F-483A-42DF-A908-8753A999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238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09E9C-5C03-4573-A6DE-50BE89A2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DEF74C-A09B-4599-A1DB-28380B78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光纤/光模块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A34A12-4C47-4E18-885F-0203BACF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单柜光纤芯数、端口数、800G/1.6T、CPO 渗透率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7C0099EF-190D-43B5-98CF-D6E8BF6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38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5893C-7453-4C81-9CFF-9A3DCC89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F0CC78-2680-43F4-9445-07839F81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02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连接器/MPO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D81F06-4DAF-45CC-8A9A-04C64B95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621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MPO 规格、跳线数量、单柜价值量、认证周期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C3C7C0A5-833F-4F94-B3A2-A4E600E7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238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7EAD4-7347-407A-BCE7-0032A163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A43F3E1-A047-400A-82DE-D2A455EF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PCB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88C6E19-3325-4FFD-9D19-B2D22D4C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层数、背板价值量、低 Dk-Df、ABF/BT、材料占比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826DF5F3-27C2-4BC6-B8F4-90BD2167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238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6A341-17CC-4B1B-92CA-3B8D1498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B98685A-F0E6-4443-A80C-003C5203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电源/液冷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800F73D-1724-42E8-BC77-6C02766F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单柜功率、PSU/BBU/HVDC、冷板/CDU/泵阀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8446FAA5-F1A0-4A8E-8BF9-92717E28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238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81793-7F00-4637-A971-2CDA5F47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B9"/>
          </a:solidFill>
          <a:ln xmlns:a="http://schemas.openxmlformats.org/drawingml/2006/main" w="0">
            <a:solidFill>
              <a:srgbClr val="3178B9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C79C167-24CA-4878-9821-1D8A5E32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存储/HBM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51161EF-BD14-444A-9CD0-B52D598E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HBM/SSD 配置、服务器价值量、供应商份额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99885D68-C520-4361-AE63-1533F239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238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7C0A2-CB69-466A-B4D8-A94D8AF2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17B0BEF-3E34-4D3C-AD60-690E5F30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766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交易执行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A8A2BF2-68BF-4C2C-A534-F31B45D6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分钟线、滑点、涨跌停、仓位、风险预算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48CC63C2-5390-41DF-AEA5-C22A208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635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9864793-DFD4-4F98-AFCB-4DCF7294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优先数据源：Tushare / CNINFO / QCC 招投标 / LightCounting / Dell Oro / TrendForce / Prismark / 券商深度</a:t>
            </a:r>
          </a:p>
        </p:txBody>
      </p:sp>
    </p:spTree>
    <p:extLst>
      <p:ext uri="{BB962C8B-B14F-4D97-AF65-F5344CB8AC3E}">
        <p14:creationId xmlns:p14="http://schemas.microsoft.com/office/powerpoint/2010/main" val="1101666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CF296AA-FF17-4DE4-B72C-51553135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固定评估器：AI 不能自己改评分标准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2B3FBB8-D1D3-4008-A407-74F65D0B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递归自训练最危险的地方，是模型把评分标准改成对自己有利。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5E873C4-454E-4892-951F-8FB47D1D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6020C-B78F-49F9-AD94-AB0F591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C47154-7D12-4BA8-8C17-3B021FC8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60FC8EA2-E317-49EE-9FCC-04CC0952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635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56012F5-FB47-46A9-80DF-73745BC3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44577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score =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  market_feedback_score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+ evidence_closure_score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+ attribution_quality_score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+ novelty_score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+ tradability_score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- leakage_penalty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- complexity_penalty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- hype_without_order_penalty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- missing_financials_penalty</a:t>
            </a:r>
          </a:p>
        </p:txBody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8003AFF-87E0-4053-B9DC-032B04FC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00441-BB31-4F15-A00F-276E6B8C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2B3293D-73A8-408D-8D75-1A357137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市场反馈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CFE5B33-79B1-4B04-82BA-D985832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43434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4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量价、成交额、相对强弱是否验证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83853CBE-8D23-4995-B15D-8B62A7F8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619EB-0DCB-45AF-9896-619F8053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A2B041F-F7E5-431C-A710-199F03E5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证据闭环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6898F1D-CB89-4F86-8ACD-8CFB09C2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43434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4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公告、订单、招投标、财报是否闭环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E6041A5A-F070-401E-8611-3FC1FE47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E5E00-D3BB-4083-A29B-9E9C0E46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BDDC4FD-1DDB-41DF-9FAF-1CCE9F4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归因质量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54D8DA-EC5C-45D9-A050-AAE3414E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3434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4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能否解释为什么对或错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7EDCFA53-0B52-4133-AE45-25DEF0B5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90C29-8A5A-426A-82F6-66A18711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270BE74-B7F5-4316-BBA3-7526EE93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43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惩罚项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641B15-A8BF-49BD-A32F-CF045981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43434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4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未来函数、复杂化、只有叙事、缺财报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FD7D469-E205-4B09-B1A1-EB7B071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34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F3A5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3A5A"/>
                </a:solidFill>
                <a:latin typeface="PingFang SC"/>
                <a:ea typeface="PingFang SC"/>
                <a:cs typeface="PingFang SC"/>
              </a:rPr>
              <a:t>AI 可以优化实验对象，不能修改 evaluator。</a:t>
            </a:r>
          </a:p>
        </p:txBody>
      </p:sp>
    </p:spTree>
    <p:extLst>
      <p:ext uri="{BB962C8B-B14F-4D97-AF65-F5344CB8AC3E}">
        <p14:creationId xmlns:p14="http://schemas.microsoft.com/office/powerpoint/2010/main" val="64057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2891C54-784D-417F-A5D7-CB32FD33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Phase 5 到 Phase 9 的成长路径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C2804AB-8003-4071-A4B5-7D820FD3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每一步都必须有门槛，不能从 proposal 直接跳到交易。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84A5874-0B4A-4E9B-967F-E98B4A09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638D0-DBCD-4AC3-B27D-7501A3A4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E54BDB-EB86-4251-8FA0-3CC2A66F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65522813-125F-4401-87D7-CB263B43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6954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F1EB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6680CC-0DEA-443D-AFEE-FBB70A61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Phase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77939F3-9FF4-4CED-9121-BBD075AF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AI 提出改进建议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2E6124-DA87-4A22-ACCA-E1720E51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不自动应用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05BE16F1-F7EB-4A96-BE32-7322C97E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90750"/>
            <a:ext cx="16954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D2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6B81DB-3AF2-48B4-AA07-37C3E74C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28A1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28A1E"/>
                </a:solidFill>
                <a:latin typeface="PingFang SC"/>
                <a:ea typeface="PingFang SC"/>
                <a:cs typeface="PingFang SC"/>
              </a:rPr>
              <a:t>Phase 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69A39D-5B68-493A-BD40-5B58F9FF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人工批准后应用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E3EA0C-205D-47B4-94AE-6516475D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956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低风险配置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5745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69B4E7A8-613A-4BF4-B8D2-F0C5944B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6954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3F1E7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BFD307D-B32F-4254-B217-3416F280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Phase 7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69E6793-9239-49DA-8DEE-40B044B1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多次验证后自动应用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F7A861F-83EF-451B-9C15-DA947CF3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956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仅白名单低风险</a:t>
            </a:r>
          </a:p>
        </p:txBody>
      </p: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1010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BC06327A-57AE-4594-909E-4032CA61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6954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CE8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A8B15D2-F1AA-41AF-A1F5-4E2DD217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6D5BD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D5BD0"/>
                </a:solidFill>
                <a:latin typeface="PingFang SC"/>
                <a:ea typeface="PingFang SC"/>
                <a:cs typeface="PingFang SC"/>
              </a:rPr>
              <a:t>Phase 8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ABEA6E3-0365-40C6-951E-F341CD4D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03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模拟交易闭环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3522EFA-79D5-45B9-B982-E324348B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956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模拟验证</a:t>
            </a:r>
          </a:p>
        </p:txBody>
      </p: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76275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F1A88450-726F-4C64-AC7F-54942A5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16954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0C7C555-E058-4FAD-BD13-06A919A4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193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Phase 9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D2B090C-78F2-4C4B-B933-3276667B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受控真实交易建议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65CC5B3-7020-41C2-B052-F7A83034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不直接下单</a:t>
            </a:r>
          </a:p>
        </p:txBody>
      </p:sp>
      <p:cxnSp>
        <p:nvCxnSpPr>
          <p:cNvPr id="59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91540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42810CB-196B-42B2-BA8E-D161FE43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1F3A5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F3A5A"/>
                </a:solidFill>
                <a:latin typeface="PingFang SC"/>
                <a:ea typeface="PingFang SC"/>
                <a:cs typeface="PingFang SC"/>
              </a:rPr>
              <a:t>当前在 Phase 5A：能提出改进建议；下一步是把 proposal 变成可审阅、可回滚、可回归的配置 patch。</a:t>
            </a:r>
          </a:p>
        </p:txBody>
      </p:sp>
    </p:spTree>
    <p:extLst>
      <p:ext uri="{BB962C8B-B14F-4D97-AF65-F5344CB8AC3E}">
        <p14:creationId xmlns:p14="http://schemas.microsoft.com/office/powerpoint/2010/main" val="18643968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F142B2B-201F-49DE-AEE7-AA62BC5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Phase 6/7：从人工批准到极窄自动应用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3870B31-1061-4F97-BB2A-7192669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自动化只允许发生在低风险白名单里，且必须可回滚。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A33347B-CC67-48C3-BF0A-131ABE57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C1C96-F66A-49C3-A699-B4B881A4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497055-B8F7-4DE5-9BC7-165646BA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BFD8B6F-0F76-42A8-9E77-82F810FB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762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2DEE4-1469-4E73-B531-4C7FFCF2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2127C7-AB85-42CF-9D11-AF63BA2A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Phase 6：人工批准后应用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7E97F6-834C-42EB-AE77-5DB63263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proposal -&gt; patch candidate -&gt; human approve -&gt; controlled apply -&gt; regression verify -&gt; active config revision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473E050E-713A-47BB-8B62-25647D9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24000"/>
            <a:ext cx="4762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82553-1D28-47AD-A692-C00B4A75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240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D1D65AC-2765-4083-972C-6D2F0998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Phase 7：多次验证后自动应用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8C01FB-C457-4AF4-B9AF-CFE63B80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740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只允许 segment alias、evidence priority、validator threshold、answer guardrail 这类低风险白名单。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62600" y="226695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BA069759-6809-4D62-AB4A-98561196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1E7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49B7FA-8DC4-4BCC-9E2B-E4CEFA2E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允许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0FDB139-7DE0-40E0-93B1-D12CEA0B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766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segment_config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3CACDBE9-6467-4E74-A26B-4383ADB5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1E7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5537196-6538-4A62-B10D-F124C73B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76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允许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545A592-1FD4-4BE2-97A3-3A11E0A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766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market_validator_params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ED26DCC3-CFC9-45A5-9629-F4B516A2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1E7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9A7A623-61BB-4B54-812A-7173A6F8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76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允许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BE82799-2989-45FA-9C12-4D5B90AF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766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evidence_task_priority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77967519-CD9E-4FF3-AE51-CAE4B55D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9BDBC50-18AA-4AEE-B025-145B3560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禁止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E3B2CED-D68C-4902-B887-3772AE3B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386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核心 prompt 主体</a:t>
            </a:r>
          </a:p>
        </p:txBody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780D5E0F-3B6B-4175-B3C1-954B312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74BDE70-C160-402D-861C-39E83519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38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禁止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F631655-E1D9-482E-A598-E4996FF0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386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正式 wiki/raw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461C55C1-F768-412C-A9F2-EE873A54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9B0632E-3E43-45F6-BC04-28CCD87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38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禁止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B2C9BE4-2208-4873-AB6A-F3B84581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386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51E27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51E27"/>
                </a:solidFill>
                <a:latin typeface="Menlo"/>
                <a:ea typeface="Menlo"/>
                <a:cs typeface="Menlo"/>
              </a:rPr>
              <a:t>交易动作</a:t>
            </a:r>
          </a:p>
        </p:txBody>
      </p:sp>
    </p:spTree>
    <p:extLst>
      <p:ext uri="{BB962C8B-B14F-4D97-AF65-F5344CB8AC3E}">
        <p14:creationId xmlns:p14="http://schemas.microsoft.com/office/powerpoint/2010/main" val="13013740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5D5D453-4457-48AC-9F0D-1603F5C2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Phase 8：模拟交易闭环验证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1526932-4871-4FEA-AE6C-7BE40000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先验证研究信号是否可交易，再讨论真实交易建议。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44E0A0B-8792-4EA5-A43A-14014F32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4E32D-3BEF-4F3A-8494-3E48D168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BC0C4A-0953-43E9-AB4A-9FAF4006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001924E8-0B8C-492C-92A3-EAC3D7B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F53D8E-A7A3-4D61-9FC2-8EBCEE01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0796B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0796B"/>
                </a:solidFill>
                <a:latin typeface="Menlo"/>
                <a:ea typeface="Menlo"/>
                <a:cs typeface="Menlo"/>
              </a:rPr>
              <a:t>Signal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3F9C2CA-B7F3-4758-A787-B8F3A30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研究信号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BB5F51E-EDA8-4432-A6D5-93B0470B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4B62126-D907-4CA7-A39C-945797E8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28A1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D28A1E"/>
                </a:solidFill>
                <a:latin typeface="Menlo"/>
                <a:ea typeface="Menlo"/>
                <a:cs typeface="Menlo"/>
              </a:rPr>
              <a:t>Paper Order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3567BA1-7D0F-4E4F-9B3D-4F77AD04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模拟委托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81250" y="2438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FBF96EEA-BF96-4F31-A0E5-06BD8F9D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4C3C93B-05F2-4589-A67B-F8E76A61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098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D5BD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6D5BD0"/>
                </a:solidFill>
                <a:latin typeface="Menlo"/>
                <a:ea typeface="Menlo"/>
                <a:cs typeface="Menlo"/>
              </a:rPr>
              <a:t>Paper Fill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574B350-118E-4625-858E-D4D7C776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336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模拟成交和滑点</a:t>
            </a:r>
          </a:p>
        </p:txBody>
      </p: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476750" y="2438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5D76CA63-06E3-4BAE-92B6-28C5BB0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68AB1B6-EAFD-48C4-96E6-A757A925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D7D4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D7D46"/>
                </a:solidFill>
                <a:latin typeface="Menlo"/>
                <a:ea typeface="Menlo"/>
                <a:cs typeface="Menlo"/>
              </a:rPr>
              <a:t>Position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A05AF5C-F5CB-4BFE-BCBE-A49DC80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336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模拟持仓</a:t>
            </a:r>
          </a:p>
        </p:txBody>
      </p: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572250" y="2438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20BEC791-6E74-41F1-8780-A7F7922E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DA90034-F960-49FE-9F24-D07D9D5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2413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2413A"/>
                </a:solidFill>
                <a:latin typeface="Menlo"/>
                <a:ea typeface="Menlo"/>
                <a:cs typeface="Menlo"/>
              </a:rPr>
              <a:t>PnL Attribution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237FF06-B16A-469E-9582-24393106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收益归因</a:t>
            </a:r>
          </a:p>
        </p:txBody>
      </p:sp>
      <p:cxnSp>
        <p:nvCxnSpPr>
          <p:cNvPr id="57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667750" y="2438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07A"/>
            </a:solidFill>
            <a:prstDash val="solid"/>
            <a:tailEnd type="arrow" w="med" len="med"/>
          </a:ln>
        </p:spPr>
      </p:cxn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F8618B5A-145B-4348-B45B-F4FA345C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381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33320-61AE-445C-89E1-757E6CBE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AD11957-7452-4FCD-AD79-11C1C28D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验证什么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AD642B4-C0A6-4968-AF8E-C9AAA623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信号是否有时间优势；证据强度是否与收益/回撤相关；哪些 agent 角色真正提高交易质量。</a:t>
            </a:r>
          </a:p>
        </p:txBody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8A4556C0-BD78-4B1E-BB04-B82EF7DB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381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A95DF9-7315-43FF-8403-94BEAE92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C76EE8D-B68F-45F3-9CEA-EC3F9AD7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195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进入门槛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28B5AE7-6F18-42CC-8FE7-7B3F6C42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8150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至少 100 条模拟信号、完整 evidence pack、无未来函数审计、交易成本和流动性约束。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F405D19-05F5-4ADE-8E82-ABBB1922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F3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3A5A"/>
                </a:solidFill>
                <a:latin typeface="PingFang SC"/>
                <a:ea typeface="PingFang SC"/>
                <a:cs typeface="PingFang SC"/>
              </a:rPr>
              <a:t>Phase 8 仍然不是真实交易，只是把研究闭环推进到交易可执行性验证。</a:t>
            </a:r>
          </a:p>
        </p:txBody>
      </p:sp>
    </p:spTree>
    <p:extLst>
      <p:ext uri="{BB962C8B-B14F-4D97-AF65-F5344CB8AC3E}">
        <p14:creationId xmlns:p14="http://schemas.microsoft.com/office/powerpoint/2010/main" val="8597069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15D91B1-9BBE-45E2-84B3-7AA7AB51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Phase 9：受控真实交易建议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71236FC-95B0-402E-A87E-01C3C28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系统可以给建议，但最后一道门永远是人工确认。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6997DC-7685-43EC-BD0B-1760FA9F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90A3F-A838-4A65-B56D-1D77954B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382148-7F1A-4C53-9006-24C9B4E1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3B6ED52-0941-46A8-BA7E-EFD45DD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61932-B810-42EF-9AAC-E2EFD8BB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1A76EF-0FBF-481B-ACCF-8396052A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允许输出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D2B979-890A-4B16-9619-AD6DEFE4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观察清单、试错建议、仓位上限、触发条件、风险失效条件。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BCE5C24A-0913-46EB-8EE1-DAE53791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F73D4-5F9C-4F9E-A258-6EEF06C2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F2B78E-D132-4F9B-BC65-728C712C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95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禁止输出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4371677-C871-44C1-8A34-9C676B86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5740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自动下单、绕过人工确认、无证据链强买卖、无撤退条件持有。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47D061EF-5D0E-496B-9121-D17759F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7F7E5-75C4-41AF-B7E9-9E7D0A0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70A80D3-C2E4-41F7-BE43-99E12FE2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必须携带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E75862E-F9D5-45B3-8561-509BCCA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evidence pack、counter evidence、risk pack、liquidity check、reviewRequired。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01F8A12C-6330-455D-8719-6B55F226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0"/>
            <a:ext cx="8191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635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1F8649F-4BBA-4EE7-AFCF-F25BC7B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52850"/>
            <a:ext cx="7886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  "schema": "controlled-trading-advice-v1",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  "evidencePack": ["agentRun", "cninfo", "qcc", "financials", "marketValidation"],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  "reviewRequired":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  "autoTradeAllowed":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FFFB269-4FF5-4FBF-913C-EAD4B93E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673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定位：受控建议系统，不是自动交易系统。</a:t>
            </a:r>
          </a:p>
        </p:txBody>
      </p:sp>
    </p:spTree>
    <p:extLst>
      <p:ext uri="{BB962C8B-B14F-4D97-AF65-F5344CB8AC3E}">
        <p14:creationId xmlns:p14="http://schemas.microsoft.com/office/powerpoint/2010/main" val="194724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67F0FBB-C6E8-47F7-A303-F63A7EB5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核心风险和防线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00B3361-2CF0-47CA-831E-FF68BF58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越接近自训练和交易，越要把边界写死。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20126FA-D13E-4718-A04A-0DD3419D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递归自训练交易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76909-8EB8-4A5D-A954-079BD334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6D9F62A-5ADD-4F02-9E73-86B009BA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1CC4A84-2000-4FDF-8B01-AE816CA7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4572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E602B-79EE-4F6C-8CB4-068BBE42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C16A8-A61F-4EAC-8A07-68F0BBAD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33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0A9AC6-970A-43B0-A8E5-53013AFE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646BB3-4EE2-4030-B84A-B308FA11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430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叙事当订单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D31711C-D5D6-4464-A743-E0786D0C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没有订单、招投标、公告或财报，不得标 confirmed。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870902C3-1565-4A39-B83F-4D5D598D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81150"/>
            <a:ext cx="4572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54812-12CB-49A8-A9CD-1A76A66B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811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119F3-27C2-49DB-AB77-704247F8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D50DE92-5E61-4F05-BFF0-35CB833D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DEBB661-77F2-4210-BC7F-C8B5E4E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430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数据源失败脑补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F69C040-3B28-4FA4-86DA-F9502875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失败源必须披露，不能训练成正样本。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DD093570-D36B-41AA-8DAB-810E0239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572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2CD27-F266-4663-8C44-510A079E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98FFF-BF17-4D3B-AFA3-418FDB88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E7EBC5C-28C2-48AD-8BA7-02848C57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D681D12-D8ED-48D0-A458-3CBDEDFD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3852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递归污染自己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50008AE-9E5A-4BD8-A13B-B126E08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agent run 默认 review_required，失败样本保留为反例。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8B8A7353-9A79-4C7C-B876-2963678E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4572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B9943-6EDC-473E-B313-2FE939CD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474FED-DD33-4773-8904-54B1D436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274C56C-FF24-45A6-B108-17D755E5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B71B5BB-1B91-4FC8-8A77-5256126C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3852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1E27"/>
                </a:solidFill>
                <a:latin typeface="PingFang SC"/>
                <a:ea typeface="PingFang SC"/>
                <a:cs typeface="PingFang SC"/>
              </a:rPr>
              <a:t>自动化越权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5586CEF-460D-4385-A168-8D28ECB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7A"/>
                </a:solidFill>
                <a:latin typeface="PingFang SC"/>
                <a:ea typeface="PingFang SC"/>
                <a:cs typeface="PingFang SC"/>
              </a:rPr>
              <a:t>Phase 5 不自动应用；Phase 8 只模拟；Phase 9 不下单。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192BED52-1ED0-4085-BE4C-1FBE461C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3050"/>
            <a:ext cx="9410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635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14FD58F-297C-486A-9EFC-94E74EA6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8640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8F4F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8F4F1"/>
                </a:solidFill>
                <a:latin typeface="Menlo"/>
                <a:ea typeface="Menlo"/>
                <a:cs typeface="Menlo"/>
              </a:rPr>
              <a:t>最高优先级边界：正式 wiki 写入只走 apply --write；真实交易永远 reviewRequired；autoTradeAllowed=false。</a:t>
            </a:r>
          </a:p>
        </p:txBody>
      </p:sp>
    </p:spTree>
    <p:extLst>
      <p:ext uri="{BB962C8B-B14F-4D97-AF65-F5344CB8AC3E}">
        <p14:creationId xmlns:p14="http://schemas.microsoft.com/office/powerpoint/2010/main" val="4712023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7F029F7-4A24-4754-95E1-5759798E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AFC6C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AFC6CE"/>
                </a:solidFill>
                <a:latin typeface="PingFang SC"/>
                <a:ea typeface="PingFang SC"/>
                <a:cs typeface="PingFang SC"/>
              </a:rPr>
              <a:t>下一步怎么走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47E5CF7-9761-4280-8B04-77563543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先把 Phase 5A 用出真实样本，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再补数据源和 evidence task 执行器。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7DDFF02F-58DF-48D7-8257-9C7347FC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2532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383AE5D-AC58-494F-A0B1-9AFCD757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8988E9-E8CE-4C4D-9DE6-263F0EA6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5 条主题 lane：光纤、PCB、电源、液冷、存储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BA39514E-79B9-4274-89EF-CC03F344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2532"/>
          </a:solidFill>
          <a:ln xmlns:a="http://schemas.openxmlformats.org/drawingml/2006/main" w="9525">
            <a:solidFill>
              <a:srgbClr val="D28A1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F520CF-B73F-411A-ACEE-85F250EA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9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D28A1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28A1E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751A4A-C0B4-4587-B75A-CFBEF4A8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接 CNINFO / Tushare / QCC，补公告、财报、招投标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041D3B69-EC09-410C-8E58-D86594A2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2532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A83EC58-8417-44F3-A5D9-0FB2C521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294BE7-7D41-459B-88A9-8A0D9E25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proposal -&gt; patch -&gt; approve -&gt; apply -&gt; regression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B660716D-9BEB-4274-9EAE-04801B45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3865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2532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6240E0-AF3A-4242-BFDC-6FE660A4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29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长期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ED828F3-8AD7-451E-B71E-696EE381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48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模拟交易闭环，再进入受控真实交易建议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0FD2359-18B7-4295-8AA9-49C37874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FC6C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FC6CE"/>
                </a:solidFill>
                <a:latin typeface="PingFang SC"/>
                <a:ea typeface="PingFang SC"/>
                <a:cs typeface="PingFang SC"/>
              </a:rPr>
              <a:t>结论：闭环稳定之前，不追求自动赚钱；先追求可验证预测质量提升。</a:t>
            </a:r>
          </a:p>
        </p:txBody>
      </p:sp>
    </p:spTree>
    <p:extLst>
      <p:ext uri="{BB962C8B-B14F-4D97-AF65-F5344CB8AC3E}">
        <p14:creationId xmlns:p14="http://schemas.microsoft.com/office/powerpoint/2010/main" val="1362024572"/>
      </p:ext>
    </p:extLst>
  </p:cSld>
</p:sld>
</file>

<file path=ppt/theme/theme1.xml><?xml version="1.0" encoding="utf-8"?>
<a:theme xmlns:a="http://schemas.openxmlformats.org/drawingml/2006/main" name="ChatGPT">
  <a:themeElements>
    <a:clrScheme name="Recursive Trading AI">
      <a:dk1>
        <a:srgbClr val="101820"/>
      </a:dk1>
      <a:lt1>
        <a:srgbClr val="FFFFFF"/>
      </a:lt1>
      <a:dk2>
        <a:srgbClr val="1F3A5A"/>
      </a:dk2>
      <a:lt2>
        <a:srgbClr val="CFC7B9"/>
      </a:lt2>
      <a:accent1>
        <a:srgbClr val="00796B"/>
      </a:accent1>
      <a:accent2>
        <a:srgbClr val="D28A1E"/>
      </a:accent2>
      <a:accent3>
        <a:srgbClr val="C2413A"/>
      </a:accent3>
      <a:accent4>
        <a:srgbClr val="2D7D46"/>
      </a:accent4>
      <a:accent5>
        <a:srgbClr val="6D5BD0"/>
      </a:accent5>
      <a:accent6>
        <a:srgbClr val="3178B9"/>
      </a:accent6>
      <a:hlink>
        <a:srgbClr val="00796B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cursive Trading A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2026-06-15T12:02:00.8770000Z</dcterms:created>
  <dcterms:modified xsi:type="dcterms:W3CDTF">2026-06-15T12:02:00.8770000Z</dcterms:modified>
</coreProperties>
</file>