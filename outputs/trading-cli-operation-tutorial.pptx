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aedc741ca04456" /><Relationship Type="http://schemas.openxmlformats.org/officeDocument/2006/relationships/extended-properties" Target="/docProps/app.xml" Id="R31fffd2e2bc74d6a" /><Relationship Type="http://schemas.openxmlformats.org/officeDocument/2006/relationships/officeDocument" Target="/ppt/presentation.xml" Id="Rb1d1806cf3844a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1c8185154141fb"/>
  </p:sldMasterIdLst>
  <p:notesMasterIdLst>
    <p:notesMasterId xmlns:r="http://schemas.openxmlformats.org/officeDocument/2006/relationships" r:id="R4a94837031614ab2"/>
  </p:notesMasterIdLst>
  <p:sldIdLst>
    <p:sldId xmlns:r="http://schemas.openxmlformats.org/officeDocument/2006/relationships" id="256" r:id="R52090a4e64c14f1d"/>
    <p:sldId xmlns:r="http://schemas.openxmlformats.org/officeDocument/2006/relationships" id="257" r:id="R3342931b18994a36"/>
    <p:sldId xmlns:r="http://schemas.openxmlformats.org/officeDocument/2006/relationships" id="258" r:id="R8c57db5b029d4b98"/>
    <p:sldId xmlns:r="http://schemas.openxmlformats.org/officeDocument/2006/relationships" id="259" r:id="Rf36289440a8541e2"/>
    <p:sldId xmlns:r="http://schemas.openxmlformats.org/officeDocument/2006/relationships" id="260" r:id="Rba16aec806db4673"/>
    <p:sldId xmlns:r="http://schemas.openxmlformats.org/officeDocument/2006/relationships" id="261" r:id="Rde2b1cf3110e4e1b"/>
    <p:sldId xmlns:r="http://schemas.openxmlformats.org/officeDocument/2006/relationships" id="262" r:id="Rfb28915eb75f405a"/>
    <p:sldId xmlns:r="http://schemas.openxmlformats.org/officeDocument/2006/relationships" id="263" r:id="R775a901991d2421b"/>
    <p:sldId xmlns:r="http://schemas.openxmlformats.org/officeDocument/2006/relationships" id="264" r:id="Rc9b16aa8951c4b61"/>
    <p:sldId xmlns:r="http://schemas.openxmlformats.org/officeDocument/2006/relationships" id="265" r:id="R4c8b927ab8c64dc9"/>
    <p:sldId xmlns:r="http://schemas.openxmlformats.org/officeDocument/2006/relationships" id="266" r:id="R3e50d836add14611"/>
    <p:sldId xmlns:r="http://schemas.openxmlformats.org/officeDocument/2006/relationships" id="267" r:id="R2180727f93df4fce"/>
    <p:sldId xmlns:r="http://schemas.openxmlformats.org/officeDocument/2006/relationships" id="268" r:id="R2ea9ad282afc4801"/>
    <p:sldId xmlns:r="http://schemas.openxmlformats.org/officeDocument/2006/relationships" id="269" r:id="R46251f8cfc014c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923db78dc945fe" /><Relationship Type="http://schemas.openxmlformats.org/officeDocument/2006/relationships/slideMaster" Target="/ppt/slideMasters/slideMaster1.xml" Id="Re91c8185154141fb" /><Relationship Type="http://schemas.openxmlformats.org/officeDocument/2006/relationships/notesMaster" Target="/ppt/notesMasters/notesMaster1.xml" Id="R4a94837031614ab2" /><Relationship Type="http://schemas.openxmlformats.org/officeDocument/2006/relationships/presProps" Target="/ppt/presProps.xml" Id="R59b04c2b43dd4e62" /><Relationship Type="http://schemas.openxmlformats.org/officeDocument/2006/relationships/tableStyles" Target="/ppt/tableStyles.xml" Id="R19ceafedcf7140e5" /><Relationship Type="http://schemas.openxmlformats.org/officeDocument/2006/relationships/slide" Target="/ppt/slides/slide1.xml" Id="R52090a4e64c14f1d" /><Relationship Type="http://schemas.openxmlformats.org/officeDocument/2006/relationships/slide" Target="/ppt/slides/slide2.xml" Id="R3342931b18994a36" /><Relationship Type="http://schemas.openxmlformats.org/officeDocument/2006/relationships/slide" Target="/ppt/slides/slide3.xml" Id="R8c57db5b029d4b98" /><Relationship Type="http://schemas.openxmlformats.org/officeDocument/2006/relationships/slide" Target="/ppt/slides/slide4.xml" Id="Rf36289440a8541e2" /><Relationship Type="http://schemas.openxmlformats.org/officeDocument/2006/relationships/slide" Target="/ppt/slides/slide5.xml" Id="Rba16aec806db4673" /><Relationship Type="http://schemas.openxmlformats.org/officeDocument/2006/relationships/slide" Target="/ppt/slides/slide6.xml" Id="Rde2b1cf3110e4e1b" /><Relationship Type="http://schemas.openxmlformats.org/officeDocument/2006/relationships/slide" Target="/ppt/slides/slide7.xml" Id="Rfb28915eb75f405a" /><Relationship Type="http://schemas.openxmlformats.org/officeDocument/2006/relationships/slide" Target="/ppt/slides/slide8.xml" Id="R775a901991d2421b" /><Relationship Type="http://schemas.openxmlformats.org/officeDocument/2006/relationships/slide" Target="/ppt/slides/slide9.xml" Id="Rc9b16aa8951c4b61" /><Relationship Type="http://schemas.openxmlformats.org/officeDocument/2006/relationships/slide" Target="/ppt/slides/slide10.xml" Id="R4c8b927ab8c64dc9" /><Relationship Type="http://schemas.openxmlformats.org/officeDocument/2006/relationships/slide" Target="/ppt/slides/slide11.xml" Id="R3e50d836add14611" /><Relationship Type="http://schemas.openxmlformats.org/officeDocument/2006/relationships/slide" Target="/ppt/slides/slide12.xml" Id="R2180727f93df4fce" /><Relationship Type="http://schemas.openxmlformats.org/officeDocument/2006/relationships/slide" Target="/ppt/slides/slide13.xml" Id="R2ea9ad282afc4801" /><Relationship Type="http://schemas.openxmlformats.org/officeDocument/2006/relationships/slide" Target="/ppt/slides/slide14.xml" Id="R46251f8cfc014c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0361fcda0c47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rading Research CLI">
      <a:dk1>
        <a:srgbClr val="111820"/>
      </a:dk1>
      <a:lt1>
        <a:srgbClr val="FFFFFF"/>
      </a:lt1>
      <a:dk2>
        <a:srgbClr val="243B53"/>
      </a:dk2>
      <a:lt2>
        <a:srgbClr val="D7D2C7"/>
      </a:lt2>
      <a:accent1>
        <a:srgbClr val="00796B"/>
      </a:accent1>
      <a:accent2>
        <a:srgbClr val="D99024"/>
      </a:accent2>
      <a:accent3>
        <a:srgbClr val="C2413A"/>
      </a:accent3>
      <a:accent4>
        <a:srgbClr val="2D7D46"/>
      </a:accent4>
      <a:accent5>
        <a:srgbClr val="6D5BD0"/>
      </a:accent5>
      <a:accent6>
        <a:srgbClr val="243B53"/>
      </a:accent6>
      <a:hlink>
        <a:srgbClr val="00796B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rading Research CL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0525daf4ff4583" /><Relationship Type="http://schemas.openxmlformats.org/officeDocument/2006/relationships/notesMaster" Target="/ppt/notesMasters/notesMaster1.xml" Id="R404022f5ae8943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ddb10f84604112" /><Relationship Type="http://schemas.openxmlformats.org/officeDocument/2006/relationships/notesMaster" Target="/ppt/notesMasters/notesMaster1.xml" Id="R1b76dfadb53c40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651d888b9048c5" /><Relationship Type="http://schemas.openxmlformats.org/officeDocument/2006/relationships/notesMaster" Target="/ppt/notesMasters/notesMaster1.xml" Id="Ra3fd5357284246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e9f41ff417484b" /><Relationship Type="http://schemas.openxmlformats.org/officeDocument/2006/relationships/notesMaster" Target="/ppt/notesMasters/notesMaster1.xml" Id="Rbf73930b7072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e89d89235e4a7b" /><Relationship Type="http://schemas.openxmlformats.org/officeDocument/2006/relationships/notesMaster" Target="/ppt/notesMasters/notesMaster1.xml" Id="R9be9f0746d504b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2c8c3b4e1420c" /><Relationship Type="http://schemas.openxmlformats.org/officeDocument/2006/relationships/notesMaster" Target="/ppt/notesMasters/notesMaster1.xml" Id="Reacbab7fd5fd4a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84b5cfaaed4f02" /><Relationship Type="http://schemas.openxmlformats.org/officeDocument/2006/relationships/notesMaster" Target="/ppt/notesMasters/notesMaster1.xml" Id="R92dbc86272f549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efdbc84d014b84" /><Relationship Type="http://schemas.openxmlformats.org/officeDocument/2006/relationships/notesMaster" Target="/ppt/notesMasters/notesMaster1.xml" Id="R3213f627133241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f77f84e7e143a6" /><Relationship Type="http://schemas.openxmlformats.org/officeDocument/2006/relationships/notesMaster" Target="/ppt/notesMasters/notesMaster1.xml" Id="R8440d207f2bd47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f454c2b0574025" /><Relationship Type="http://schemas.openxmlformats.org/officeDocument/2006/relationships/notesMaster" Target="/ppt/notesMasters/notesMaster1.xml" Id="R87b1a39f6fd549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64ae55432f410a" /><Relationship Type="http://schemas.openxmlformats.org/officeDocument/2006/relationships/notesMaster" Target="/ppt/notesMasters/notesMaster1.xml" Id="Re03f34911ae549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c1d8e10a2a4421" /><Relationship Type="http://schemas.openxmlformats.org/officeDocument/2006/relationships/notesMaster" Target="/ppt/notesMasters/notesMaster1.xml" Id="R12eabafc46754f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ea9f5e8bc04317" /><Relationship Type="http://schemas.openxmlformats.org/officeDocument/2006/relationships/notesMaster" Target="/ppt/notesMasters/notesMaster1.xml" Id="R590cef8d13d54b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0a80331f274ebc" /><Relationship Type="http://schemas.openxmlformats.org/officeDocument/2006/relationships/notesMaster" Target="/ppt/notesMasters/notesMaster1.xml" Id="Rc3c241ce694548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e7bddecb046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e2e92aa594312" /><Relationship Type="http://schemas.openxmlformats.org/officeDocument/2006/relationships/slideLayout" Target="/ppt/slideLayouts/slideLayout1.xml" Id="Rcfcb76c5850043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cb76c5850043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rading Research CLI">
      <a:dk1>
        <a:srgbClr val="111820"/>
      </a:dk1>
      <a:lt1>
        <a:srgbClr val="FFFFFF"/>
      </a:lt1>
      <a:dk2>
        <a:srgbClr val="243B53"/>
      </a:dk2>
      <a:lt2>
        <a:srgbClr val="D7D2C7"/>
      </a:lt2>
      <a:accent1>
        <a:srgbClr val="00796B"/>
      </a:accent1>
      <a:accent2>
        <a:srgbClr val="D99024"/>
      </a:accent2>
      <a:accent3>
        <a:srgbClr val="C2413A"/>
      </a:accent3>
      <a:accent4>
        <a:srgbClr val="2D7D46"/>
      </a:accent4>
      <a:accent5>
        <a:srgbClr val="6D5BD0"/>
      </a:accent5>
      <a:accent6>
        <a:srgbClr val="243B53"/>
      </a:accent6>
      <a:hlink>
        <a:srgbClr val="00796B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rading Research CL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abffad078408d" /><Relationship Type="http://schemas.openxmlformats.org/officeDocument/2006/relationships/notesSlide" Target="/ppt/notesSlides/notesSlide1.xml" Id="R404e8c5782dc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8258031064b76" /><Relationship Type="http://schemas.openxmlformats.org/officeDocument/2006/relationships/notesSlide" Target="/ppt/notesSlides/notesSlide2.xml" Id="Rb32935eb5e1044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395f99395495a" /><Relationship Type="http://schemas.openxmlformats.org/officeDocument/2006/relationships/notesSlide" Target="/ppt/notesSlides/notesSlide3.xml" Id="Rd13bdeeed1ec41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f68b4a1104884" /><Relationship Type="http://schemas.openxmlformats.org/officeDocument/2006/relationships/notesSlide" Target="/ppt/notesSlides/notesSlide4.xml" Id="R0bf7a4cfcf284f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58947261a4987" /><Relationship Type="http://schemas.openxmlformats.org/officeDocument/2006/relationships/notesSlide" Target="/ppt/notesSlides/notesSlide5.xml" Id="R0612b7cc5f8446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8ebdf6e5e4541" /><Relationship Type="http://schemas.openxmlformats.org/officeDocument/2006/relationships/notesSlide" Target="/ppt/notesSlides/notesSlide6.xml" Id="R2bfe7c2414b446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c42d6331b428a" /><Relationship Type="http://schemas.openxmlformats.org/officeDocument/2006/relationships/notesSlide" Target="/ppt/notesSlides/notesSlide7.xml" Id="R2c0d42514bcf40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b3a2ef1344696" /><Relationship Type="http://schemas.openxmlformats.org/officeDocument/2006/relationships/notesSlide" Target="/ppt/notesSlides/notesSlide8.xml" Id="R397b72c6cfa647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84d42243945b1" /><Relationship Type="http://schemas.openxmlformats.org/officeDocument/2006/relationships/notesSlide" Target="/ppt/notesSlides/notesSlide9.xml" Id="Rbda378a5c0d5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b224f5e914edd" /><Relationship Type="http://schemas.openxmlformats.org/officeDocument/2006/relationships/notesSlide" Target="/ppt/notesSlides/notesSlide10.xml" Id="Rb7e18d48af4543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bc0bc2ebc44ff" /><Relationship Type="http://schemas.openxmlformats.org/officeDocument/2006/relationships/notesSlide" Target="/ppt/notesSlides/notesSlide11.xml" Id="R83ee2bfdbfd148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2f306a41847f6" /><Relationship Type="http://schemas.openxmlformats.org/officeDocument/2006/relationships/notesSlide" Target="/ppt/notesSlides/notesSlide12.xml" Id="R68c1eb406c4149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fccbbd06f4057" /><Relationship Type="http://schemas.openxmlformats.org/officeDocument/2006/relationships/notesSlide" Target="/ppt/notesSlides/notesSlide13.xml" Id="R05e8b3777fe444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bac13f0d64364" /><Relationship Type="http://schemas.openxmlformats.org/officeDocument/2006/relationships/notesSlide" Target="/ppt/notesSlides/notesSlide14.xml" Id="Raf34b78a717e4a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FEFE5363-8919-44D4-8944-9FFE3EAD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F3A"/>
          </a:solidFill>
          <a:ln xmlns:a="http://schemas.openxmlformats.org/drawingml/2006/main" w="9525">
            <a:solidFill>
              <a:srgbClr val="183F3A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D8AEB09-9196-43ED-A898-8EE3A102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34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B7F3E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7F3E4"/>
                </a:solidFill>
                <a:latin typeface="PingFang SC"/>
                <a:ea typeface="PingFang SC"/>
                <a:cs typeface="PingFang SC"/>
              </a:rPr>
              <a:t>CLI 操作教学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EB375DA-E70C-4BF6-928D-37A61FE7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66A70A-8CDA-481C-BD8A-3223CA11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把投研从“聊天记录”升级成“可验证、可审计、可复盘的研究操作系统”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1A047636-4B35-4D9E-87FF-FFE84194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232E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2E221-2B2A-4F39-9FAD-563B4E69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4"/>
          </a:solidFill>
          <a:ln xmlns:a="http://schemas.openxmlformats.org/drawingml/2006/main" w="0">
            <a:solidFill>
              <a:srgbClr val="D9902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2BF838-88B2-4101-A669-E463663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6C7FAB-531A-4A73-9484-D4D98E5B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研报、公告、主题问题、持仓反馈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79765863-815A-456C-AC77-FEDF205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232E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31985-2920-4883-A0E3-5703A813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03F1789-64BC-456F-B3DD-3BFF3327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338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41BE971-8258-4AD8-8978-6A0EC10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14825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多智能体、量价、SQL、证据缺口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C3C48D9C-7958-4C83-8EBC-02D42176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623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232E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848D3-D05F-4067-A49B-E7F0617C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62375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0DEC2F7-2C99-4072-8A0E-32F768B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338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沉淀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5789857-4B31-4045-A0FD-9D84DB85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14825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wiki、brain、ledger、训练样本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D0D0AAF9-96E6-46A3-8682-8CC91022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62375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232E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421F2-73AE-48A1-A219-CD3274BA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62375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6BF1DAF-2A31-40AD-BB5D-41A15214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3382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审核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4019278-5D0D-429C-B69A-49409F8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1482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proposal 只建议，不自动应用</a:t>
            </a:r>
          </a:p>
        </p:txBody>
      </p: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05150" y="4343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2BD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57900" y="4343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2BD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010650" y="4343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2BD"/>
            </a:solidFill>
            <a:prstDash val="solid"/>
            <a:tailEnd type="arrow" w="med" len="med"/>
          </a:ln>
        </p:spPr>
      </p:cxn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5FDA563-A8A9-4617-8D80-9A0B5385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FC6C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FC6CE"/>
                </a:solidFill>
                <a:latin typeface="PingFang SC"/>
                <a:ea typeface="PingFang SC"/>
                <a:cs typeface="PingFang SC"/>
              </a:rPr>
              <a:t>输出：可复查证据链 + 明日验证清单 + 待审核策略改进</a:t>
            </a:r>
          </a:p>
        </p:txBody>
      </p:sp>
    </p:spTree>
    <p:extLst>
      <p:ext uri="{BB962C8B-B14F-4D97-AF65-F5344CB8AC3E}">
        <p14:creationId xmlns:p14="http://schemas.microsoft.com/office/powerpoint/2010/main" val="726000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D77014E-7FF9-425E-B156-3CAAC5CB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CLI 的目的：把投研流程工程化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ECB8EFD-8A65-4B3E-85D0-ABBC8E6E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不是替你下结论，而是逼每个结论带证据、验证和回滚边界。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E2379B-90BC-45B9-9BD0-C0C28EB6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C6336-3774-492A-B9C8-D4C0EC4D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BF70D0-B80A-41C5-B817-3EE0C67C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ADE4468F-1FD0-43AC-81CD-BC8810A6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8FA0D-E0F3-45B7-B734-A357AD25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36C08A-83D6-41EA-A7B2-5D851896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4070F3-145A-4AA7-86D5-F64CFB7F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资料分散在研报、公告、日复盘、行情表和个人记忆里。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6E093623-69BF-4E04-816A-ABC0A1BB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762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203AD-5715-4475-B620-C111B869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1A1EF7-EDDF-40A3-B152-FB88234D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解决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838FE15-D39D-41A2-B3FF-E27215C9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用统一命令把“摄入、提问、验证、复盘、样本”串起来。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D5D4DE91-1479-435F-9F28-A16534A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762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94B7B-5447-4865-92D6-F4A4660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B8DE578-E1FB-4847-B045-B51EEF18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F81997E-CE38-48A2-9905-A3CED47F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让一个主题从叙事进入证据闭环：谁受益、何时兑现、怎么证伪。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9D3AEA0F-8DF6-4A50-ACF2-7F6B4C93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4762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79FF7-2057-4891-AAA9-CEB3B1E3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4"/>
          </a:solidFill>
          <a:ln xmlns:a="http://schemas.openxmlformats.org/drawingml/2006/main" w="0">
            <a:solidFill>
              <a:srgbClr val="D9902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3EA7EE0-C5C8-4E65-AD95-F1B4E02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5757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2704203-D7BD-4458-800F-4EDD9747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38575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默认只读；正式 wiki 写入只走 apply --write；策略变更先 proposal。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BE3CFE96-AC21-49FC-BEA8-009A4B7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57800"/>
            <a:ext cx="8458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6F6ED6F-37C1-4077-9F5E-B2E032BE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0200"/>
            <a:ext cx="811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&lt;command&gt; [args...]</a:t>
            </a:r>
          </a:p>
        </p:txBody>
      </p:sp>
    </p:spTree>
    <p:extLst>
      <p:ext uri="{BB962C8B-B14F-4D97-AF65-F5344CB8AC3E}">
        <p14:creationId xmlns:p14="http://schemas.microsoft.com/office/powerpoint/2010/main" val="1785789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A53BABE-1139-4B4A-97B1-AA96F802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一张图看懂整个 CLI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15EF6B6-2607-4EB3-AD98-123CE8A0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五层能力：从资料入库，到市场反馈，再到递归实验。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F245938-B417-4DF5-AA57-06A947AE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04EEA-BA72-4939-848B-F7F41EB2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977FBC3-0560-4EF4-A423-E41E0E72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7DE9CE39-69ED-46E5-8CD6-89ABB3CC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36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EAD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C2A32-3BA0-4344-B9FD-4D410920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4"/>
          </a:solidFill>
          <a:ln xmlns:a="http://schemas.openxmlformats.org/drawingml/2006/main" w="0">
            <a:solidFill>
              <a:srgbClr val="D9902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8CA56D-8719-4E0E-986E-0AC68BC9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知识摄入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7C90FAF-59FB-4E13-BCDC-49F2F9F5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002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C667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5C6670"/>
                </a:solidFill>
                <a:latin typeface="Menlo"/>
                <a:ea typeface="Menlo"/>
                <a:cs typeface="Menlo"/>
              </a:rPr>
              <a:t>prepare / api-run / finalize / apply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54492A50-AE8F-4783-98C4-30381703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036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1B3D9-0EC2-431A-B58F-442AA0D7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01F9DEA-4929-4D83-9586-F041FB9D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只读研究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3E5269-540D-43A1-9FE6-3523541E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C667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5C6670"/>
                </a:solidFill>
                <a:latin typeface="Menlo"/>
                <a:ea typeface="Menlo"/>
                <a:cs typeface="Menlo"/>
              </a:rPr>
              <a:t>ask / ask --agentic / ask eval</a:t>
            </a:r>
          </a:p>
        </p:txBody>
      </p:sp>
      <p:cxnSp>
        <p:nvCxnSpPr>
          <p:cNvPr id="44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19812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7D2C7"/>
            </a:solidFill>
            <a:prstDash val="solid"/>
            <a:tailEnd type="arrow" w="med" len="med"/>
          </a:ln>
        </p:spPr>
      </p:cxn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701AD2C-981C-400E-AF9E-FFDDD5F9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036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EAD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CB592-64A1-4C29-BCF8-ABE6FA79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87D2E1E-4ADE-4889-BB2B-E881794F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数据验证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8B62D53-E070-40AC-8C50-F102816A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C667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5C6670"/>
                </a:solidFill>
                <a:latin typeface="Menlo"/>
                <a:ea typeface="Menlo"/>
                <a:cs typeface="Menlo"/>
              </a:rPr>
              <a:t>data-source / market-validate / company-research</a:t>
            </a:r>
          </a:p>
        </p:txBody>
      </p:sp>
      <p:cxnSp>
        <p:nvCxnSpPr>
          <p:cNvPr id="49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27622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7D2C7"/>
            </a:solidFill>
            <a:prstDash val="solid"/>
            <a:tailEnd type="arrow" w="med" len="med"/>
          </a:ln>
        </p:spPr>
      </p:cxn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3B7A50B0-FE91-4818-ADAF-0FEF8A2A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36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99C01-BFB1-4548-96AE-D2E5E759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86D522F-2842-4CE1-ADC5-200E7D3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记忆闭环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E00C037-33D2-4C92-9800-4D236E19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C667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5C6670"/>
                </a:solidFill>
                <a:latin typeface="Menlo"/>
                <a:ea typeface="Menlo"/>
                <a:cs typeface="Menlo"/>
              </a:rPr>
              <a:t>brain / daily-loop / self-question / self-train</a:t>
            </a:r>
          </a:p>
        </p:txBody>
      </p:sp>
      <p:cxnSp>
        <p:nvCxnSpPr>
          <p:cNvPr id="54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5433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7D2C7"/>
            </a:solidFill>
            <a:prstDash val="solid"/>
            <a:tailEnd type="arrow" w="med" len="med"/>
          </a:ln>
        </p:spPr>
      </p:cxn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77C1D33D-EC72-4E6E-9EEB-B5AFA1F6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363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EAD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4EDB8-FB89-4BA3-B567-D31372C6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FE3AAF4-BC83-4193-82C6-7D01E15D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治理审计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45BD39B-2ACB-4758-B9DB-DB0C5EAE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C667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5C6670"/>
                </a:solidFill>
                <a:latin typeface="Menlo"/>
                <a:ea typeface="Menlo"/>
                <a:cs typeface="Menlo"/>
              </a:rPr>
              <a:t>autoresearch / hygiene / temporal-facts / phase</a:t>
            </a:r>
          </a:p>
        </p:txBody>
      </p:sp>
      <p:cxnSp>
        <p:nvCxnSpPr>
          <p:cNvPr id="59" name=""/>
          <p:cNvCxnSpPr>
            <a:stCxn xmlns:a="http://schemas.openxmlformats.org/drawingml/2006/main" id="2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096000" y="43243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7D2C7"/>
            </a:solidFill>
            <a:prstDash val="solid"/>
            <a:tailEnd type="arrow" w="med" len="med"/>
          </a:ln>
        </p:spPr>
      </p:cxn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02E1C5B-9F31-41A5-9D52-7FFC7D0F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3B5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3B53"/>
                </a:solidFill>
                <a:latin typeface="PingFang SC"/>
                <a:ea typeface="PingFang SC"/>
                <a:cs typeface="PingFang SC"/>
              </a:rPr>
              <a:t>核心判断：任何 AI 输出都要被资料、行情、公告、归因和审计产物约束。</a:t>
            </a:r>
          </a:p>
        </p:txBody>
      </p:sp>
    </p:spTree>
    <p:extLst>
      <p:ext uri="{BB962C8B-B14F-4D97-AF65-F5344CB8AC3E}">
        <p14:creationId xmlns:p14="http://schemas.microsoft.com/office/powerpoint/2010/main" val="1231500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33477DA-8F5A-41B6-B433-55DFDA0D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日常操作面板：先从这三条路径用起来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D962BF7-5673-47A4-AADD-6254DBD3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你不需要每天记完整手册，先记住自己当前在做哪类工作。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E993A91-EB45-43A6-9BA2-EBDBDFD7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A41BD-888C-4E38-BBB9-DDEBACA8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186DFE-40CD-4DE3-BE37-943EEA0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CB525569-4E55-45EB-A4EE-9487A363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78B57-6374-4705-93F6-2D8581C8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1D7C6-8138-474D-96C8-9E7C174A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F54E22-8F8B-4FC0-8CEC-D05BA9D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37EFB1-9C4D-4AC5-8D6A-DD218633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002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A. 快速查证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0177F55-77E1-4A1F-96F6-48F688AB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问一个主题有没有证据、有没有反证、有没有量价承接。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0CE69352-BC0C-4070-814B-F8DB7A14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3333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67ED57-811A-4721-A8E6-96ABC425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ask \\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  --query "AI服务器电源是订单兑现还是叙事扩散？"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0C6306AB-7C74-4D2E-843E-F0A2AB64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A6464-5C92-4D6A-B86B-2E0A60CB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4"/>
          </a:solidFill>
          <a:ln xmlns:a="http://schemas.openxmlformats.org/drawingml/2006/main" w="0">
            <a:solidFill>
              <a:srgbClr val="D990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07647-2123-4985-ABBD-594DE2EB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4"/>
          </a:solidFill>
          <a:ln xmlns:a="http://schemas.openxmlformats.org/drawingml/2006/main" w="0">
            <a:solidFill>
              <a:srgbClr val="D9902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7798D4F-F0EE-4CD0-ACA5-7E2860AF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57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ED93470-4761-48CA-BBCE-0ACDD23D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002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B. 深度研判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372713-32F9-4F2B-BC6B-B1B8D0CE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8120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复杂问题用多智能体，把正证据、反证、量价和策略拆开跑。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78E88E02-F6F4-4C4B-AB46-41AB45B6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95600"/>
            <a:ext cx="3333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75F62D8-3909-4239-8D18-28A1B9ED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4800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ask --agentic \\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  --query "PCB 哪些细分有投资价值？"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6530B08F-A523-4DFD-B54C-61ABA931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67FC2-57DE-49CD-A839-76A36EB7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D4316-A526-4F5F-BC99-29819B2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FC8BC9D-BD6A-4484-A291-B61D9E88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57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FCA8E71-20EE-419D-8289-F4BAF36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002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C. 实验沉淀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492C42A-F43D-46CA-BED5-4C9F21C1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把 agent run 和验证结果写入 ledger，再生成待审核 proposal。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D3B526BD-8E9D-4998-BBFC-8F4D600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3333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496E788-E2DF-4688-8BA2-BDABA888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autoresearch ledger append --write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autoresearch proposal --write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A804F532-D5C3-436A-A23A-8DFCD5E0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243B5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3B53"/>
                </a:solidFill>
                <a:latin typeface="PingFang SC"/>
                <a:ea typeface="PingFang SC"/>
                <a:cs typeface="PingFang SC"/>
              </a:rPr>
              <a:t>使用顺序：先问清楚 -&gt; 再验证 -&gt; 再沉淀 -&gt; 最后只生成“建议改什么”，不自动应用。</a:t>
            </a:r>
          </a:p>
        </p:txBody>
      </p:sp>
    </p:spTree>
    <p:extLst>
      <p:ext uri="{BB962C8B-B14F-4D97-AF65-F5344CB8AC3E}">
        <p14:creationId xmlns:p14="http://schemas.microsoft.com/office/powerpoint/2010/main" val="1246678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8A14E795-A621-42F1-A59B-140556B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Ask vs Agentic Ask：什么时候该升级成多智能体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71DF2E8-CB30-411F-A48A-4D5EA74B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普通 ask 解决检索；agentic ask 解决复杂判断和证据冲突。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A015D8C-1F93-4783-8B3E-DF723E61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A50E7-C851-44B0-9604-9FCFA4D5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D3D697-183C-4B2D-BC82-1FC3A49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39D09DDD-3EE7-412B-A2C1-70C9501E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B2F9B-24C0-42FF-BC80-A3230E0A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6B59B8-FCCF-4F50-A6D8-AF722676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普通 ask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5FF684-9D55-4A56-88C3-CC6000D5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4343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适合单点问题、事实查找、快速看来源。输出快，审计轻。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8AD240BA-FBF1-41FA-8FAC-D632864C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F7A0BE-E82C-4CD4-ACA3-E0284569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4419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ask \\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  --query "炬光科技688167最近20个交易日量价" \\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  --sources stock-price --show-context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965CE03F-C22A-4D09-959A-3CE8A6B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227D4-42A2-4271-A3F6-5D443661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4"/>
          </a:solidFill>
          <a:ln xmlns:a="http://schemas.openxmlformats.org/drawingml/2006/main" w="0">
            <a:solidFill>
              <a:srgbClr val="D9902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5E392DB-CEA8-4A19-A4DD-7818BE1A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00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agentic ask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5E3EAB-D572-432D-B79F-FFB5C086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81200"/>
            <a:ext cx="4343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适合产业链、估值弹性、叙事兑现、反证审计、交易策略。会生成 agent-runs 审计物。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7DCDBCFA-F989-4A39-B50F-634DD3F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853BDFD-B917-4C19-BD83-5C4ABE41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52775"/>
            <a:ext cx="4419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ask --agentic \\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  --agent-concurrency 3 \\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  --agent-timeout-ms 180000 \\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  --query "未来三年数据中心对光纤的带动？"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8DAA5FC3-7FC4-4CA6-80DF-014AD5D6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70C99AC-B8F6-4761-8F31-00628E95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67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证据研究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856A02DB-5406-4A8C-B46E-CDFD4961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530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BF0D02A-9C4E-49C4-8171-B9153E7D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67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反证审计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C1A02578-A91A-4CB0-862F-0CE6F61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0FA21D9-A09B-48FC-B96B-91153202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6D5BD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D5BD0"/>
                </a:solidFill>
                <a:latin typeface="PingFang SC"/>
                <a:ea typeface="PingFang SC"/>
                <a:cs typeface="PingFang SC"/>
              </a:rPr>
              <a:t>市场验证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FD6EBFDE-EE0C-41AC-A4CF-4BD92E8E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530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45A0020-98DF-43F4-9437-0148DB93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67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策略映射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90BD2A9-97DE-49BA-9879-EE1D3124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388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最后由 adjudicator 汇总成六章节，并显式写出失败角色、证据缺口和置信度影响。</a:t>
            </a:r>
          </a:p>
        </p:txBody>
      </p:sp>
    </p:spTree>
    <p:extLst>
      <p:ext uri="{BB962C8B-B14F-4D97-AF65-F5344CB8AC3E}">
        <p14:creationId xmlns:p14="http://schemas.microsoft.com/office/powerpoint/2010/main" val="1656621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F452D8F-BCB9-4D78-A0A9-E68771B2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摄入链路：正式写 wiki 的唯一主干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2184E0-1A65-4581-96C1-7B072A30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摄入是“先生成、再审阅、最后 apply”，不是直接把原文塞进知识库。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D660611-00F5-4B08-AE35-1BC42487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1672A-820A-4668-8A28-29AC016C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47836C-64E9-4825-83D2-E922FC6A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9CE26577-2F84-4F94-A8EA-CE3CF4F1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EA37F5A-A0C6-4DD4-8D58-EF69BF1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prepare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0908B0-36F2-4C05-849D-4D7BE76C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0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准备上下文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写 .llm-wiki/codex-ingest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D0973046-3A97-44AC-80A7-575F595B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52625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9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B9B1629-7B1B-4B5B-A219-75EB345B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71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D990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9024"/>
                </a:solidFill>
                <a:latin typeface="PingFang SC"/>
                <a:ea typeface="PingFang SC"/>
                <a:cs typeface="PingFang SC"/>
              </a:rPr>
              <a:t>api-run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077A6F-DF16-457A-8BE1-7294997C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52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LLM 分析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生成候选页面和变更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43200" y="25527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1668148A-E1EE-4AC3-A70B-6E8B82CA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92E9913-C620-47DF-9288-40351D72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D5BD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D5BD0"/>
                </a:solidFill>
                <a:latin typeface="PingFang SC"/>
                <a:ea typeface="PingFang SC"/>
                <a:cs typeface="PingFang SC"/>
              </a:rPr>
              <a:t>finalize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0317BB8-124C-481D-95E2-76D3A455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补齐/修复输出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形成可应用报告</a:t>
            </a:r>
          </a:p>
        </p:txBody>
      </p: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553075" y="25527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962C61E9-9FED-4B5F-A87D-8D03FA4C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52625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8ABD1CB-96EB-4F9C-BA9F-FC0A5D9A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171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apply --write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CBE0C45-C692-444D-8004-534F72F8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5527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唯一正式写入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更新 wiki/logs/index</a:t>
            </a:r>
          </a:p>
        </p:txBody>
      </p:sp>
      <p:cxnSp>
        <p:nvCxnSpPr>
          <p:cNvPr id="43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62950" y="25527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71BFDB9A-FFBC-4373-BB47-6FEC1A13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9258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7AE411-7D11-4C86-87F4-911B863E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52900"/>
            <a:ext cx="891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api-run --provider codex --source /path/to/source.md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apply --write --run-id &lt;runId&gt;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9DA2DEC-8225-49F9-9A16-6131076B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7212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操作纪律：看 fatal / wroteRaw / sourceHash，再 apply。正式库写入必须可追溯、可回滚。</a:t>
            </a:r>
          </a:p>
        </p:txBody>
      </p:sp>
    </p:spTree>
    <p:extLst>
      <p:ext uri="{BB962C8B-B14F-4D97-AF65-F5344CB8AC3E}">
        <p14:creationId xmlns:p14="http://schemas.microsoft.com/office/powerpoint/2010/main" val="295096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7F98626-5253-474D-AAE7-129DEEF1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Market Validator：防止主题被大票和泛材料股带偏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B374343-EB25-4484-B58A-72D598D0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先识别主题，再查可维护 segment 配置；没有配置就回退并提示缺口。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EB99AF7-3FB3-4323-B608-EF6EA39E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778AF-4998-416C-99AC-C955EA85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4BBAA6-1F33-4E4B-88EB-05AB10D0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8C4A9159-59C0-4B8E-A916-16AD36A1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5260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EADF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9E13E0C-DB1A-438C-8CEC-C84F0D0F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62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主题识别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DF6E7F-BA92-45D8-AFF7-556704B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光纤 / PCB / 电源 / CPO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51EA4891-2A02-44FE-8532-6407CF2A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5260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9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3FCB4F-630D-4D48-8E1E-D392BF86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62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D990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9024"/>
                </a:solidFill>
                <a:latin typeface="PingFang SC"/>
                <a:ea typeface="PingFang SC"/>
                <a:cs typeface="PingFang SC"/>
              </a:rPr>
              <a:t>segment 配置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55DD90C-03AB-4B88-9AC6-EB438D43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62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光纤光缆、MPO、FAU、特种光纤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05125" y="23145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C04D26AE-9AF4-46E4-A653-DB35CD9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5260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EAD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226F30E-4B64-46BC-8448-68C3D5B6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62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6D5BD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D5BD0"/>
                </a:solidFill>
                <a:latin typeface="PingFang SC"/>
                <a:ea typeface="PingFang SC"/>
                <a:cs typeface="PingFang SC"/>
              </a:rPr>
              <a:t>候选池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5FA7BCE-553A-469A-9B50-8892BB71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62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按细分环节选股票，不只抓龙头</a:t>
            </a:r>
          </a:p>
        </p:txBody>
      </p: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86425" y="23145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59C61506-E34B-4778-B544-4DFD927C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5260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89F581B-1A06-4C53-908E-CEBEBD83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62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交叉验证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000EECC-C903-437C-984A-3BAF9B55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62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SQL 日线 + 外部行情 + 公告订单</a:t>
            </a:r>
          </a:p>
        </p:txBody>
      </p: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67725" y="23145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20C30651-9ECA-4CBB-B9E3-C09C20FF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476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D894D-CC0A-4126-9B31-69CB596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FA6FA32-D015-4A42-AB32-077CBA3A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输出看什么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3ED6F10-C39C-4488-8AE5-9887050B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量价承接、候选池是否正确、SQL hits、外部行情是否分歧、证据缺口。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E776C622-7BAB-42B3-B8CF-59FC3E9A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476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F2F9A9-2EEB-4718-83C4-46B5BD4F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30B95FB-14DA-49E1-95B8-FAE0AC11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862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缺口怎么处理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74490F3-8EF2-4A44-93F4-6531720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6720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明确写“未配置细分环节”，并把需要补的 segment、订单、ASP、客户份额列出来。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FD156E89-03BF-40D5-9575-E265C8FB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34000"/>
            <a:ext cx="807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913EAED-7A7C-4B53-B529-E1832D4B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86400"/>
            <a:ext cx="773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market-validate --query "PCB 哪些细分有投资价值？"</a:t>
            </a:r>
          </a:p>
        </p:txBody>
      </p:sp>
    </p:spTree>
    <p:extLst>
      <p:ext uri="{BB962C8B-B14F-4D97-AF65-F5344CB8AC3E}">
        <p14:creationId xmlns:p14="http://schemas.microsoft.com/office/powerpoint/2010/main" val="17736023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2D33504-4D12-4A29-A545-B4F00297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Brain / Daily Loop / Self-Train：从判断到样本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2240D3C-1608-43E5-9B88-BF57D630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让预测被市场反馈验证，而不是让答案停留在“说得像”。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B046094-6BDB-4328-B8F0-EA9B26BF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2D4E9-1E72-4AC8-BE00-98F7CE00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CA7B91-0E4A-4788-8927-720649B8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049B3E27-EF28-4108-A13A-4B0C7DC5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AE874E-89CB-44E3-8613-CAB0AE2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4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记录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0D9FA7-E81E-4F88-BD39-F0C2CA90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brain remember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沉淀纠错和规则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C3A33A08-6D52-41B9-AF38-30090EA4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954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9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904FFD-30B9-41DE-AEB0-B695F3DA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4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D990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9024"/>
                </a:solidFill>
                <a:latin typeface="PingFang SC"/>
                <a:ea typeface="PingFang SC"/>
                <a:cs typeface="PingFang SC"/>
              </a:rPr>
              <a:t>预测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6FD15F3-5B5E-4760-9A14-74021565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daily-loop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盘前/盘后验证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76550" y="23622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87F1908B-C189-4D57-81FF-4B92DEAA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6E5DBF5-A731-434A-844B-42D23BCC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归因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29C7F44-6693-461C-87D2-0C52789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confirmed / divergent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disconfirmed / insufficient</a:t>
            </a:r>
          </a:p>
        </p:txBody>
      </p: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15000" y="23622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8911A00F-6266-43BD-BEE0-7848E1B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2095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B3E1C56-A518-4591-A5F7-6D886FDB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4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样本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3720E8C-5287-4BA8-87E0-86BE943B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self-train / export-samples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形成训练数据</a:t>
            </a:r>
          </a:p>
        </p:txBody>
      </p: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553450" y="23622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9446541A-E5C5-4A49-ACAD-587AE7F2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4381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4F88D-09A1-453F-87A9-7D71853D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B61D582-6163-433E-8F6C-AB278724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为什么重要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4C5A0F2-A51F-45E8-96EB-EF02F6EA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67200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交易研究最难的是“事后知道自己错在哪里”。这条链路让每个判断都有后验标签。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9033E3DE-1530-48FC-A557-55A07F86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381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E7376-E634-4B63-9F4B-6B82F327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A8A55A5-186A-49FE-ADC3-43C76C55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使用边界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325DE3C-4F03-4DFB-AA92-5E0890B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67200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样本只服务训练和复盘，不自动改正式 wiki，不自动交易，不绕过人工审核。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25AE79FD-769B-4AF3-AE6A-47806D68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19700"/>
            <a:ext cx="82486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03FDC89-9C05-4145-B1CB-6777EDA4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721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brain status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daily-loop postclose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self-train export-samples</a:t>
            </a:r>
          </a:p>
        </p:txBody>
      </p:sp>
    </p:spTree>
    <p:extLst>
      <p:ext uri="{BB962C8B-B14F-4D97-AF65-F5344CB8AC3E}">
        <p14:creationId xmlns:p14="http://schemas.microsoft.com/office/powerpoint/2010/main" val="4527884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A082EF3E-EF2F-4C0A-81B9-ED262F06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Trading Autoresearch Lite：系统会建议怎么改，但不会自己改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75E26CD-A24B-4CE9-8750-9C17D65E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Phase 5A 的核心是“锁定评估器 + 实验账本 + 人工审核门”。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735AA0B-CCFD-4FCA-A4CB-3D2276A4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1D54A-29DE-494F-BC3B-269D6F13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AAAB03-F594-457A-970D-4498AA69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3DE5C497-E2EA-48FD-AFDD-8039EF60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183940-4515-4BDD-BBB6-F811411D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Locked Evaluator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64ECC2-DD0B-4578-9C8B-B9A65889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4574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AI 不能改评估器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固定评分：市场反馈、证据闭环、归因质量、新颖性、复杂度惩罚、泄漏惩罚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DCE81A0-1C9B-4691-8B3C-00D1555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8B1CA1-E117-42C2-8E1D-AAD28A8E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Experiment Ledger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42D1FD-659F-4046-A60E-28FED4BC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4574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记录每轮实验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hypothesis / artifact / baseline / new score / keep-discard / evidence gaps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05250" y="32194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EDD1725-3ED2-45C0-962D-E5C9E58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D99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3EF9923-207A-4075-9EDB-AC5E1672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D9902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D99024"/>
                </a:solidFill>
                <a:latin typeface="PingFang SC"/>
                <a:ea typeface="PingFang SC"/>
                <a:cs typeface="PingFang SC"/>
              </a:rPr>
              <a:t>Policy Proposal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F6B777D-3EB2-4984-B4A5-0509DF9E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24574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只生成待审核建议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segment_config / market_validator_params / evidence_task_priority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autoApplyAllowed=false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658100" y="32194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670"/>
            </a:solidFill>
            <a:prstDash val="solid"/>
            <a:tailEnd type="arrow" w="med" len="med"/>
          </a:ln>
        </p:spPr>
      </p:cxn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EC2C47F0-55D0-4118-899C-5DD5C994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14950"/>
            <a:ext cx="868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56F983F-6181-4A3E-A36C-E6AA7A2C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67350"/>
            <a:ext cx="834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0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autoresearch program --write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autoresearch score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autoresearch proposal --write</a:t>
            </a:r>
          </a:p>
        </p:txBody>
      </p:sp>
    </p:spTree>
    <p:extLst>
      <p:ext uri="{BB962C8B-B14F-4D97-AF65-F5344CB8AC3E}">
        <p14:creationId xmlns:p14="http://schemas.microsoft.com/office/powerpoint/2010/main" val="2085709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84BA33CB-08B6-469A-8C9E-DC5FFD42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写入边界：可以大胆用，但要知道哪些命令会落盘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873B26-2805-45FB-B589-D2666CEC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这张图是企业级可控性的底线。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232C45A-2125-4340-8804-B67E964F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43DBF-9CAC-47C5-A415-85B3E201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6023B8-3D9D-4121-9760-46B15089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AFA28B5C-0F54-457F-B7B2-F5A3A9B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F2E8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0AF0A8-7C7E-4168-93F0-B15A7E96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240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只读区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098374-1D31-40A6-8E07-1E81D7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ask / ask --show-sources / data-source status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7B2BBD-0772-4BCC-8DC0-A9DF6F10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不写正式库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8034FC34-A006-41D5-B91B-5E7F4C31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028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3F2ED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80F316-E1E0-4FB0-A057-7D0C2B9B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0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审计区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0CD63B-4DE1-4721-9BE6-8FE3F7C0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ask --agentic / autoresearch / eval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3E8BC81-70EA-4455-804E-9BE6B6D8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写 .llm-wiki/**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0C9B38C1-19A1-4833-9276-9BA1F210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028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D9902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887B95B-2D17-4F29-A2D4-C173BE49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D990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9024"/>
                </a:solidFill>
                <a:latin typeface="PingFang SC"/>
                <a:ea typeface="PingFang SC"/>
                <a:cs typeface="PingFang SC"/>
              </a:rPr>
              <a:t>受控写入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72220B-9D20-4420-8D04-C6942D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apply --write / brain remember / self-train export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02FD2B9-434F-405C-9DFF-A55D460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D990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9024"/>
                </a:solidFill>
                <a:latin typeface="PingFang SC"/>
                <a:ea typeface="PingFang SC"/>
                <a:cs typeface="PingFang SC"/>
              </a:rPr>
              <a:t>按命令边界写入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8291AF24-22B0-4B62-9687-5125F465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1028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AE8DF85-2BD2-4FA7-8FB1-70567495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529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禁止自动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3A8033D-D3BC-4A54-BCD7-BA39A502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真实交易 / 自动改 prompt / 自动改 wiki / 自动应用策略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E0A0C26-AF74-4D05-931C-BB2FD7C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必须人工审核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29AB459-DD5A-4D2E-80DD-DCA788FE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4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43B53"/>
                </a:solidFill>
                <a:latin typeface="PingFang SC"/>
                <a:ea typeface="PingFang SC"/>
                <a:cs typeface="PingFang SC"/>
              </a:rPr>
              <a:t>原则：没有 --write 就先当成 dry-run；看到 --write 也要确认它写到哪里。</a:t>
            </a:r>
          </a:p>
        </p:txBody>
      </p:sp>
    </p:spTree>
    <p:extLst>
      <p:ext uri="{BB962C8B-B14F-4D97-AF65-F5344CB8AC3E}">
        <p14:creationId xmlns:p14="http://schemas.microsoft.com/office/powerpoint/2010/main" val="20599565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54FAA08-F76F-43ED-8DD4-350301A3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一次深度研究怎么跑：从问题到 proposal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5532E65-9D04-4595-A546-E4DFF833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适合你现在要验证的光纤、PCB、电源、CPO 产业链问题。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D0BA25B-6B7A-46AC-9763-1B82E652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C0DBD-9B8B-49A5-A7F6-2369EEDA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DB178E-3B23-41F1-AADB-22CA71DE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1121D58D-9BAD-4B92-8D17-8B5F3D8E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D0658-34F7-4E58-8CF5-B3E67BB0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C64BB-71BA-4849-95CE-D59D97CC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solidFill>
              <a:srgbClr val="00796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AD0D49-5525-40E5-8554-D85F2458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73441F-7455-40E7-A14D-DACD3A7D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002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设计深度问题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C32A957-0052-43B0-B04E-16FB664D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把问题写成“订单兑现路径 + 证据闭环 + 反证条件”。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8829B3CF-4A32-40D1-A3E3-465B0DB3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486A6-C47D-4E0D-AC68-F3F67B7E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24"/>
          </a:solidFill>
          <a:ln xmlns:a="http://schemas.openxmlformats.org/drawingml/2006/main" w="0">
            <a:solidFill>
              <a:srgbClr val="D990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FE938-DD15-4202-A103-95161F6A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24"/>
          </a:solidFill>
          <a:ln xmlns:a="http://schemas.openxmlformats.org/drawingml/2006/main" w="0">
            <a:solidFill>
              <a:srgbClr val="D9902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009430-8C3B-47DE-A54D-3337BD5A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FDC31C2-469A-4F5E-BF60-B9DD759E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002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agentic ask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8A8BA9C-7E33-4833-BC2C-DF3906C3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生成多智能体审计物，拿到 final.md 和 manifest.json。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FE41A327-C6F3-45BD-97D1-38E9E8F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D58FF-24B6-44E2-A4AD-056F645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ED4DB-0341-454C-99F1-2DEDFD98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101BB34-58B4-402A-AC77-60099679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289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FF6F67C-D526-4F67-83F0-2E6674A2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7182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ledger append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3C0CA75-89DD-494E-8B4A-8ECFAEA1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记录实验假设、引用 agent run、分数和证据缺口。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6F13298D-DB1C-4B9D-A11A-A8553AB2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9DEB1-1F98-41FA-947D-D0FD8C0F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53FDB8-B766-4154-8318-91B8F444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solidFill>
              <a:srgbClr val="C2413A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E12B52C-7933-4B62-8943-32AC7AC4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289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EEC0CCF-B247-4EDD-8254-D27C5E36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proposal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70F888C-CF8F-4420-B040-735316FC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28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产出待审核策略建议，今天固定不能自动应用。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3FA05699-6C8D-439B-9FE1-959C5475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10210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0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2AD29F1-C44C-4D97-A542-CFE300DE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62525"/>
            <a:ext cx="9867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ask --agentic --query "未来三年数据中心对光纤、连接器、PCB、CPO产业链的真实订单兑现路径，哪些细分环节最可能先出现财报验证？"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autoresearch ledger append --write --agent-run &lt;manifest.json&gt;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E7F6F2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E7F6F2"/>
                </a:solidFill>
                <a:latin typeface="Menlo"/>
                <a:ea typeface="Menlo"/>
                <a:cs typeface="Menlo"/>
              </a:rPr>
              <a:t>npm run codex:ingest -- autoresearch proposal --write</a:t>
            </a:r>
          </a:p>
        </p:txBody>
      </p:sp>
    </p:spTree>
    <p:extLst>
      <p:ext uri="{BB962C8B-B14F-4D97-AF65-F5344CB8AC3E}">
        <p14:creationId xmlns:p14="http://schemas.microsoft.com/office/powerpoint/2010/main" val="11425368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2F331B1-6089-480D-998C-5A0AB284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CLI 最终要服务的“递归研究闭环”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8CB1931-C430-4BF6-9D52-EBBAC19E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短期不是自动赚钱，而是让 AI 的研究质量可以被市场反馈训练。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631C7C2-918D-469B-8023-DD440256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D8E67-2C13-437A-9114-56987E69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7B5DAB-7338-47A7-A213-EDA22D27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D63D0D54-39D4-456B-BD97-D7E0F9B9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81250"/>
            <a:ext cx="2743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5C7378-F0EC-40A8-A90C-9EF9CC10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可交易的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研究能力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5029B051-DBEB-4FD4-B050-A57E7D2F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0490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23C853-B7B8-4798-A7CB-91FF6E38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2763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自提问</a:t>
            </a:r>
          </a:p>
        </p:txBody>
      </p: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4495800" y="1400175"/>
            <a:ext cx="2019300" cy="1514475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00796B"/>
            </a:solidFill>
            <a:prstDash val="solid"/>
            <a:tailEnd type="arrow" w="med" len="med"/>
          </a:ln>
        </p:spPr>
      </p:cxn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7474AC4-5590-4FE9-BE17-60F77C4A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9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BB3F67-6D69-4E84-B9D6-1053973B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240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D990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9024"/>
                </a:solidFill>
                <a:latin typeface="PingFang SC"/>
                <a:ea typeface="PingFang SC"/>
                <a:cs typeface="PingFang SC"/>
              </a:rPr>
              <a:t>多智能体验证</a:t>
            </a:r>
          </a:p>
        </p:txBody>
      </p: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4495800" y="2247900"/>
            <a:ext cx="5162550" cy="131445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D99024"/>
            </a:solidFill>
            <a:prstDash val="solid"/>
            <a:tailEnd type="arrow" w="med" len="med"/>
          </a:ln>
        </p:spPr>
      </p:cxn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32AB9B83-0622-42FA-9524-3A4212C0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330CCBE-8282-4F38-82D4-70A71CF7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672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市场反馈</a:t>
            </a:r>
          </a:p>
        </p:txBody>
      </p:sp>
      <p:cxnSp>
        <p:nvCxnSpPr>
          <p:cNvPr id="42" name=""/>
          <p:cNvCxnSpPr>
            <a:stCxn xmlns:a="http://schemas.openxmlformats.org/drawingml/2006/main" id="1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 flipV="1">
            <a:off x="4495800" y="2914650"/>
            <a:ext cx="5067300" cy="1476375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C2413A"/>
            </a:solidFill>
            <a:prstDash val="solid"/>
            <a:tailEnd type="arrow" w="med" len="med"/>
          </a:ln>
        </p:spPr>
      </p:cxn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F803E83B-1511-43CC-8FF9-39E9EAD5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3395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6F30AAC-299B-4F45-8761-1A0C153F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归因复盘</a:t>
            </a:r>
          </a:p>
        </p:txBody>
      </p:sp>
      <p:cxnSp>
        <p:nvCxnSpPr>
          <p:cNvPr id="45" name=""/>
          <p:cNvCxnSpPr>
            <a:stCxn xmlns:a="http://schemas.openxmlformats.org/drawingml/2006/main" id="1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 flipV="1">
            <a:off x="4495800" y="2914650"/>
            <a:ext cx="2019300" cy="2314575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2D7D46"/>
            </a:solidFill>
            <a:prstDash val="solid"/>
            <a:tailEnd type="arrow" w="med" len="med"/>
          </a:ln>
        </p:spPr>
      </p:cxn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8AA3B6C7-7E92-47E2-95A9-3077CFB3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2DFA21A-EE1E-4577-A7A3-9FE136A9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672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6D5BD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D5BD0"/>
                </a:solidFill>
                <a:latin typeface="PingFang SC"/>
                <a:ea typeface="PingFang SC"/>
                <a:cs typeface="PingFang SC"/>
              </a:rPr>
              <a:t>训练样本</a:t>
            </a:r>
          </a:p>
        </p:txBody>
      </p:sp>
      <p:cxnSp>
        <p:nvCxnSpPr>
          <p:cNvPr id="48" name=""/>
          <p:cNvCxnSpPr>
            <a:stCxn xmlns:a="http://schemas.openxmlformats.org/drawingml/2006/main" id="2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028950" y="2914650"/>
            <a:ext cx="16954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D5BD0"/>
            </a:solidFill>
            <a:prstDash val="solid"/>
            <a:tailEnd type="arrow" w="med" len="med"/>
          </a:ln>
        </p:spPr>
      </p:cxn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D31775F4-DD77-4541-B03B-FE9F7D7B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3B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235EC73-F82E-45B6-8726-E2348DF9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240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43B5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3B53"/>
                </a:solidFill>
                <a:latin typeface="PingFang SC"/>
                <a:ea typeface="PingFang SC"/>
                <a:cs typeface="PingFang SC"/>
              </a:rPr>
              <a:t>策略建议</a:t>
            </a:r>
          </a:p>
        </p:txBody>
      </p:sp>
      <p:cxnSp>
        <p:nvCxnSpPr>
          <p:cNvPr id="51" name=""/>
          <p:cNvCxnSpPr>
            <a:stCxn xmlns:a="http://schemas.openxmlformats.org/drawingml/2006/main" id="2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52750" y="2247900"/>
            <a:ext cx="177165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243B53"/>
            </a:solidFill>
            <a:prstDash val="solid"/>
            <a:tailEnd type="arrow" w="med" len="med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ABD97B2-631B-4EF2-88EE-C143303F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1150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每一轮都留下 manifest、ledger、proposal；人审核后才进入下一层。</a:t>
            </a:r>
          </a:p>
        </p:txBody>
      </p:sp>
    </p:spTree>
    <p:extLst>
      <p:ext uri="{BB962C8B-B14F-4D97-AF65-F5344CB8AC3E}">
        <p14:creationId xmlns:p14="http://schemas.microsoft.com/office/powerpoint/2010/main" val="15759669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FFE283B-1A69-4EBB-8E64-51EEFDD7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202A"/>
                </a:solidFill>
                <a:latin typeface="PingFang SC"/>
                <a:ea typeface="PingFang SC"/>
                <a:cs typeface="PingFang SC"/>
              </a:rPr>
              <a:t>新手教学路径：先会 6 条命令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1C2D577-9DA2-4E8C-BD5F-D42A3562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这页可以作为你或新 agent 的上手检查表。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8A05D9E-D4A0-4A9F-AA21-996209D3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Trading Review Wiki CLI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981CC-AC79-4F4E-AFD8-F671C00A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2C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59C555-86DA-4A62-906D-2DE8FF11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41D4EAC3-9BFD-4946-A2F4-D762B016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9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583DCC-EC57-48A8-8E38-E40B541F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079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796B"/>
                </a:solidFill>
                <a:latin typeface="PingFang SC"/>
                <a:ea typeface="PingFang SC"/>
                <a:cs typeface="PingFang SC"/>
              </a:rPr>
              <a:t>查证据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B3F39D-109C-47FE-9C55-219D941C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ask --query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6771BEA1-660F-43B2-B79B-AA047545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04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9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80CD2A-4D34-41C3-B13C-31ED8A4E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954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D990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99024"/>
                </a:solidFill>
                <a:latin typeface="PingFang SC"/>
                <a:ea typeface="PingFang SC"/>
                <a:cs typeface="PingFang SC"/>
              </a:rPr>
              <a:t>深度问答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7202595-F1EB-4B40-AE4B-B457C647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ask --agentic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DC733307-C72A-4715-90DA-16AC8975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26AF42-F9D9-44D7-ABEC-185471B2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D5BD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D5BD0"/>
                </a:solidFill>
                <a:latin typeface="PingFang SC"/>
                <a:ea typeface="PingFang SC"/>
                <a:cs typeface="PingFang SC"/>
              </a:rPr>
              <a:t>看数据源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CBD0E3-4794-4807-B48B-11873684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data-source status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7C5DE296-6F89-4837-BBA6-176E0494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D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8421F4-ED1B-4A69-A3BD-CF64666D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D7D4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D7D46"/>
                </a:solidFill>
                <a:latin typeface="PingFang SC"/>
                <a:ea typeface="PingFang SC"/>
                <a:cs typeface="PingFang SC"/>
              </a:rPr>
              <a:t>跑摄入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DB422F9-6B28-4F9E-A4AC-6AF4ECC0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6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api-run -&gt; finalize -&gt; apply --write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4FD97337-20C2-4CCB-B0D4-8E84A5E5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623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3B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A534C7-B89C-40A3-8E1B-368A7072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4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3B53"/>
                </a:solidFill>
                <a:latin typeface="PingFang SC"/>
                <a:ea typeface="PingFang SC"/>
                <a:cs typeface="PingFang SC"/>
              </a:rPr>
              <a:t>看记忆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DEFA693-B4EC-4D98-8224-F4896867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brain status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86C95E43-EA79-4F0E-9D98-1A995C5D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3ACAACC-BA52-4C5D-AA82-8724490B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528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C241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2413A"/>
                </a:solidFill>
                <a:latin typeface="PingFang SC"/>
                <a:ea typeface="PingFang SC"/>
                <a:cs typeface="PingFang SC"/>
              </a:rPr>
              <a:t>做实验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70743DC-1DEA-489E-A002-3EF7CBF6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02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6202A"/>
                </a:solidFill>
                <a:latin typeface="Menlo"/>
                <a:ea typeface="Menlo"/>
                <a:cs typeface="Menlo"/>
              </a:rPr>
              <a:t>autoresearch proposal --write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C958B86-FD00-4A41-B10C-D60F9299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熟练之后再学：segment 配置、self-question policy、eval、temporal-facts、hygiene。</a:t>
            </a:r>
          </a:p>
        </p:txBody>
      </p:sp>
    </p:spTree>
    <p:extLst>
      <p:ext uri="{BB962C8B-B14F-4D97-AF65-F5344CB8AC3E}">
        <p14:creationId xmlns:p14="http://schemas.microsoft.com/office/powerpoint/2010/main" val="14427127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6084535-AA30-437C-98DE-37520298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AFC6C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AFC6CE"/>
                </a:solidFill>
                <a:latin typeface="PingFang SC"/>
                <a:ea typeface="PingFang SC"/>
                <a:cs typeface="PingFang SC"/>
              </a:rPr>
              <a:t>一句话总结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E9C127-86C0-4F01-8DD1-E3238F04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CLI 的意义不是多一个命令行，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而是把交易研究变成可验证的工程系统。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4768E62B-1807-49BA-9CD6-63AFFD74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4333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232E"/>
          </a:solidFill>
          <a:ln xmlns:a="http://schemas.openxmlformats.org/drawingml/2006/main" w="9525">
            <a:solidFill>
              <a:srgbClr val="2CC6A8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E1FF15-2966-44CB-B390-75447EE6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CC6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CC6A8"/>
                </a:solidFill>
                <a:latin typeface="PingFang SC"/>
                <a:ea typeface="PingFang SC"/>
                <a:cs typeface="PingFang SC"/>
              </a:rPr>
              <a:t>问得深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554A5A-560D-4AC1-A6E3-A4864F3F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67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深度问题 + 多智能体拆解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543E7A73-9734-477D-8176-F62166E4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76625"/>
            <a:ext cx="4333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232E"/>
          </a:solidFill>
          <a:ln xmlns:a="http://schemas.openxmlformats.org/drawingml/2006/main" w="9525">
            <a:solidFill>
              <a:srgbClr val="E5A943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C8B6FC3-8A93-486C-9836-D9521067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480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5A9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A943"/>
                </a:solidFill>
                <a:latin typeface="PingFang SC"/>
                <a:ea typeface="PingFang SC"/>
                <a:cs typeface="PingFang SC"/>
              </a:rPr>
              <a:t>查得准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2AC5E3A-5EBE-4640-886A-53B3832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67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segment 候选池 + SQL/外部行情交叉验证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2F5F6625-DEC6-4875-BF35-8F294EBF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4333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232E"/>
          </a:solidFill>
          <a:ln xmlns:a="http://schemas.openxmlformats.org/drawingml/2006/main" w="9525">
            <a:solidFill>
              <a:srgbClr val="76B37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7C52B1-40C2-408A-ACE3-95EB0DAD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76B3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6B37B"/>
                </a:solidFill>
                <a:latin typeface="PingFang SC"/>
                <a:ea typeface="PingFang SC"/>
                <a:cs typeface="PingFang SC"/>
              </a:rPr>
              <a:t>记得住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FA5A454-3A6E-4409-B7F6-D6CF1011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67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brain / daily-loop / self-train 沉淀经验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4482EA97-9166-433A-A1A3-6ED0F2A9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76750"/>
            <a:ext cx="4333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232E"/>
          </a:solidFill>
          <a:ln xmlns:a="http://schemas.openxmlformats.org/drawingml/2006/main" w="9525">
            <a:solidFill>
              <a:srgbClr val="E06A5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654A69-B98B-451E-8C33-7D53235E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06A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06A5F"/>
                </a:solidFill>
                <a:latin typeface="PingFang SC"/>
                <a:ea typeface="PingFang SC"/>
                <a:cs typeface="PingFang SC"/>
              </a:rPr>
              <a:t>改得稳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D8B49FC-1E72-46ED-A4A6-F88EE7E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67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7E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7E3EA"/>
                </a:solidFill>
                <a:latin typeface="PingFang SC"/>
                <a:ea typeface="PingFang SC"/>
                <a:cs typeface="PingFang SC"/>
              </a:rPr>
              <a:t>proposal 先审核，autoApplyAllowed=false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3B33926-BF5A-41C2-B160-A089DE89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FC6C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FC6CE"/>
                </a:solidFill>
                <a:latin typeface="PingFang SC"/>
                <a:ea typeface="PingFang SC"/>
                <a:cs typeface="PingFang SC"/>
              </a:rPr>
              <a:t>下一步：把每次深度研究都变成 agent-runs + experiments + policy-proposals 三件套。</a:t>
            </a:r>
          </a:p>
        </p:txBody>
      </p:sp>
    </p:spTree>
    <p:extLst>
      <p:ext uri="{BB962C8B-B14F-4D97-AF65-F5344CB8AC3E}">
        <p14:creationId xmlns:p14="http://schemas.microsoft.com/office/powerpoint/2010/main" val="230600459"/>
      </p:ext>
    </p:extLst>
  </p:cSld>
</p:sld>
</file>

<file path=ppt/theme/theme1.xml><?xml version="1.0" encoding="utf-8"?>
<a:theme xmlns:a="http://schemas.openxmlformats.org/drawingml/2006/main" name="ChatGPT">
  <a:themeElements>
    <a:clrScheme name="Trading Research CLI">
      <a:dk1>
        <a:srgbClr val="111820"/>
      </a:dk1>
      <a:lt1>
        <a:srgbClr val="FFFFFF"/>
      </a:lt1>
      <a:dk2>
        <a:srgbClr val="243B53"/>
      </a:dk2>
      <a:lt2>
        <a:srgbClr val="D7D2C7"/>
      </a:lt2>
      <a:accent1>
        <a:srgbClr val="00796B"/>
      </a:accent1>
      <a:accent2>
        <a:srgbClr val="D99024"/>
      </a:accent2>
      <a:accent3>
        <a:srgbClr val="C2413A"/>
      </a:accent3>
      <a:accent4>
        <a:srgbClr val="2D7D46"/>
      </a:accent4>
      <a:accent5>
        <a:srgbClr val="6D5BD0"/>
      </a:accent5>
      <a:accent6>
        <a:srgbClr val="243B53"/>
      </a:accent6>
      <a:hlink>
        <a:srgbClr val="00796B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rading Research CL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2026-06-15T11:38:33.8940000Z</dcterms:created>
  <dcterms:modified xsi:type="dcterms:W3CDTF">2026-06-15T11:38:33.8940000Z</dcterms:modified>
</coreProperties>
</file>