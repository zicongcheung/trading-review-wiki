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ed50e9da204cbc" /><Relationship Type="http://schemas.openxmlformats.org/officeDocument/2006/relationships/extended-properties" Target="/docProps/app.xml" Id="Rf88794ebfd6941ae" /><Relationship Type="http://schemas.openxmlformats.org/officeDocument/2006/relationships/officeDocument" Target="/ppt/presentation.xml" Id="R51dd10c43e5849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9a8d6a080a4111"/>
  </p:sldMasterIdLst>
  <p:notesMasterIdLst>
    <p:notesMasterId xmlns:r="http://schemas.openxmlformats.org/officeDocument/2006/relationships" r:id="Rd01bf129211d48a6"/>
  </p:notesMasterIdLst>
  <p:sldIdLst>
    <p:sldId xmlns:r="http://schemas.openxmlformats.org/officeDocument/2006/relationships" id="256" r:id="R77ee7a344dab47c3"/>
    <p:sldId xmlns:r="http://schemas.openxmlformats.org/officeDocument/2006/relationships" id="257" r:id="Ra0a52e0fc9cc4572"/>
    <p:sldId xmlns:r="http://schemas.openxmlformats.org/officeDocument/2006/relationships" id="258" r:id="R622886b905274294"/>
    <p:sldId xmlns:r="http://schemas.openxmlformats.org/officeDocument/2006/relationships" id="259" r:id="R1d39341352cf4fd2"/>
    <p:sldId xmlns:r="http://schemas.openxmlformats.org/officeDocument/2006/relationships" id="260" r:id="Ra83927836c5f4882"/>
    <p:sldId xmlns:r="http://schemas.openxmlformats.org/officeDocument/2006/relationships" id="261" r:id="R47c68f79e997443b"/>
    <p:sldId xmlns:r="http://schemas.openxmlformats.org/officeDocument/2006/relationships" id="262" r:id="R6085743a84de4250"/>
    <p:sldId xmlns:r="http://schemas.openxmlformats.org/officeDocument/2006/relationships" id="263" r:id="R9c20e02909c4405b"/>
    <p:sldId xmlns:r="http://schemas.openxmlformats.org/officeDocument/2006/relationships" id="264" r:id="Raddc2f2470bc4ee0"/>
    <p:sldId xmlns:r="http://schemas.openxmlformats.org/officeDocument/2006/relationships" id="265" r:id="R46e3c3c6be9d4c56"/>
    <p:sldId xmlns:r="http://schemas.openxmlformats.org/officeDocument/2006/relationships" id="266" r:id="R151d52e5cd4341b7"/>
    <p:sldId xmlns:r="http://schemas.openxmlformats.org/officeDocument/2006/relationships" id="267" r:id="R80a70e117f03495f"/>
    <p:sldId xmlns:r="http://schemas.openxmlformats.org/officeDocument/2006/relationships" id="268" r:id="Rf3c53747ee7841ec"/>
    <p:sldId xmlns:r="http://schemas.openxmlformats.org/officeDocument/2006/relationships" id="269" r:id="R804bb1371a9245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f53e4fd7ab4eff" /><Relationship Type="http://schemas.openxmlformats.org/officeDocument/2006/relationships/slideMaster" Target="/ppt/slideMasters/slideMaster1.xml" Id="R569a8d6a080a4111" /><Relationship Type="http://schemas.openxmlformats.org/officeDocument/2006/relationships/notesMaster" Target="/ppt/notesMasters/notesMaster1.xml" Id="Rd01bf129211d48a6" /><Relationship Type="http://schemas.openxmlformats.org/officeDocument/2006/relationships/presProps" Target="/ppt/presProps.xml" Id="Rdd32b2d71cf84be6" /><Relationship Type="http://schemas.openxmlformats.org/officeDocument/2006/relationships/tableStyles" Target="/ppt/tableStyles.xml" Id="R70d1f1e176cb4fa5" /><Relationship Type="http://schemas.openxmlformats.org/officeDocument/2006/relationships/slide" Target="/ppt/slides/slide1.xml" Id="R77ee7a344dab47c3" /><Relationship Type="http://schemas.openxmlformats.org/officeDocument/2006/relationships/slide" Target="/ppt/slides/slide2.xml" Id="Ra0a52e0fc9cc4572" /><Relationship Type="http://schemas.openxmlformats.org/officeDocument/2006/relationships/slide" Target="/ppt/slides/slide3.xml" Id="R622886b905274294" /><Relationship Type="http://schemas.openxmlformats.org/officeDocument/2006/relationships/slide" Target="/ppt/slides/slide4.xml" Id="R1d39341352cf4fd2" /><Relationship Type="http://schemas.openxmlformats.org/officeDocument/2006/relationships/slide" Target="/ppt/slides/slide5.xml" Id="Ra83927836c5f4882" /><Relationship Type="http://schemas.openxmlformats.org/officeDocument/2006/relationships/slide" Target="/ppt/slides/slide6.xml" Id="R47c68f79e997443b" /><Relationship Type="http://schemas.openxmlformats.org/officeDocument/2006/relationships/slide" Target="/ppt/slides/slide7.xml" Id="R6085743a84de4250" /><Relationship Type="http://schemas.openxmlformats.org/officeDocument/2006/relationships/slide" Target="/ppt/slides/slide8.xml" Id="R9c20e02909c4405b" /><Relationship Type="http://schemas.openxmlformats.org/officeDocument/2006/relationships/slide" Target="/ppt/slides/slide9.xml" Id="Raddc2f2470bc4ee0" /><Relationship Type="http://schemas.openxmlformats.org/officeDocument/2006/relationships/slide" Target="/ppt/slides/slide10.xml" Id="R46e3c3c6be9d4c56" /><Relationship Type="http://schemas.openxmlformats.org/officeDocument/2006/relationships/slide" Target="/ppt/slides/slide11.xml" Id="R151d52e5cd4341b7" /><Relationship Type="http://schemas.openxmlformats.org/officeDocument/2006/relationships/slide" Target="/ppt/slides/slide12.xml" Id="R80a70e117f03495f" /><Relationship Type="http://schemas.openxmlformats.org/officeDocument/2006/relationships/slide" Target="/ppt/slides/slide13.xml" Id="Rf3c53747ee7841ec" /><Relationship Type="http://schemas.openxmlformats.org/officeDocument/2006/relationships/slide" Target="/ppt/slides/slide14.xml" Id="R804bb1371a9245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17b1d2c46a4e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cd8d85e4524bb1" /><Relationship Type="http://schemas.openxmlformats.org/officeDocument/2006/relationships/notesMaster" Target="/ppt/notesMasters/notesMaster1.xml" Id="R49c2164874684c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5352dafe5041e6" /><Relationship Type="http://schemas.openxmlformats.org/officeDocument/2006/relationships/notesMaster" Target="/ppt/notesMasters/notesMaster1.xml" Id="R2f92f483e13d43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5ce3ced10c446e" /><Relationship Type="http://schemas.openxmlformats.org/officeDocument/2006/relationships/notesMaster" Target="/ppt/notesMasters/notesMaster1.xml" Id="R464b74c754394a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ec68f20f1e45fa" /><Relationship Type="http://schemas.openxmlformats.org/officeDocument/2006/relationships/notesMaster" Target="/ppt/notesMasters/notesMaster1.xml" Id="Rb6c432c42f3b4c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c73f367b804996" /><Relationship Type="http://schemas.openxmlformats.org/officeDocument/2006/relationships/notesMaster" Target="/ppt/notesMasters/notesMaster1.xml" Id="R5a982bad8d784f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37461d9b264494" /><Relationship Type="http://schemas.openxmlformats.org/officeDocument/2006/relationships/notesMaster" Target="/ppt/notesMasters/notesMaster1.xml" Id="R5d21b2775dce4c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c93f5656dc4f55" /><Relationship Type="http://schemas.openxmlformats.org/officeDocument/2006/relationships/notesMaster" Target="/ppt/notesMasters/notesMaster1.xml" Id="R86131debe3f44b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f44a02b7a74e58" /><Relationship Type="http://schemas.openxmlformats.org/officeDocument/2006/relationships/notesMaster" Target="/ppt/notesMasters/notesMaster1.xml" Id="Rffffcac99afb48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0f9bad1d2542c1" /><Relationship Type="http://schemas.openxmlformats.org/officeDocument/2006/relationships/notesMaster" Target="/ppt/notesMasters/notesMaster1.xml" Id="R95b7d24875c64e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4f122ecb9d4a4f" /><Relationship Type="http://schemas.openxmlformats.org/officeDocument/2006/relationships/notesMaster" Target="/ppt/notesMasters/notesMaster1.xml" Id="R132da78f7baa4f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1350bbd1a04045" /><Relationship Type="http://schemas.openxmlformats.org/officeDocument/2006/relationships/notesMaster" Target="/ppt/notesMasters/notesMaster1.xml" Id="R3ea445267b4848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82ff742fce43dd" /><Relationship Type="http://schemas.openxmlformats.org/officeDocument/2006/relationships/notesMaster" Target="/ppt/notesMasters/notesMaster1.xml" Id="R10693b1a2f7a4f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6bc4e5a981475a" /><Relationship Type="http://schemas.openxmlformats.org/officeDocument/2006/relationships/notesMaster" Target="/ppt/notesMasters/notesMaster1.xml" Id="Rd7e583b8c6444e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a8190784d6458f" /><Relationship Type="http://schemas.openxmlformats.org/officeDocument/2006/relationships/notesMaster" Target="/ppt/notesMasters/notesMaster1.xml" Id="Rde006daf09d245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942d9191e42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a3b3e48d4849b5" /><Relationship Type="http://schemas.openxmlformats.org/officeDocument/2006/relationships/slideLayout" Target="/ppt/slideLayouts/slideLayout1.xml" Id="Rbc11471f62a24f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11471f62a24f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c6275ed84490b" /><Relationship Type="http://schemas.openxmlformats.org/officeDocument/2006/relationships/image" Target="/ppt/media/image.png" Id="R1be291c819b1481f" /><Relationship Type="http://schemas.openxmlformats.org/officeDocument/2006/relationships/notesSlide" Target="/ppt/notesSlides/notesSlide1.xml" Id="R427efda827d64c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810c7ee334513" /><Relationship Type="http://schemas.openxmlformats.org/officeDocument/2006/relationships/notesSlide" Target="/ppt/notesSlides/notesSlide2.xml" Id="Rb5305e3c98c543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fe65290624cb9" /><Relationship Type="http://schemas.openxmlformats.org/officeDocument/2006/relationships/notesSlide" Target="/ppt/notesSlides/notesSlide3.xml" Id="R7b2d0b895e8f49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fa219214e4c4c" /><Relationship Type="http://schemas.openxmlformats.org/officeDocument/2006/relationships/image" Target="/ppt/media/image2.png" Id="R32c7e3ee3cc5402d" /><Relationship Type="http://schemas.openxmlformats.org/officeDocument/2006/relationships/notesSlide" Target="/ppt/notesSlides/notesSlide4.xml" Id="R24843a652bea4f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575f57e4e4467" /><Relationship Type="http://schemas.openxmlformats.org/officeDocument/2006/relationships/notesSlide" Target="/ppt/notesSlides/notesSlide5.xml" Id="R4cfab3e0dc8841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8189b07ff4062" /><Relationship Type="http://schemas.openxmlformats.org/officeDocument/2006/relationships/notesSlide" Target="/ppt/notesSlides/notesSlide6.xml" Id="Rf870babf31bf43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3a099665b4cda" /><Relationship Type="http://schemas.openxmlformats.org/officeDocument/2006/relationships/image" Target="/ppt/media/image3.png" Id="R54c58bf1a0a74783" /><Relationship Type="http://schemas.openxmlformats.org/officeDocument/2006/relationships/notesSlide" Target="/ppt/notesSlides/notesSlide7.xml" Id="R9d26f290ca1547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61d6b74c34539" /><Relationship Type="http://schemas.openxmlformats.org/officeDocument/2006/relationships/notesSlide" Target="/ppt/notesSlides/notesSlide8.xml" Id="R16e94eb467bc4f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7f0bc32664f46" /><Relationship Type="http://schemas.openxmlformats.org/officeDocument/2006/relationships/image" Target="/ppt/media/image4.png" Id="Rc35b11a33ed74c0a" /><Relationship Type="http://schemas.openxmlformats.org/officeDocument/2006/relationships/notesSlide" Target="/ppt/notesSlides/notesSlide9.xml" Id="Rfc20e25164804d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f99d415634d02" /><Relationship Type="http://schemas.openxmlformats.org/officeDocument/2006/relationships/notesSlide" Target="/ppt/notesSlides/notesSlide10.xml" Id="Ra10f088787b647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afa886a4f44de" /><Relationship Type="http://schemas.openxmlformats.org/officeDocument/2006/relationships/image" Target="/ppt/media/image5.png" Id="R44215072cdef4483" /><Relationship Type="http://schemas.openxmlformats.org/officeDocument/2006/relationships/notesSlide" Target="/ppt/notesSlides/notesSlide11.xml" Id="Ra3442720838243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e4777839d426e" /><Relationship Type="http://schemas.openxmlformats.org/officeDocument/2006/relationships/image" Target="/ppt/media/image6.png" Id="Rda275d0155414a23" /><Relationship Type="http://schemas.openxmlformats.org/officeDocument/2006/relationships/notesSlide" Target="/ppt/notesSlides/notesSlide12.xml" Id="R12b129ab35a94d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3787b06ba4219" /><Relationship Type="http://schemas.openxmlformats.org/officeDocument/2006/relationships/notesSlide" Target="/ppt/notesSlides/notesSlide13.xml" Id="R174e89a2413e47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231b534d24b11" /><Relationship Type="http://schemas.openxmlformats.org/officeDocument/2006/relationships/notesSlide" Target="/ppt/notesSlides/notesSlide14.xml" Id="Rdbfa209f38a641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7628BB-B01F-4745-9561-DF4F3607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9D5AB-F000-44A4-A59B-54C74511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TRAINING FLYWHEEL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289F2-543F-43FE-8DB7-B3E5A5C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训练飞轮新手</a:t>
            </a:r>
          </a:p>
          <a:p xmlns:a="http://schemas.openxmlformats.org/drawingml/2006/main">
            <a:pPr algn="l">
              <a:defRPr sz="37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操作说明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71D3D-B43E-48DF-A89F-7AB456DC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87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从股票自提问假设、市场验证、人审分流，到 Benchmark 与 LoRA-ready 候选导出的应用层闭环。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938B4-9BB4-408B-B2C6-B0F004DF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742950"/>
            <a:ext cx="510540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291c819b1481f"/>
          <a:stretch xmlns:a="http://schemas.openxmlformats.org/drawingml/2006/main"/>
        </p:blipFill>
        <p:spPr>
          <a:xfrm xmlns:a="http://schemas.openxmlformats.org/drawingml/2006/main">
            <a:off x="6191250" y="823119"/>
            <a:ext cx="4953000" cy="3611563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1B367-D1EC-4CDC-8577-94415AEF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295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31C16-B466-4458-BED1-F0095224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假设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3E95D-3503-4162-8088-2458E95D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91440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闭环节点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5CB8A-6B44-4EDA-85FF-7E4BAB7D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14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3A7D0-3925-4E3B-9240-E7EDFDC5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91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95D30-CA79-4121-B6BC-C1F8D08B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9700"/>
            <a:ext cx="1295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4B169-73DF-409B-B597-4E49FAA1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911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76557-BC0A-48E7-896C-57069278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772150"/>
            <a:ext cx="91440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闭环节点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2E8E8-1F3F-44C1-858E-2B38DFB9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14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C28AC-9B18-45E5-B595-3874D506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391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88BA58-7530-4BEF-82AD-516D87C6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19700"/>
            <a:ext cx="1295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19FD1-C25A-49DC-B53F-BA2B7CCA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911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轨迹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2F805-9674-4FA9-83BF-24783A52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72150"/>
            <a:ext cx="91440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闭环节点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72A09-4ED3-4107-BF76-B6B57110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14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E133D-0028-43B7-92AA-C725291E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91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EC60F-DC29-4A38-B9D0-12FBC295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19700"/>
            <a:ext cx="1295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A1A23-31BB-4FF9-8279-925B4E4B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911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人审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9A247-FB44-4A3D-A872-3041057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772150"/>
            <a:ext cx="91440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闭环节点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EA313E-2BAA-483D-B954-8C5F292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14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3E84F-94B4-4580-AC8D-FCC76C85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391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F12633-1418-464F-A0DB-187452AC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19700"/>
            <a:ext cx="1295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01936C-DD38-4E77-B3D1-C0B08208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911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题库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4ED97-B113-4C84-8A1A-3A65D951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72150"/>
            <a:ext cx="91440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闭环节点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3F32B2-44ED-43BB-B245-1C4B5499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514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FB42A7-A62D-460F-9E98-9D515835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391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6C6127-711F-4261-8DE5-6B98459C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19700"/>
            <a:ext cx="1295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B9A546-51B6-493C-B437-7B3A457C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3911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候选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DB641E-1E23-4EB8-9A68-94C33677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772150"/>
            <a:ext cx="91440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候选导出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12309B-FE48-4B5E-A25E-6D92625D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079A64-46E7-4792-9BC2-F7528141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5191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81F5077-EC0C-4197-BF9C-9D7D6B47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核心原则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8D3854-C386-426C-BA5B-8FCAEFD3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LoRA 学行为，不存原始事实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3F6D6B-174B-444D-A6BF-E65861AF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股票事实和工具状态留在检索层；adapter 候选只保留可复用的研究动作和判断策略。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553B7-75E6-4DB7-BABE-88EBE12A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8196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476B9-A313-4F8F-9DD9-C1FFBA8E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Retrieval / Tool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2C751-750C-4AE6-B82B-9F4DA87F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438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公告、订单、财报、价格行、交易流水、sourceRefs、原文证据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用于回答“事实是什么、证据在哪里、时间点是否一致”。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0A356-EB68-4F03-A6D6-BFF976B7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48196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C7EAE-A205-49AD-8C6E-F79EDB9D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8120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Adapter Candidate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E871F-A8B0-44CF-ABF6-0BEE3519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62200"/>
            <a:ext cx="4438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预期交易判断、基本面兑现判断、priced-in 风险、失败归因、补证路线、写作表达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用于回答“下次遇到类似局面该怎么判断”。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DDCDC-BB38-49F8-B78C-FAC4F989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337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339EA-9C0D-4518-8039-5DF515AB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A22D1-9C97-435E-A1AF-1B6AE884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45309">
                <a:alpha val="3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55C6C-417E-4733-9B81-4BF5FDC4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95925"/>
            <a:ext cx="815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B45309"/>
                </a:solidFill>
                <a:latin typeface="Aptos"/>
                <a:ea typeface="Aptos"/>
                <a:cs typeface="Aptos"/>
              </a:rPr>
              <a:t>人工 review 是闸门：没有 review 或证据不足，不能把样本直接提权为高质量正向 adapter。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91110-FC26-4E14-ADB0-5D6FCC56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E0372-823E-461E-AD73-296DEB43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951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55A6CAB-FC55-4388-9218-ABED25A4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完整流程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1D3AF8-372A-458C-9597-7C75289C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应用层训练飞轮怎么跑通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4A8968-5743-4C0D-8EBF-57BC199B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先把研究过程变成可验证轨迹，再把反馈分流到 eval、preference、SFT 或 adapter 候选。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97E58-DDF1-4BA3-AA67-BC9672B8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466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90574-4535-471E-BDCD-1C0AC6A5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自提问 / 假设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58D4D-59D7-4900-8F04-E571122F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1085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股票、问题、催化预期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05FC5-232F-4AF7-B31A-D6099E66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908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1D24B-816F-40A7-8497-DC7EEED0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67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60618-A95F-4F40-9CBF-761D882C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76450"/>
            <a:ext cx="1466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7C6B-688C-437C-8951-0167DD60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479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市场验证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0CA91-07B0-48F2-90EF-676E1405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1085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扩散、相对强度、成交额、承接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465AC-B0BF-4AED-ABA7-9349E903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908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B1DF3-AED7-482C-BB0C-2C03F34E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67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21131-18AC-4F80-A6BC-24F24951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1466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DFDC9-1853-495C-904D-37917601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stock-feedback 轨迹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A87A0-33BF-4597-A676-EDD3A741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28900"/>
            <a:ext cx="1085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质量门与引用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F38F9-020E-4F52-B36E-959513F1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908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5F1E7-9A98-4F00-A4AA-3F9C6C25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3930A-C3FB-4CEF-A1FE-A5492E86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1466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80106-AE73-4AD2-A06E-64BB3912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人工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556C9-9D3F-4B48-945E-740FB257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28900"/>
            <a:ext cx="1085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确认/补证/风控/排除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F634F-A4C0-4494-833B-31C6067D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908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CCABF-CA51-40B8-B596-AA2DFC52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67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F70BC9-F540-45BC-A51D-C99F186B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1466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D0B908-E2E5-461E-BEE6-28897140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A735A3-C1B0-4877-BA77-F0CB4418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1085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动态考试题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43DA5D-00FA-46C9-AADB-A7A63750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908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D08F5A-989D-458D-82A5-569FD877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67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3BF353-61F6-4549-BAA0-5E4CA688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76450"/>
            <a:ext cx="1466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EAB14-29E1-4B66-95A2-9E7039EA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479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LoRA-ready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843783-39CE-44D1-9878-C0B9E40C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28900"/>
            <a:ext cx="1085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候选 manifest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96B0AA-9FED-4FB2-AF44-FB72B7E1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3048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5B557F-55B5-4E91-8695-32A658DE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正向能力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FACE4E-5312-4236-8D24-C463829A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expectation_validated / fundamental_validated</a:t>
            </a:r>
          </a:p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进入高质量候选前仍需人审。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94AB7C-FE3F-4FEA-A885-00F66A05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3400"/>
            <a:ext cx="3048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868AEA-C2AB-414F-97D1-533C6EFF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14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风控能力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720853-2807-4A97-BDEA-F4A2E90D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priced_in_validated / entry_wrong</a:t>
            </a:r>
          </a:p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优先进入 eval、preference、负样本。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AAA409-14EC-4FB6-A79A-027DFD20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43400"/>
            <a:ext cx="3048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DA4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6EBFF2-CDE7-4283-8EF5-6F83D169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14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失败归因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C2B7C8-78C7-45FC-AFC3-ECC5BE20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958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disconfirmed_validated</a:t>
            </a:r>
          </a:p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训练伪催化识别和补证路线。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7358A5-8C60-4391-B77B-0A09B127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6B9533-063D-45CD-8DA0-0035FA69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5002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F1DF475-A0E5-4F75-8C09-77C71106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页面总览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7170F5-E27D-4E8B-ACB4-8E5F9096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6 个区域，按闭环顺序阅读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0309732-E84A-4E3C-84F7-F22E6240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从顶部按钮开始，到轨迹表和右侧人审完成分流，再在底部确认导出与校验状态。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C7890-94C7-4110-884B-58D09934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7486650" cy="5505450"/>
          </a:xfrm>
          <a:prstGeom xmlns:a="http://schemas.openxmlformats.org/drawingml/2006/main" prst="roundRect">
            <a:avLst>
              <a:gd name="adj" fmla="val 2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7e3ee3cc5402d"/>
          <a:stretch xmlns:a="http://schemas.openxmlformats.org/drawingml/2006/main"/>
        </p:blipFill>
        <p:spPr>
          <a:xfrm xmlns:a="http://schemas.openxmlformats.org/drawingml/2006/main">
            <a:off x="609600" y="1678980"/>
            <a:ext cx="7334250" cy="5347891"/>
          </a:xfrm>
          <a:prstGeom xmlns:a="http://schemas.openxmlformats.org/drawingml/2006/main" prst="roundRect">
            <a:avLst>
              <a:gd name="adj" fmla="val 142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85DA4-DFFB-4685-A719-5F92A1CE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95450"/>
            <a:ext cx="30861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A5E0D-726A-4D36-9FBB-2228BFBF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669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1 顶部操作栏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1C4DF-76A2-4CFC-89AB-40778CA9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47900"/>
            <a:ext cx="27051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刷新、Dry-run、写入轨迹、Benchmark、LoRA-ready、校验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5C1C4-B0DD-414C-9344-7E86F6DA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19350"/>
            <a:ext cx="30861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3F90B-71A7-4D8B-A9F1-4168C2FF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2 指标卡片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34655-4911-48B8-ABFE-03755336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71800"/>
            <a:ext cx="27051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今日轨迹、待补证、可进入训练、风险、失败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69110-3B29-49A5-B706-5448CBC8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30861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38597-3902-4C09-85A2-C8318F4F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147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3 动态测试集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373CC-0573-467A-BFDC-D81B09D8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95700"/>
            <a:ext cx="27051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下一批最该补什么训练能力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66FBA-A293-4135-9374-E125391D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67150"/>
            <a:ext cx="30861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D9079-D191-48CD-87D5-6144105C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38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4 缺口行动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BBDA2-31A9-405E-8BE5-1EB86D7C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19600"/>
            <a:ext cx="27051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Benchmark 还缺哪些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418EA-85E4-4F5C-B978-AB97958A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91050"/>
            <a:ext cx="30861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86AE9-E4CE-448F-A361-E534034F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62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5 模式雷达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0C4B7-69B2-4EA9-B293-4B7BD0AF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43500"/>
            <a:ext cx="27051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按市场手法看覆盖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1D5DD-27F1-4F73-99FA-41979478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14950"/>
            <a:ext cx="30861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32344-262B-4FAC-B29A-E96DED79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864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6 轨迹 + 详情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1AB65-8A2F-4BA8-A6C7-EFCCCA92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867400"/>
            <a:ext cx="27051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筛选样本并提交 review event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FBF0FD-AB0A-4B15-8D07-D7413B5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4DC4DF-F62C-45CE-A173-65B36ABA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44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6A1114A-271C-4094-B49A-2A4049BC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顶部按钮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EC483D-F382-449F-ADFB-043A386C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新手按从左到右跑，不要跳步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A8FC1F2-0834-4F20-B65C-8A1A6A43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按钮背后都是固定 allowlist action，不开放任意命令。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52BC2-83B9-4E68-A701-86B07246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D630C-6920-4360-BA9E-D7D81A95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193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固定动作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1A4A9-4134-4835-944B-71D347DF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刷新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472B6-94D7-4863-BADA-868A89A7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读状态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页面不更新、刚跑完 CLI、刚人审后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58FED-8CAB-43CA-9051-31E443B9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669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1D8FB-F521-41FE-BBAC-B491C793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不写文件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A9EA6-10FB-45A0-8EB0-DFC6237F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Dry-run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DD6D8-94D1-45AD-A5C5-45974E33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预览轨迹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第一次使用、写入前确认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71B3B-1522-40FF-AC75-99340288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C93AE-5654-43F0-A3C7-03E7F6F5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写训练飞轮目录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91CC8-91EF-4B38-9D49-8D643F76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28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写入轨迹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9FE2B-52CD-4869-8321-04AF67FD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写 .llm-wiki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Dry-run 正常后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45890-C63A-41AC-BB2C-ECA926F1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DA478-6498-4E3A-AE89-5E48A298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固定动作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305B2-812E-43CD-8B9A-8BFE8B60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C4A9E-6D32-4A5E-B892-5286D45D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生成题库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已有轨迹或 review 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53AB9-397C-4C05-B8AC-D2BA0E00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8CC85-E75F-4224-9DF8-F071381D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固定动作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5010B-B9D9-4769-8CBF-256CC7C1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05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LoRA-ready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4CEFEA-DC83-46DB-96B3-65262C9C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6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导出候选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已有 review 样本后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4254A3-5DF3-45DD-93B9-F177B686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661C39-DB5B-456B-8A1D-F623C90A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957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不写文件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148E1-041A-44A8-9D21-67D00DE2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校验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7B9E11-26B4-47DD-B1D4-3C77EBC6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86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收口检查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每轮闭环最后一步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5FE97C-3D31-41A5-B060-4D18FBD3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86400"/>
            <a:ext cx="96393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45309">
                <a:alpha val="3333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76EF64-D206-4818-9183-1973016C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48325"/>
            <a:ext cx="922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B45309"/>
                </a:solidFill>
                <a:latin typeface="Aptos"/>
                <a:ea typeface="Aptos"/>
                <a:cs typeface="Aptos"/>
              </a:rPr>
              <a:t>推荐顺序：刷新 -&gt; Dry-run -&gt; 写入轨迹 -&gt; 人审分流 -&gt; Benchmark -&gt; LoRA-ready -&gt; 校验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877EF1-495E-4B27-B5AC-79B564F5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A55413-9EBB-4C61-A728-A3698E21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8108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9C0E613-9646-4DE5-9EA0-EE768EDB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顶部 5 个指标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856726-6149-4599-B8C5-6B84AA78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它们是样本分流仪表盘，不是涨跌榜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DDA18BE-91D0-4EC7-8AB9-F4DE1C09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数字高不一定代表可以进 adapter；风险和失败样本同样有训练价值。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50EF2-1AF3-4296-B86F-68F11801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885950" cy="2552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29DB1-39A7-4538-87A9-0E38EA49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今日轨迹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86BA8-8EF9-4BB6-A2FF-DF1D40EA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5049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有多少 stock-feedback 轨迹可读/可派生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下一步：继续筛选和人审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73ABD-F545-4EE9-BE66-E8305205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24050"/>
            <a:ext cx="1885950" cy="2552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39089-A6DA-485F-9732-EF2822CD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待补证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50E79-B7BB-4023-B78A-DFD8B2F2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15049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证据不足、sourceRefs 或验证路径不完整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下一步：转补证或采集单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BDBF2-58AC-48F2-BA76-5D416ED0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24050"/>
            <a:ext cx="1885950" cy="2552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3ADE1-088C-4124-89DB-09C322E4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955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可进入训练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02663-2C3D-435A-B5E9-A8230778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76500"/>
            <a:ext cx="15049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有机会进入 eval / preference / adapter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下一步：逐条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2F5B7-3356-471A-93E2-3853C37A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24050"/>
            <a:ext cx="1885950" cy="2552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3DB5B-BA5A-45F4-8815-566C4BFA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priced-in 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212A7-AFEA-468F-9491-5B40241A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15049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方向对但赔率压缩、后手风险高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下一步：优先 preference/eval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C505E-1FDC-426C-9080-C7D61D45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1885950" cy="2552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DA4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860E8-BA86-4E49-8A0E-972A0FCC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失败样本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82D40-99E9-4C07-AF28-B4173EE1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5049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一日游、无承接、被证伪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下一步：负样本/失败归因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37829-0119-48A2-BC47-E5AB7D90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258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0A0E81-1FAF-46D6-BFB2-62D42B7F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81600"/>
            <a:ext cx="887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判断口诀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1E562-ACFF-4428-A814-B8263BC2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62600"/>
            <a:ext cx="8877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可进入训练不等于一定进 adapter。priced-in / 失败样本更适合 eval、preference、负样本；待补证先补证，不提权。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55C17-B196-47F3-98B6-2F006750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91A33-29D6-47A4-BC10-2DD93FA4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66945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0207BCE-3392-4116-96C2-CC9834F1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可视化分布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C25AAD-4B95-4824-ADDC-4B2F7410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看的是训练能力覆盖，不是涨跌强弱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DDA2A10-768E-4EDE-BCE9-9813B040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动态测试集、Benchmark 缺口、模式雷达共同决定下一批补样方向。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AB97B-A23F-43FF-87F3-AB82AAEE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19250"/>
            <a:ext cx="67056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58bf1a0a74783"/>
          <a:stretch xmlns:a="http://schemas.openxmlformats.org/drawingml/2006/main"/>
        </p:blipFill>
        <p:spPr>
          <a:xfrm xmlns:a="http://schemas.openxmlformats.org/drawingml/2006/main">
            <a:off x="4953000" y="1697038"/>
            <a:ext cx="6553200" cy="4778375"/>
          </a:xfrm>
          <a:prstGeom xmlns:a="http://schemas.openxmlformats.org/drawingml/2006/main" prst="roundRect">
            <a:avLst>
              <a:gd name="adj" fmla="val 159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B3036-184E-4D2F-A561-85B831F5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619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E773C-CF82-409D-B548-FB2ED474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下一批动态测试集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B10F0-379A-4BD4-B97E-B37F1C5C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回答：下一批最该补什么能力。</a:t>
            </a:r>
          </a:p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动作：筛选风险样本、盈利反馈、预览或写入采集单。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2C085-F61C-485B-A52E-1F5C51FA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619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E12CC-3F62-4097-80DA-57146615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Benchmark 缺口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AA386-872D-4354-A1CB-94F16490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回答：考试题库缺什么 case。</a:t>
            </a:r>
          </a:p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动作：优先补 priced-in、基本面兑现、收益/亏损反馈。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2F9B8-05EB-4705-A9FE-1EA4812E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3619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841D8-057D-4184-90A8-6B331A3C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模式雷达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B061E-CA18-42C0-974B-3CFB966F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回答：市场手法覆盖是否均衡。</a:t>
            </a:r>
          </a:p>
          <a:p xmlns:a="http://schemas.openxmlformats.org/drawingml/2006/main">
            <a:pPr algn="l">
              <a:defRPr sz="11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动作：缺口模式补样，风控模式进 preference/eval。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97839-597C-4630-AF40-A23775E0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4827A-679E-4A57-AF72-B6E41723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10221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17FE0DA-5D4C-44E3-B611-E92CCD81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轨迹表筛选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B43E51-39BD-442A-89FF-9524DD85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先按训练目标，再看收益反馈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7F1AF0-71D1-48FC-97DC-1650095F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训练目标决定样本要教会模型什么；收益反馈决定正样本、负样本或偏好对比。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27A2A-956A-452E-8A8C-B5B9C085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362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EFEE2-CFE1-42B4-9C03-A91DD3F1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预期交易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7BC81-CFD1-4C00-88BC-7C9F83DE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198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市场先交易预期，观察扩散、相对强度、成交额、承接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D88F9-3174-4E1D-A6AE-73505FF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85950"/>
            <a:ext cx="2362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1B07C-9E31-4399-BB68-72AD54F1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574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基本面兑现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6D694-39C0-4725-AE7B-785394FB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38400"/>
            <a:ext cx="198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订单、公告、财报、ASP、毛利率等兑现验证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B4C42-35C4-4548-8F5B-5093EB8E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2362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ACAEF-3EB8-47CC-A51D-4D77C220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priced-in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65B96-0887-4414-9690-020FE05B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198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方向对但赔率压缩、后手风险高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71EB2-91C7-4E7D-84B3-4EE7D13E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885950"/>
            <a:ext cx="2362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DA4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289BB-DB18-45D0-9C83-8C3FB9B6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574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失败归因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69D02-6B4E-431F-BB22-DFD17FE3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38400"/>
            <a:ext cx="198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预期失败、无承接、一日游、被证伪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EA8FA-2B45-4F40-B8A3-53418BE0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257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7843"/>
            </a:srgbClr>
          </a:solidFill>
          <a:ln xmlns:a="http://schemas.openxmlformats.org/drawingml/2006/main" w="9525">
            <a:solidFill>
              <a:srgbClr val="0F766E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D66B0-9861-4942-99D4-3688AAD3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收益反馈筛选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8961F-CC90-4457-9473-FE509B48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3CA39-4209-4B6F-8E39-628A7914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盈利支持：正收益、低回撤、执行节奏清楚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53CC3-EE95-4C73-9256-89A32271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AB9F5-856D-4540-9288-516F990C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风险/负样本：亏损、回撤、买点错、仓位错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6FDE7-5DA3-4CE6-A4BF-B05205AD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0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3A0CA-E940-462F-9164-46A7877B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530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待结算：还没有足够收益反馈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D5343-788A-4CDB-8BFA-A224137B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67150"/>
            <a:ext cx="1257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>
              <a:alpha val="7843"/>
            </a:srgbClr>
          </a:solidFill>
          <a:ln xmlns:a="http://schemas.openxmlformats.org/drawingml/2006/main" w="9525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A8042F-9CB3-40D7-A051-4BD27555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轨迹表列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B48DEE-4E78-41FB-9F25-38CA4159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30F9F7-D16D-45D7-B498-A4F24B01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训练目标：样本要训练什么能力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9D57AC-84C5-46A0-B7FE-05BA9FA4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EE3994-0474-4D4A-B70D-25D29E52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假设/标的：来源问题和股票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128F6B-F354-4877-B816-0CF9D799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2D37C-F2E9-4B18-B136-7E07B3D6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62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质量门：expectation_validated、needs_evidence 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B34F79-AB26-411D-83A9-7E141C7F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10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D7103C-2090-4E7C-8CFD-CE646ACE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62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去向：eval、preference、adapter、SFT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7832E4-7F96-47DE-8B84-9A789F74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6F3AFC-1AEB-4B24-B4DA-4DFFC9FA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1099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BFEF183-B9E4-48D5-82EB-7E96991B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右侧详情与人审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466F56-DE0C-425D-BD3C-54BDB9DF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训练飞轮真正的闸门在这里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F4D3FDA-E5A5-4015-B0A9-89761679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系统给推荐动作，人负责确认边界：进入 adapter、preference/eval、补证、priced-in，或排除。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3E81B-DDAB-4445-836D-3437E647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67056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b11a33ed74c0a"/>
          <a:stretch xmlns:a="http://schemas.openxmlformats.org/drawingml/2006/main"/>
        </p:blipFill>
        <p:spPr>
          <a:xfrm xmlns:a="http://schemas.openxmlformats.org/drawingml/2006/main">
            <a:off x="609600" y="1735138"/>
            <a:ext cx="6553200" cy="4778375"/>
          </a:xfrm>
          <a:prstGeom xmlns:a="http://schemas.openxmlformats.org/drawingml/2006/main" prst="roundRect">
            <a:avLst>
              <a:gd name="adj" fmla="val 159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0296F-CA2B-4248-8CEC-C36EA27F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52600"/>
            <a:ext cx="3676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F944F-6AA3-46DA-8815-78C4B512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240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执行推荐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606B8-B328-4FBF-8C7E-9BBA98B6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05050"/>
            <a:ext cx="32956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新手优先，按系统推荐写 review event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B0836-E9BE-47C5-8A99-F80999E9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52700"/>
            <a:ext cx="3676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0B286-DFEB-46D6-95C2-F4999EDF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确认 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32F21-BB68-4515-8706-C960DAA4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05150"/>
            <a:ext cx="32956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只在质量门允许且行为可复用时点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FC1E8-D062-4450-A224-95D1D9A8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3676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D2581-2619-4E6E-845C-283328F8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242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偏好/eval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2CB76-D168-42C9-9246-24E11296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05250"/>
            <a:ext cx="32956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方向对但风险高、失败归因、比较样本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A3996-D63C-4D7D-B8AF-44E21417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52900"/>
            <a:ext cx="3676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E474C-F71F-42C0-8E1D-F4C86BE0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243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转补证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A3055-7FEB-4D2E-9E5D-9C73E07D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2956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缺 sourceRefs、基本面证据或价格验证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7F299-61D7-483A-BAAB-8044F5C3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53000"/>
            <a:ext cx="3676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E5687-9DF1-4E09-8302-8275E9D3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244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Priced-in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F4972-33CB-4F1D-B9C5-11EC40BE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05450"/>
            <a:ext cx="32956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方向对但后手风险高，进风控训练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3657F7-3CEA-4B38-AEDC-72F7887C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79FF1-38CD-4C38-B08F-006F4BA4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591680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D6F44A4-25FD-4B35-B028-4BFE0543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五类样本分流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AB33EB-40C6-4F1B-9340-193D014D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同一事件可以生成多个训练视角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03B726-CEE3-4FEC-B02F-3E8B485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不要用“有没有订单/公告/财报”一刀切；要看训练目标和验证方式。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B6771-F5F2-4575-9982-C7F472BF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038350" cy="30670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C99C1-2838-4DDF-A64D-8D9988DF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预期交易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B20AC-FD3A-4271-AC62-B358077E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6573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expectation_validated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无订单/公告/财报也可以；但要有时间戳、扩散、相对强度、成交额、承接。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02282-3F69-474D-9793-60326B83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2038350" cy="30670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36188-A3A3-4CE5-9954-E4C67C2F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基本面兑现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05C03-DA21-4E0B-8CB5-375BEFDE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16573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fundamental_validated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必须有订单、公告、财报、ASP、毛利率等兑现证据。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E78F0-E582-4EEA-8ACA-B5228DB9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09750"/>
            <a:ext cx="2038350" cy="30670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82296-A929-4C10-AC03-AA4C0ECE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812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方向对但后手风险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C51DC-81D5-40BE-8885-9C420237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62200"/>
            <a:ext cx="16573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priced_in_validated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优先 eval/preference，训练别追涨、别忽略赔率压缩。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33767-290E-4EDB-B7E0-13509FBC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09750"/>
            <a:ext cx="2038350" cy="30670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DA4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D3434-7A50-47A9-8D67-4EE3646E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812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失败归因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93A87-9D72-44AF-8949-E6158880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62200"/>
            <a:ext cx="16573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disconfirmed_validated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一日游、无承接、预期被证伪；用于伪催化识别。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B39EF-0144-4B8A-BDD3-B19EA50D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2038350" cy="30670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46CD2-26B2-4A75-8EEF-16F601B5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812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待补证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42FA1-08D7-493C-86E2-02A7D2E6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62200"/>
            <a:ext cx="16573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needs_evidence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缺 sourceRefs、事实边界或市场验证；先补证，不提权。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BFEF7-4209-4F42-9479-382B0C6E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96774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>
                <a:alpha val="3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4FFF3-4091-4A2C-9268-2049D9D2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95925"/>
            <a:ext cx="925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high_confidence 不是单独来源，它必须绑定 validationTarget，并由人工或规则确认。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FEEA91-73B8-45EB-8E15-A84A03BA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FE07C-D0D5-42EC-BA3C-A155F58B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03825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D89AE9A-572C-4BC4-BBFD-777EB549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补证与回流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0CA577-482E-4CBB-9733-179D75DC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把缺证据变成可追踪任务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15C95C-A495-448A-BC7D-3750C0B7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补证不是写正式 wiki 页面，而是把缺口记录成 collection task，再把结果回流到轨迹。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272E2-6DDF-4C22-AC4A-3C09E8CD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19250"/>
            <a:ext cx="565785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15072cdef4483"/>
          <a:stretch xmlns:a="http://schemas.openxmlformats.org/drawingml/2006/main"/>
        </p:blipFill>
        <p:spPr>
          <a:xfrm xmlns:a="http://schemas.openxmlformats.org/drawingml/2006/main">
            <a:off x="6000750" y="1698030"/>
            <a:ext cx="5505450" cy="4014391"/>
          </a:xfrm>
          <a:prstGeom xmlns:a="http://schemas.openxmlformats.org/drawingml/2006/main" prst="roundRect">
            <a:avLst>
              <a:gd name="adj" fmla="val 189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5EEAF-5E7D-412A-B1D9-D1134D56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9B671-A9B8-4434-9D7A-69DE36F6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1. 预览采集单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6030A-8A33-46D5-88E4-52E36FFF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3714750" cy="-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进入下一步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192D7-135D-47F8-B162-99F2706D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A7488-3050-4438-AFEF-A3A829E2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2. 写入采集单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A4387-CAF3-44AF-B972-93322C73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3714750" cy="-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进入下一步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F3B57-EDDC-421B-A39E-291DDA42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A04D1-11C0-463C-ADB1-967D649E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3. 补 evidence refs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EA06A-5378-44D9-9AB4-3A8CF484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3714750" cy="-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进入下一步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011E4-F018-4329-8468-3B6032AC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2E5B0-8AAA-4746-A26E-BF31BEF9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4. 记录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4AC07-99E7-4D10-8E6B-96A5A912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3714750" cy="-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confirmed / refuted / insufficient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52B3D-A43C-4A55-A5BB-4C6C612C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8166B-A91C-4AEF-96F5-F642DD69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5. 重建轨迹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756A5-4088-42BC-9EA1-07191194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3714750" cy="-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进入下一步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FB753-80BF-4511-8D29-310A0061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25E4A-CE49-4C3C-9BA6-AABC5B9F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6. 再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6F02D-2565-473C-802E-24419706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3714750" cy="-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进入下一步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39F13-B40C-464E-826E-AE0932D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43600"/>
            <a:ext cx="5505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34254-21DB-4631-B8A8-7B624549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150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结果解释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78FFC7-EBF1-4836-9CE7-CAF91E1B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96050"/>
            <a:ext cx="5124450" cy="-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confirmed 支持目标；refuted 转失败归因；insufficient 保持补证，不提权。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BFCAB7-396F-45E2-9573-49C373B3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30F282-416D-4EBD-A836-514658CE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9033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168C6CD-778A-434B-A9C3-6BBE4268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底部状态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019E66-4CFE-45D9-8DA9-D891D773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判断闭环是否真的跑通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CBF956-8135-4254-A5BC-A6657CD6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看 persistedTrajectories、reviewEvents、benchmarkBatches、loraReadyBatches 是否随操作增加。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B54F3-651C-4D4D-9BF8-385A6931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634365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75d0155414a23"/>
          <a:stretch xmlns:a="http://schemas.openxmlformats.org/drawingml/2006/main"/>
        </p:blipFill>
        <p:spPr>
          <a:xfrm xmlns:a="http://schemas.openxmlformats.org/drawingml/2006/main">
            <a:off x="609600" y="1733748"/>
            <a:ext cx="6191250" cy="4514453"/>
          </a:xfrm>
          <a:prstGeom xmlns:a="http://schemas.openxmlformats.org/drawingml/2006/main" prst="roundRect">
            <a:avLst>
              <a:gd name="adj" fmla="val 168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33850-2968-467C-8285-13BC51EF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52600"/>
            <a:ext cx="4038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4200E-3119-445A-A60F-0CE73F01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2405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Benchmark 覆盖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2E016-0154-454F-B7D6-40C5854A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365760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题库批次增加，缺口下降或变具体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58C21-2C7B-4D73-9056-7A550AE3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038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6062C-D264-4157-AD6C-E71B2042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432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LoRA-ready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5920E-0F92-4A4B-8B4D-B6EC0C80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24200"/>
            <a:ext cx="365760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候选 manifest 更新，不包含原始事实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CBA2E-7830-4186-AB70-9422A114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90900"/>
            <a:ext cx="4038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1E53E-0723-4928-9D0C-E369C961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6235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模式雷达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5943F-7BE4-4DF5-AB26-19A00FD4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43350"/>
            <a:ext cx="365760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缺口模式逐步减少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EAF9A-7340-45A8-A7DA-DECE12E7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10050"/>
            <a:ext cx="4038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A84FC-32D0-48D4-81BC-CFCB2AAC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815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待人工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0BB6A-BEF4-47EB-B519-D54F0681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62500"/>
            <a:ext cx="365760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人审后未分流数量下降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F9DE00-9CCD-4997-A737-3E744A54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29200"/>
            <a:ext cx="4038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B25D4-CE70-4FF0-8F8B-0D60B81D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0065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最近动作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C4F5E-D7D6-4F41-AFB0-A5CBE099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581650"/>
            <a:ext cx="365760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确认写入、导出、校验是否生效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3004F-C1D4-4FC4-AC87-9DD79121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DD55E-4BDD-4DCA-A936-88B8E943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898528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A7A8EF5-9CCF-4AF1-BF5E-454BCC9A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常见错误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1D3A79-271E-4AA6-BB2C-B218F4B0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先看错误文本，再刷新和校验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FC600E5-78FD-4B2C-976A-AC4EC491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很多“按钮不可点”不是 bug，而是质量门在阻止错误提权。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ED0D0-58BA-4EE9-95E5-ED83B075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8768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DA4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83AB7-38EF-411E-8E48-2C40D5AD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命令失败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84536-FFF0-41D8-951D-4EB432A3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刷新 -&gt; 重启开发版应用 -&gt; 再跑校验。若仍有 Missing value for --include-reviewed，说明还在旧 binary。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7F8A9-E640-4299-8BFF-57B2622E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48768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6A54A-A3DE-44A7-9AA3-190146C6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621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LoRA-ready 是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8D2BE-3823-4A1E-9339-D2F5AE48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先写入轨迹；做 2-3 条 review；确认有 expectation_validated 或 fundamental_validated。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149DA-B185-4C37-A1D4-77E5981F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8768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D06D1-9E1D-4B14-9A29-0C2C975B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确认 adapter 不可点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AEA1D-A28A-413D-B359-1AFA5A1B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priced-in、失败、待补证样本本来就不该直接进正向 adapter。按推荐动作走。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B0A13-287D-41DA-8FCC-ADC0FA5F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48768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6AB9B-7652-45ED-BE3F-1AEC0C4E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Benchmark 有缺口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E7DC7-5ADA-44A8-A929-92E961FA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缺口不是错误，是下一批补样方向：预览采集单 -&gt; 写入采集单 -&gt; 补证回流。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1ACF5-D1AE-449D-B179-1D897819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CLI 对照：status / build-trajectories / review-queue --include-reviewed true / bench --write / export-lora-ready --write /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421BF-B99D-4742-914F-AB8FA41D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98A18-3E9E-4751-89C3-83FCADFF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271135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1CD8F01-1B92-422C-9112-49718618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每日操作节奏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F2C219-879C-434D-868A-59C1C090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先风险，再正向；先补证，再提权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FF006C-9BE2-4E37-85F1-3192C1DD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每轮研究后按这个顺序收口，飞轮才会越跑越干净。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037FB-9D8F-4943-9F2B-2AB1C309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447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98170-4A84-4120-8BA1-84DB7E44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1 刷新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3A8B1-0C01-4213-80F6-7A85068D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409575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看当前状态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579DA-57D9-4E14-94FA-60BFFA61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47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15BAB-E6BA-4459-ADC1-1FAE2BD5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2 写入轨迹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B17A3-4940-42DA-A26F-52C85FDA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409575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更新市场反馈轨迹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4EE4D-A137-4D09-A0DE-FCAF8C35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47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76DFB-3D48-4695-B4C7-B5B601EA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3 先处理风险/失败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19532-0ADC-497F-8D81-EFB6A26A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409575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避免坏样本误当正样本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5673E-783F-4DE0-A3D3-450B51EB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447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0010E-203A-41DB-9556-73737A82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4 再处理正向候选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F0438-5726-443E-8819-3C8CBE0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409575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可复用路线才进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F51C9-DA38-44BF-8F16-B270C189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447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D246E-89B7-46EC-893A-65E63EF5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24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5 待补证写采集单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BB139-BDA8-40B8-89FD-ED232D73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409575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不强行提权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955AB-121F-4583-AC45-9F70C23A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447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0FCAC-45BB-4D06-B919-07F7E12F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00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6 Benchmark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4D4A5-286C-4B0C-AF7F-6FBAD61C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81350"/>
            <a:ext cx="409575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更新考试题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9D68A-7F53-442D-A425-BAA2A61C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05200"/>
            <a:ext cx="447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BD99D-28C0-480F-87BF-A243F659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7 LoRA-ready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9743D-FF9B-4081-956B-D41B6767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57650"/>
            <a:ext cx="409575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更新候选清单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4654C-90C3-4B09-A165-FE5B3C68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81500"/>
            <a:ext cx="447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B9708-25C0-452F-81F2-45675056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8 校验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5D5A88-6954-4A9A-AA9E-94115D59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33950"/>
            <a:ext cx="409575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收口并进入下一轮缺口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3DFE08-C2C7-4CFA-A8C1-86A3C276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62600"/>
            <a:ext cx="990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>
                <a:alpha val="3333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802F16-07F4-45C4-B7DD-D0CE49B8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24525"/>
            <a:ext cx="948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闭环：假设 -&gt; 市场反馈 -&gt; 补证 -&gt; 人审 -&gt; Benchmark -&gt; LoRA-ready -&gt; 校验 -&gt; 下一轮样本缺口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E1F2DE-2EBF-41BE-AB7B-B93DF446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Flywheel V1 | stock-feedback -&gt; Benchmark -&gt; PEFT-ready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56AA0B-FD3F-43CC-8D22-06370AD0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82102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2026-06-20T04:08:20.8070000Z</dcterms:created>
  <dcterms:modified xsi:type="dcterms:W3CDTF">2026-06-20T04:08:20.8070000Z</dcterms:modified>
</coreProperties>
</file>